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6858000" cy="9144000"/>
  <p:embeddedFontLst>
    <p:embeddedFont>
      <p:font typeface="Garet Bold" panose="020B0604020202020204" charset="0"/>
      <p:regular r:id="rId25"/>
    </p:embeddedFont>
    <p:embeddedFont>
      <p:font typeface="Poppins" panose="00000500000000000000" pitchFamily="2" charset="0"/>
      <p:regular r:id="rId26"/>
    </p:embeddedFont>
    <p:embeddedFont>
      <p:font typeface="Poppins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581"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0036"/>
        </a:solidFill>
        <a:effectLst/>
      </p:bgPr>
    </p:bg>
    <p:spTree>
      <p:nvGrpSpPr>
        <p:cNvPr id="1" name=""/>
        <p:cNvGrpSpPr/>
        <p:nvPr/>
      </p:nvGrpSpPr>
      <p:grpSpPr>
        <a:xfrm>
          <a:off x="0" y="0"/>
          <a:ext cx="0" cy="0"/>
          <a:chOff x="0" y="0"/>
          <a:chExt cx="0" cy="0"/>
        </a:xfrm>
      </p:grpSpPr>
      <p:grpSp>
        <p:nvGrpSpPr>
          <p:cNvPr id="2" name="Group 2"/>
          <p:cNvGrpSpPr/>
          <p:nvPr/>
        </p:nvGrpSpPr>
        <p:grpSpPr>
          <a:xfrm>
            <a:off x="-1312345" y="5917073"/>
            <a:ext cx="21328129" cy="1450226"/>
            <a:chOff x="0" y="0"/>
            <a:chExt cx="5621550" cy="382243"/>
          </a:xfrm>
        </p:grpSpPr>
        <p:sp>
          <p:nvSpPr>
            <p:cNvPr id="3" name="Freeform 3"/>
            <p:cNvSpPr/>
            <p:nvPr/>
          </p:nvSpPr>
          <p:spPr>
            <a:xfrm>
              <a:off x="0" y="0"/>
              <a:ext cx="5621550" cy="382243"/>
            </a:xfrm>
            <a:custGeom>
              <a:avLst/>
              <a:gdLst/>
              <a:ahLst/>
              <a:cxnLst/>
              <a:rect l="l" t="t" r="r" b="b"/>
              <a:pathLst>
                <a:path w="5621550" h="382243">
                  <a:moveTo>
                    <a:pt x="5445" y="0"/>
                  </a:moveTo>
                  <a:lnTo>
                    <a:pt x="5616105" y="0"/>
                  </a:lnTo>
                  <a:cubicBezTo>
                    <a:pt x="5619112" y="0"/>
                    <a:pt x="5621550" y="2438"/>
                    <a:pt x="5621550" y="5445"/>
                  </a:cubicBezTo>
                  <a:lnTo>
                    <a:pt x="5621550" y="376798"/>
                  </a:lnTo>
                  <a:cubicBezTo>
                    <a:pt x="5621550" y="378242"/>
                    <a:pt x="5620976" y="379627"/>
                    <a:pt x="5619955" y="380648"/>
                  </a:cubicBezTo>
                  <a:cubicBezTo>
                    <a:pt x="5618934" y="381669"/>
                    <a:pt x="5617549" y="382243"/>
                    <a:pt x="5616105" y="382243"/>
                  </a:cubicBezTo>
                  <a:lnTo>
                    <a:pt x="5445" y="382243"/>
                  </a:lnTo>
                  <a:cubicBezTo>
                    <a:pt x="4001" y="382243"/>
                    <a:pt x="2616" y="381669"/>
                    <a:pt x="1595" y="380648"/>
                  </a:cubicBezTo>
                  <a:cubicBezTo>
                    <a:pt x="574" y="379627"/>
                    <a:pt x="0" y="378242"/>
                    <a:pt x="0" y="376798"/>
                  </a:cubicBezTo>
                  <a:lnTo>
                    <a:pt x="0" y="5445"/>
                  </a:lnTo>
                  <a:cubicBezTo>
                    <a:pt x="0" y="4001"/>
                    <a:pt x="574" y="2616"/>
                    <a:pt x="1595" y="1595"/>
                  </a:cubicBezTo>
                  <a:cubicBezTo>
                    <a:pt x="2616" y="574"/>
                    <a:pt x="4001" y="0"/>
                    <a:pt x="5445" y="0"/>
                  </a:cubicBezTo>
                  <a:close/>
                </a:path>
              </a:pathLst>
            </a:custGeom>
            <a:solidFill>
              <a:srgbClr val="FAFAFA"/>
            </a:solidFill>
          </p:spPr>
        </p:sp>
        <p:sp>
          <p:nvSpPr>
            <p:cNvPr id="4" name="TextBox 4"/>
            <p:cNvSpPr txBox="1"/>
            <p:nvPr/>
          </p:nvSpPr>
          <p:spPr>
            <a:xfrm>
              <a:off x="0" y="-57150"/>
              <a:ext cx="5621550" cy="43939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101732">
            <a:off x="10691821" y="2183486"/>
            <a:ext cx="7102739" cy="6875905"/>
          </a:xfrm>
          <a:custGeom>
            <a:avLst/>
            <a:gdLst/>
            <a:ahLst/>
            <a:cxnLst/>
            <a:rect l="l" t="t" r="r" b="b"/>
            <a:pathLst>
              <a:path w="7102739" h="6875905">
                <a:moveTo>
                  <a:pt x="0" y="0"/>
                </a:moveTo>
                <a:lnTo>
                  <a:pt x="7102740" y="0"/>
                </a:lnTo>
                <a:lnTo>
                  <a:pt x="7102740" y="6875905"/>
                </a:lnTo>
                <a:lnTo>
                  <a:pt x="0" y="6875905"/>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1361845" y="2940823"/>
            <a:ext cx="5762691" cy="5957305"/>
            <a:chOff x="0" y="0"/>
            <a:chExt cx="812800" cy="840249"/>
          </a:xfrm>
        </p:grpSpPr>
        <p:sp>
          <p:nvSpPr>
            <p:cNvPr id="7" name="Freeform 7"/>
            <p:cNvSpPr/>
            <p:nvPr/>
          </p:nvSpPr>
          <p:spPr>
            <a:xfrm>
              <a:off x="0" y="0"/>
              <a:ext cx="812800" cy="840249"/>
            </a:xfrm>
            <a:custGeom>
              <a:avLst/>
              <a:gdLst/>
              <a:ahLst/>
              <a:cxnLst/>
              <a:rect l="l" t="t" r="r" b="b"/>
              <a:pathLst>
                <a:path w="812800" h="840249">
                  <a:moveTo>
                    <a:pt x="406400" y="0"/>
                  </a:moveTo>
                  <a:cubicBezTo>
                    <a:pt x="181951" y="0"/>
                    <a:pt x="0" y="188096"/>
                    <a:pt x="0" y="420125"/>
                  </a:cubicBezTo>
                  <a:cubicBezTo>
                    <a:pt x="0" y="652153"/>
                    <a:pt x="181951" y="840249"/>
                    <a:pt x="406400" y="840249"/>
                  </a:cubicBezTo>
                  <a:cubicBezTo>
                    <a:pt x="630849" y="840249"/>
                    <a:pt x="812800" y="652153"/>
                    <a:pt x="812800" y="420125"/>
                  </a:cubicBezTo>
                  <a:cubicBezTo>
                    <a:pt x="812800" y="188096"/>
                    <a:pt x="630849" y="0"/>
                    <a:pt x="406400" y="0"/>
                  </a:cubicBezTo>
                  <a:close/>
                </a:path>
              </a:pathLst>
            </a:custGeom>
            <a:blipFill>
              <a:blip r:embed="rId3"/>
              <a:stretch>
                <a:fillRect l="-40844" t="-1049" r="-48122" b="-20923"/>
              </a:stretch>
            </a:blipFill>
            <a:ln w="142875" cap="sq">
              <a:solidFill>
                <a:srgbClr val="470691"/>
              </a:solidFill>
              <a:prstDash val="solid"/>
              <a:miter/>
            </a:ln>
          </p:spPr>
        </p:sp>
      </p:grpSp>
      <p:sp>
        <p:nvSpPr>
          <p:cNvPr id="8" name="Freeform 8"/>
          <p:cNvSpPr/>
          <p:nvPr/>
        </p:nvSpPr>
        <p:spPr>
          <a:xfrm>
            <a:off x="11069483" y="1118287"/>
            <a:ext cx="1047180" cy="1047180"/>
          </a:xfrm>
          <a:custGeom>
            <a:avLst/>
            <a:gdLst/>
            <a:ahLst/>
            <a:cxnLst/>
            <a:rect l="l" t="t" r="r" b="b"/>
            <a:pathLst>
              <a:path w="1047180" h="1047180">
                <a:moveTo>
                  <a:pt x="0" y="0"/>
                </a:moveTo>
                <a:lnTo>
                  <a:pt x="1047180" y="0"/>
                </a:lnTo>
                <a:lnTo>
                  <a:pt x="1047180" y="1047180"/>
                </a:lnTo>
                <a:lnTo>
                  <a:pt x="0" y="1047180"/>
                </a:lnTo>
                <a:lnTo>
                  <a:pt x="0" y="0"/>
                </a:lnTo>
                <a:close/>
              </a:path>
            </a:pathLst>
          </a:custGeom>
          <a:blipFill>
            <a:blip>
              <a:alphaModFix amt="7999"/>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961000" y="1056722"/>
            <a:ext cx="9562953" cy="4377996"/>
          </a:xfrm>
          <a:prstGeom prst="rect">
            <a:avLst/>
          </a:prstGeom>
        </p:spPr>
        <p:txBody>
          <a:bodyPr lIns="0" tIns="0" rIns="0" bIns="0" rtlCol="0" anchor="t">
            <a:spAutoFit/>
          </a:bodyPr>
          <a:lstStyle/>
          <a:p>
            <a:pPr algn="l">
              <a:lnSpc>
                <a:spcPts val="11117"/>
              </a:lnSpc>
            </a:pPr>
            <a:r>
              <a:rPr lang="en-US" sz="13235" b="1">
                <a:solidFill>
                  <a:srgbClr val="FAFAFA"/>
                </a:solidFill>
                <a:latin typeface="Garet Bold"/>
                <a:ea typeface="Garet Bold"/>
                <a:cs typeface="Garet Bold"/>
                <a:sym typeface="Garet Bold"/>
              </a:rPr>
              <a:t>DATA</a:t>
            </a:r>
          </a:p>
          <a:p>
            <a:pPr algn="l">
              <a:lnSpc>
                <a:spcPts val="11117"/>
              </a:lnSpc>
            </a:pPr>
            <a:r>
              <a:rPr lang="en-US" sz="13235" b="1">
                <a:solidFill>
                  <a:srgbClr val="FAFAFA"/>
                </a:solidFill>
                <a:latin typeface="Garet Bold"/>
                <a:ea typeface="Garet Bold"/>
                <a:cs typeface="Garet Bold"/>
                <a:sym typeface="Garet Bold"/>
              </a:rPr>
              <a:t>CENTER</a:t>
            </a:r>
          </a:p>
          <a:p>
            <a:pPr algn="l">
              <a:lnSpc>
                <a:spcPts val="11117"/>
              </a:lnSpc>
            </a:pPr>
            <a:r>
              <a:rPr lang="en-US" sz="13235" b="1">
                <a:solidFill>
                  <a:srgbClr val="FAFAFA"/>
                </a:solidFill>
                <a:latin typeface="Garet Bold"/>
                <a:ea typeface="Garet Bold"/>
                <a:cs typeface="Garet Bold"/>
                <a:sym typeface="Garet Bold"/>
              </a:rPr>
              <a:t>NETWORK</a:t>
            </a:r>
          </a:p>
        </p:txBody>
      </p:sp>
      <p:sp>
        <p:nvSpPr>
          <p:cNvPr id="10" name="TextBox 10"/>
          <p:cNvSpPr txBox="1"/>
          <p:nvPr/>
        </p:nvSpPr>
        <p:spPr>
          <a:xfrm>
            <a:off x="1396189" y="6335713"/>
            <a:ext cx="3293630" cy="651046"/>
          </a:xfrm>
          <a:prstGeom prst="rect">
            <a:avLst/>
          </a:prstGeom>
        </p:spPr>
        <p:txBody>
          <a:bodyPr lIns="0" tIns="0" rIns="0" bIns="0" rtlCol="0" anchor="t">
            <a:spAutoFit/>
          </a:bodyPr>
          <a:lstStyle/>
          <a:p>
            <a:pPr algn="l">
              <a:lnSpc>
                <a:spcPts val="4549"/>
              </a:lnSpc>
            </a:pPr>
            <a:r>
              <a:rPr lang="en-US" sz="4549">
                <a:solidFill>
                  <a:srgbClr val="1E1E1E"/>
                </a:solidFill>
                <a:latin typeface="Poppins"/>
                <a:ea typeface="Poppins"/>
                <a:cs typeface="Poppins"/>
                <a:sym typeface="Poppins"/>
              </a:rPr>
              <a:t>LESSON 6</a:t>
            </a:r>
          </a:p>
        </p:txBody>
      </p:sp>
      <p:sp>
        <p:nvSpPr>
          <p:cNvPr id="11" name="TextBox 11"/>
          <p:cNvSpPr txBox="1"/>
          <p:nvPr/>
        </p:nvSpPr>
        <p:spPr>
          <a:xfrm>
            <a:off x="678074" y="7713101"/>
            <a:ext cx="2900875" cy="434705"/>
          </a:xfrm>
          <a:prstGeom prst="rect">
            <a:avLst/>
          </a:prstGeom>
        </p:spPr>
        <p:txBody>
          <a:bodyPr lIns="0" tIns="0" rIns="0" bIns="0" rtlCol="0" anchor="t">
            <a:spAutoFit/>
          </a:bodyPr>
          <a:lstStyle/>
          <a:p>
            <a:pPr algn="l">
              <a:lnSpc>
                <a:spcPts val="3058"/>
              </a:lnSpc>
            </a:pPr>
            <a:r>
              <a:rPr lang="en-US" sz="3058" b="1">
                <a:solidFill>
                  <a:srgbClr val="DDDCD6"/>
                </a:solidFill>
                <a:latin typeface="Poppins Bold"/>
                <a:ea typeface="Poppins Bold"/>
                <a:cs typeface="Poppins Bold"/>
                <a:sym typeface="Poppins Bold"/>
              </a:rPr>
              <a:t>Presented By: </a:t>
            </a:r>
          </a:p>
        </p:txBody>
      </p:sp>
      <p:sp>
        <p:nvSpPr>
          <p:cNvPr id="12" name="TextBox 12"/>
          <p:cNvSpPr txBox="1"/>
          <p:nvPr/>
        </p:nvSpPr>
        <p:spPr>
          <a:xfrm>
            <a:off x="3812122" y="7713101"/>
            <a:ext cx="3550805" cy="434705"/>
          </a:xfrm>
          <a:prstGeom prst="rect">
            <a:avLst/>
          </a:prstGeom>
        </p:spPr>
        <p:txBody>
          <a:bodyPr lIns="0" tIns="0" rIns="0" bIns="0" rtlCol="0" anchor="t">
            <a:spAutoFit/>
          </a:bodyPr>
          <a:lstStyle/>
          <a:p>
            <a:pPr algn="l">
              <a:lnSpc>
                <a:spcPts val="3058"/>
              </a:lnSpc>
            </a:pPr>
            <a:r>
              <a:rPr lang="en-US" sz="3058">
                <a:solidFill>
                  <a:srgbClr val="FAFAFA"/>
                </a:solidFill>
                <a:latin typeface="Poppins"/>
                <a:ea typeface="Poppins"/>
                <a:cs typeface="Poppins"/>
                <a:sym typeface="Poppins"/>
              </a:rPr>
              <a:t>GROUP 3</a:t>
            </a:r>
          </a:p>
        </p:txBody>
      </p:sp>
      <p:sp>
        <p:nvSpPr>
          <p:cNvPr id="13" name="Freeform 13"/>
          <p:cNvSpPr/>
          <p:nvPr/>
        </p:nvSpPr>
        <p:spPr>
          <a:xfrm>
            <a:off x="16314337" y="106249"/>
            <a:ext cx="3947325" cy="3947325"/>
          </a:xfrm>
          <a:custGeom>
            <a:avLst/>
            <a:gdLst/>
            <a:ahLst/>
            <a:cxnLst/>
            <a:rect l="l" t="t" r="r" b="b"/>
            <a:pathLst>
              <a:path w="3947325" h="3947325">
                <a:moveTo>
                  <a:pt x="0" y="0"/>
                </a:moveTo>
                <a:lnTo>
                  <a:pt x="3947326" y="0"/>
                </a:lnTo>
                <a:lnTo>
                  <a:pt x="3947326" y="3947325"/>
                </a:lnTo>
                <a:lnTo>
                  <a:pt x="0" y="3947325"/>
                </a:lnTo>
                <a:lnTo>
                  <a:pt x="0" y="0"/>
                </a:lnTo>
                <a:close/>
              </a:path>
            </a:pathLst>
          </a:custGeom>
          <a:blipFill>
            <a:blip>
              <a:alphaModFix amt="2000"/>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1583797" y="8426934"/>
            <a:ext cx="4881424" cy="1286749"/>
          </a:xfrm>
          <a:prstGeom prst="rect">
            <a:avLst/>
          </a:prstGeom>
        </p:spPr>
        <p:txBody>
          <a:bodyPr lIns="0" tIns="0" rIns="0" bIns="0" rtlCol="0" anchor="t">
            <a:spAutoFit/>
          </a:bodyPr>
          <a:lstStyle/>
          <a:p>
            <a:pPr algn="l">
              <a:lnSpc>
                <a:spcPts val="3282"/>
              </a:lnSpc>
            </a:pPr>
            <a:r>
              <a:rPr lang="en-US" sz="3282">
                <a:solidFill>
                  <a:srgbClr val="FFFFFF"/>
                </a:solidFill>
                <a:latin typeface="Poppins"/>
                <a:ea typeface="Poppins"/>
                <a:cs typeface="Poppins"/>
                <a:sym typeface="Poppins"/>
              </a:rPr>
              <a:t>Cas, Alexandre</a:t>
            </a:r>
          </a:p>
          <a:p>
            <a:pPr algn="l">
              <a:lnSpc>
                <a:spcPts val="3282"/>
              </a:lnSpc>
            </a:pPr>
            <a:r>
              <a:rPr lang="en-US" sz="3282">
                <a:solidFill>
                  <a:srgbClr val="FFFFFF"/>
                </a:solidFill>
                <a:latin typeface="Poppins"/>
                <a:ea typeface="Poppins"/>
                <a:cs typeface="Poppins"/>
                <a:sym typeface="Poppins"/>
              </a:rPr>
              <a:t>Gabon, Rachelle</a:t>
            </a:r>
          </a:p>
          <a:p>
            <a:pPr algn="l">
              <a:lnSpc>
                <a:spcPts val="3282"/>
              </a:lnSpc>
            </a:pPr>
            <a:r>
              <a:rPr lang="en-US" sz="3282">
                <a:solidFill>
                  <a:srgbClr val="FFFFFF"/>
                </a:solidFill>
                <a:latin typeface="Poppins"/>
                <a:ea typeface="Poppins"/>
                <a:cs typeface="Poppins"/>
                <a:sym typeface="Poppins"/>
              </a:rPr>
              <a:t>Lomerio, Jasmin Kylle</a:t>
            </a:r>
          </a:p>
        </p:txBody>
      </p:sp>
      <p:sp>
        <p:nvSpPr>
          <p:cNvPr id="15" name="TextBox 15"/>
          <p:cNvSpPr txBox="1"/>
          <p:nvPr/>
        </p:nvSpPr>
        <p:spPr>
          <a:xfrm>
            <a:off x="6480421" y="8538640"/>
            <a:ext cx="4881424" cy="1286749"/>
          </a:xfrm>
          <a:prstGeom prst="rect">
            <a:avLst/>
          </a:prstGeom>
        </p:spPr>
        <p:txBody>
          <a:bodyPr lIns="0" tIns="0" rIns="0" bIns="0" rtlCol="0" anchor="t">
            <a:spAutoFit/>
          </a:bodyPr>
          <a:lstStyle/>
          <a:p>
            <a:pPr algn="l">
              <a:lnSpc>
                <a:spcPts val="3282"/>
              </a:lnSpc>
            </a:pPr>
            <a:r>
              <a:rPr lang="en-US" sz="3282">
                <a:solidFill>
                  <a:srgbClr val="FFFFFF"/>
                </a:solidFill>
                <a:latin typeface="Poppins"/>
                <a:ea typeface="Poppins"/>
                <a:cs typeface="Poppins"/>
                <a:sym typeface="Poppins"/>
              </a:rPr>
              <a:t>Merenciano, Krisscel</a:t>
            </a:r>
          </a:p>
          <a:p>
            <a:pPr algn="l">
              <a:lnSpc>
                <a:spcPts val="3282"/>
              </a:lnSpc>
            </a:pPr>
            <a:r>
              <a:rPr lang="en-US" sz="3282">
                <a:solidFill>
                  <a:srgbClr val="FFFFFF"/>
                </a:solidFill>
                <a:latin typeface="Poppins"/>
                <a:ea typeface="Poppins"/>
                <a:cs typeface="Poppins"/>
                <a:sym typeface="Poppins"/>
              </a:rPr>
              <a:t>Moral, Kathleen</a:t>
            </a:r>
          </a:p>
          <a:p>
            <a:pPr algn="l">
              <a:lnSpc>
                <a:spcPts val="3282"/>
              </a:lnSpc>
            </a:pPr>
            <a:r>
              <a:rPr lang="en-US" sz="3282">
                <a:solidFill>
                  <a:srgbClr val="FFFFFF"/>
                </a:solidFill>
                <a:latin typeface="Poppins"/>
                <a:ea typeface="Poppins"/>
                <a:cs typeface="Poppins"/>
                <a:sym typeface="Poppins"/>
              </a:rPr>
              <a:t>Murillo, Lance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605739" y="1413528"/>
            <a:ext cx="9640437" cy="2199245"/>
          </a:xfrm>
          <a:prstGeom prst="rect">
            <a:avLst/>
          </a:prstGeom>
        </p:spPr>
        <p:txBody>
          <a:bodyPr lIns="0" tIns="0" rIns="0" bIns="0" rtlCol="0" anchor="t">
            <a:spAutoFit/>
          </a:bodyPr>
          <a:lstStyle/>
          <a:p>
            <a:pPr algn="l">
              <a:lnSpc>
                <a:spcPts val="8235"/>
              </a:lnSpc>
            </a:pPr>
            <a:r>
              <a:rPr lang="en-US" sz="9804" b="1" dirty="0">
                <a:solidFill>
                  <a:srgbClr val="000000"/>
                </a:solidFill>
                <a:latin typeface="Garet Bold"/>
                <a:ea typeface="Garet Bold"/>
                <a:cs typeface="Garet Bold"/>
                <a:sym typeface="Garet Bold"/>
              </a:rPr>
              <a:t>WHAT IS A DATA CENTER?</a:t>
            </a:r>
          </a:p>
        </p:txBody>
      </p:sp>
      <p:sp>
        <p:nvSpPr>
          <p:cNvPr id="6" name="TextBox 6"/>
          <p:cNvSpPr txBox="1"/>
          <p:nvPr/>
        </p:nvSpPr>
        <p:spPr>
          <a:xfrm>
            <a:off x="1666661" y="4550805"/>
            <a:ext cx="11854986" cy="5085093"/>
          </a:xfrm>
          <a:prstGeom prst="rect">
            <a:avLst/>
          </a:prstGeom>
        </p:spPr>
        <p:txBody>
          <a:bodyPr lIns="0" tIns="0" rIns="0" bIns="0" rtlCol="0" anchor="t">
            <a:spAutoFit/>
          </a:bodyPr>
          <a:lstStyle/>
          <a:p>
            <a:pPr algn="just">
              <a:lnSpc>
                <a:spcPts val="3325"/>
              </a:lnSpc>
            </a:pPr>
            <a:r>
              <a:rPr lang="en-US" sz="3325" dirty="0">
                <a:solidFill>
                  <a:srgbClr val="1E1E1E"/>
                </a:solidFill>
                <a:latin typeface="Poppins"/>
                <a:ea typeface="Poppins"/>
                <a:cs typeface="Poppins"/>
                <a:sym typeface="Poppins"/>
              </a:rPr>
              <a:t>A data center network is a system that connects computer systems and devices inside a data center. It allows data to be stored, processed, and transferred between systems and users. It also supports applications and delivers digital services.</a:t>
            </a:r>
          </a:p>
          <a:p>
            <a:pPr algn="just">
              <a:lnSpc>
                <a:spcPts val="3325"/>
              </a:lnSpc>
            </a:pPr>
            <a:endParaRPr lang="en-US" sz="3325" dirty="0">
              <a:solidFill>
                <a:srgbClr val="1E1E1E"/>
              </a:solidFill>
              <a:latin typeface="Poppins"/>
              <a:ea typeface="Poppins"/>
              <a:cs typeface="Poppins"/>
              <a:sym typeface="Poppins"/>
            </a:endParaRPr>
          </a:p>
          <a:p>
            <a:pPr algn="just">
              <a:lnSpc>
                <a:spcPts val="3325"/>
              </a:lnSpc>
            </a:pPr>
            <a:r>
              <a:rPr lang="en-US" sz="3325" dirty="0">
                <a:solidFill>
                  <a:srgbClr val="1E1E1E"/>
                </a:solidFill>
                <a:latin typeface="Poppins"/>
                <a:ea typeface="Poppins"/>
                <a:cs typeface="Poppins"/>
                <a:sym typeface="Poppins"/>
              </a:rPr>
              <a:t> Key components include: </a:t>
            </a:r>
          </a:p>
          <a:p>
            <a:pPr marL="717982" lvl="1" indent="-358991" algn="l">
              <a:lnSpc>
                <a:spcPts val="3325"/>
              </a:lnSpc>
              <a:buFont typeface="Arial"/>
              <a:buChar char="•"/>
            </a:pPr>
            <a:r>
              <a:rPr lang="en-US" sz="3325" dirty="0">
                <a:solidFill>
                  <a:srgbClr val="1E1E1E"/>
                </a:solidFill>
                <a:latin typeface="Poppins"/>
                <a:ea typeface="Poppins"/>
                <a:cs typeface="Poppins"/>
                <a:sym typeface="Poppins"/>
              </a:rPr>
              <a:t>Servers </a:t>
            </a:r>
          </a:p>
          <a:p>
            <a:pPr marL="717982" lvl="1" indent="-358991" algn="l">
              <a:lnSpc>
                <a:spcPts val="3325"/>
              </a:lnSpc>
              <a:buFont typeface="Arial"/>
              <a:buChar char="•"/>
            </a:pPr>
            <a:r>
              <a:rPr lang="en-US" sz="3325" dirty="0">
                <a:solidFill>
                  <a:srgbClr val="1E1E1E"/>
                </a:solidFill>
                <a:latin typeface="Poppins"/>
                <a:ea typeface="Poppins"/>
                <a:cs typeface="Poppins"/>
                <a:sym typeface="Poppins"/>
              </a:rPr>
              <a:t>Storage systems </a:t>
            </a:r>
          </a:p>
          <a:p>
            <a:pPr marL="717982" lvl="1" indent="-358991" algn="l">
              <a:lnSpc>
                <a:spcPts val="3325"/>
              </a:lnSpc>
              <a:buFont typeface="Arial"/>
              <a:buChar char="•"/>
            </a:pPr>
            <a:r>
              <a:rPr lang="en-US" sz="3325" dirty="0">
                <a:solidFill>
                  <a:srgbClr val="1E1E1E"/>
                </a:solidFill>
                <a:latin typeface="Poppins"/>
                <a:ea typeface="Poppins"/>
                <a:cs typeface="Poppins"/>
                <a:sym typeface="Poppins"/>
              </a:rPr>
              <a:t>Networking equipment </a:t>
            </a:r>
          </a:p>
          <a:p>
            <a:pPr algn="just">
              <a:lnSpc>
                <a:spcPts val="3325"/>
              </a:lnSpc>
            </a:pPr>
            <a:r>
              <a:rPr lang="en-US" sz="3325" dirty="0">
                <a:solidFill>
                  <a:srgbClr val="1E1E1E"/>
                </a:solidFill>
                <a:latin typeface="Poppins"/>
                <a:ea typeface="Poppins"/>
                <a:cs typeface="Poppins"/>
                <a:sym typeface="Poppins"/>
              </a:rPr>
              <a:t>It supports services like cloud computing, social media, online banking, and streaming </a:t>
            </a:r>
          </a:p>
        </p:txBody>
      </p:sp>
      <p:sp>
        <p:nvSpPr>
          <p:cNvPr id="7" name="Freeform 7"/>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Freeform 10"/>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1666661" y="805182"/>
            <a:ext cx="3293630" cy="475611"/>
          </a:xfrm>
          <a:prstGeom prst="rect">
            <a:avLst/>
          </a:prstGeom>
        </p:spPr>
        <p:txBody>
          <a:bodyPr lIns="0" tIns="0" rIns="0" bIns="0" rtlCol="0" anchor="t">
            <a:spAutoFit/>
          </a:bodyPr>
          <a:lstStyle/>
          <a:p>
            <a:pPr algn="l">
              <a:lnSpc>
                <a:spcPts val="3349"/>
              </a:lnSpc>
            </a:pPr>
            <a:r>
              <a:rPr lang="en-US" sz="3349">
                <a:solidFill>
                  <a:srgbClr val="1E1E1E"/>
                </a:solidFill>
                <a:latin typeface="Poppins"/>
                <a:ea typeface="Poppins"/>
                <a:cs typeface="Poppins"/>
                <a:sym typeface="Poppins"/>
              </a:rPr>
              <a:t>LESSON 6.1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605739" y="1022381"/>
            <a:ext cx="12308626" cy="2199245"/>
          </a:xfrm>
          <a:prstGeom prst="rect">
            <a:avLst/>
          </a:prstGeom>
        </p:spPr>
        <p:txBody>
          <a:bodyPr lIns="0" tIns="0" rIns="0" bIns="0" rtlCol="0" anchor="t">
            <a:spAutoFit/>
          </a:bodyPr>
          <a:lstStyle/>
          <a:p>
            <a:pPr algn="l">
              <a:lnSpc>
                <a:spcPts val="8235"/>
              </a:lnSpc>
            </a:pPr>
            <a:r>
              <a:rPr lang="en-US" sz="9804" b="1">
                <a:solidFill>
                  <a:srgbClr val="000000"/>
                </a:solidFill>
                <a:latin typeface="Garet Bold"/>
                <a:ea typeface="Garet Bold"/>
                <a:cs typeface="Garet Bold"/>
                <a:sym typeface="Garet Bold"/>
              </a:rPr>
              <a:t>HISTORY – PAST AND PRESENT</a:t>
            </a:r>
          </a:p>
        </p:txBody>
      </p:sp>
      <p:sp>
        <p:nvSpPr>
          <p:cNvPr id="6" name="TextBox 6"/>
          <p:cNvSpPr txBox="1"/>
          <p:nvPr/>
        </p:nvSpPr>
        <p:spPr>
          <a:xfrm>
            <a:off x="1666661" y="3675503"/>
            <a:ext cx="11854986" cy="5504193"/>
          </a:xfrm>
          <a:prstGeom prst="rect">
            <a:avLst/>
          </a:prstGeom>
        </p:spPr>
        <p:txBody>
          <a:bodyPr lIns="0" tIns="0" rIns="0" bIns="0" rtlCol="0" anchor="t">
            <a:spAutoFit/>
          </a:bodyPr>
          <a:lstStyle/>
          <a:p>
            <a:pPr algn="just">
              <a:lnSpc>
                <a:spcPts val="3325"/>
              </a:lnSpc>
            </a:pPr>
            <a:r>
              <a:rPr lang="en-US" sz="3325" dirty="0">
                <a:solidFill>
                  <a:srgbClr val="1E1E1E"/>
                </a:solidFill>
                <a:latin typeface="Poppins"/>
                <a:ea typeface="Poppins"/>
                <a:cs typeface="Poppins"/>
                <a:sym typeface="Poppins"/>
              </a:rPr>
              <a:t>Past (1940s–1990s):</a:t>
            </a:r>
          </a:p>
          <a:p>
            <a:pPr marL="717982" lvl="1" indent="-358991" algn="just">
              <a:lnSpc>
                <a:spcPts val="3325"/>
              </a:lnSpc>
              <a:buFont typeface="Arial"/>
              <a:buChar char="•"/>
            </a:pPr>
            <a:r>
              <a:rPr lang="en-US" sz="3325" dirty="0">
                <a:solidFill>
                  <a:srgbClr val="1E1E1E"/>
                </a:solidFill>
                <a:latin typeface="Poppins"/>
                <a:ea typeface="Poppins"/>
                <a:cs typeface="Poppins"/>
                <a:sym typeface="Poppins"/>
              </a:rPr>
              <a:t>Early computers were large and required entire rooms</a:t>
            </a:r>
          </a:p>
          <a:p>
            <a:pPr marL="717982" lvl="1" indent="-358991" algn="just">
              <a:lnSpc>
                <a:spcPts val="3325"/>
              </a:lnSpc>
              <a:buFont typeface="Arial"/>
              <a:buChar char="•"/>
            </a:pPr>
            <a:r>
              <a:rPr lang="en-US" sz="3325" dirty="0">
                <a:solidFill>
                  <a:srgbClr val="1E1E1E"/>
                </a:solidFill>
                <a:latin typeface="Poppins"/>
                <a:ea typeface="Poppins"/>
                <a:cs typeface="Poppins"/>
                <a:sym typeface="Poppins"/>
              </a:rPr>
              <a:t>Limited and basic network connections</a:t>
            </a:r>
          </a:p>
          <a:p>
            <a:pPr marL="717982" lvl="1" indent="-358991" algn="just">
              <a:lnSpc>
                <a:spcPts val="3325"/>
              </a:lnSpc>
              <a:buFont typeface="Arial"/>
              <a:buChar char="•"/>
            </a:pPr>
            <a:r>
              <a:rPr lang="en-US" sz="3325" dirty="0">
                <a:solidFill>
                  <a:srgbClr val="1E1E1E"/>
                </a:solidFill>
                <a:latin typeface="Poppins"/>
                <a:ea typeface="Poppins"/>
                <a:cs typeface="Poppins"/>
                <a:sym typeface="Poppins"/>
              </a:rPr>
              <a:t>Systems were managed manually</a:t>
            </a:r>
          </a:p>
          <a:p>
            <a:pPr marL="717982" lvl="1" indent="-358991" algn="just">
              <a:lnSpc>
                <a:spcPts val="3325"/>
              </a:lnSpc>
              <a:buFont typeface="Arial"/>
              <a:buChar char="•"/>
            </a:pPr>
            <a:r>
              <a:rPr lang="en-US" sz="3325" dirty="0">
                <a:solidFill>
                  <a:srgbClr val="1E1E1E"/>
                </a:solidFill>
                <a:latin typeface="Poppins"/>
                <a:ea typeface="Poppins"/>
                <a:cs typeface="Poppins"/>
                <a:sym typeface="Poppins"/>
              </a:rPr>
              <a:t>Data transfer was slow and less efficient</a:t>
            </a:r>
          </a:p>
          <a:p>
            <a:pPr algn="just">
              <a:lnSpc>
                <a:spcPts val="3325"/>
              </a:lnSpc>
            </a:pPr>
            <a:endParaRPr lang="en-US" sz="3325" dirty="0">
              <a:solidFill>
                <a:srgbClr val="1E1E1E"/>
              </a:solidFill>
              <a:latin typeface="Poppins"/>
              <a:ea typeface="Poppins"/>
              <a:cs typeface="Poppins"/>
              <a:sym typeface="Poppins"/>
            </a:endParaRPr>
          </a:p>
          <a:p>
            <a:pPr algn="just">
              <a:lnSpc>
                <a:spcPts val="3325"/>
              </a:lnSpc>
            </a:pPr>
            <a:r>
              <a:rPr lang="en-US" sz="3325" dirty="0">
                <a:solidFill>
                  <a:srgbClr val="1E1E1E"/>
                </a:solidFill>
                <a:latin typeface="Poppins"/>
                <a:ea typeface="Poppins"/>
                <a:cs typeface="Poppins"/>
                <a:sym typeface="Poppins"/>
              </a:rPr>
              <a:t>Present:</a:t>
            </a:r>
          </a:p>
          <a:p>
            <a:pPr marL="717982" lvl="1" indent="-358991" algn="just">
              <a:lnSpc>
                <a:spcPts val="3325"/>
              </a:lnSpc>
              <a:buFont typeface="Arial"/>
              <a:buChar char="•"/>
            </a:pPr>
            <a:r>
              <a:rPr lang="en-US" sz="3325" dirty="0">
                <a:solidFill>
                  <a:srgbClr val="1E1E1E"/>
                </a:solidFill>
                <a:latin typeface="Poppins"/>
                <a:ea typeface="Poppins"/>
                <a:cs typeface="Poppins"/>
                <a:sym typeface="Poppins"/>
              </a:rPr>
              <a:t>High-speed and advanced networking technologies</a:t>
            </a:r>
          </a:p>
          <a:p>
            <a:pPr marL="717982" lvl="1" indent="-358991" algn="just">
              <a:lnSpc>
                <a:spcPts val="3325"/>
              </a:lnSpc>
              <a:buFont typeface="Arial"/>
              <a:buChar char="•"/>
            </a:pPr>
            <a:r>
              <a:rPr lang="en-US" sz="3325" dirty="0">
                <a:solidFill>
                  <a:srgbClr val="1E1E1E"/>
                </a:solidFill>
                <a:latin typeface="Poppins"/>
                <a:ea typeface="Poppins"/>
                <a:cs typeface="Poppins"/>
                <a:sym typeface="Poppins"/>
              </a:rPr>
              <a:t>Use of virtualization and cloud computing</a:t>
            </a:r>
          </a:p>
          <a:p>
            <a:pPr marL="717982" lvl="1" indent="-358991" algn="just">
              <a:lnSpc>
                <a:spcPts val="3325"/>
              </a:lnSpc>
              <a:buFont typeface="Arial"/>
              <a:buChar char="•"/>
            </a:pPr>
            <a:r>
              <a:rPr lang="en-US" sz="3325" dirty="0">
                <a:solidFill>
                  <a:srgbClr val="1E1E1E"/>
                </a:solidFill>
                <a:latin typeface="Poppins"/>
                <a:ea typeface="Poppins"/>
                <a:cs typeface="Poppins"/>
                <a:sym typeface="Poppins"/>
              </a:rPr>
              <a:t>Automated and software-defined networks</a:t>
            </a:r>
          </a:p>
          <a:p>
            <a:pPr marL="717982" lvl="1" indent="-358991" algn="just">
              <a:lnSpc>
                <a:spcPts val="3325"/>
              </a:lnSpc>
              <a:buFont typeface="Arial"/>
              <a:buChar char="•"/>
            </a:pPr>
            <a:r>
              <a:rPr lang="en-US" sz="3325" dirty="0">
                <a:solidFill>
                  <a:srgbClr val="1E1E1E"/>
                </a:solidFill>
                <a:latin typeface="Poppins"/>
                <a:ea typeface="Poppins"/>
                <a:cs typeface="Poppins"/>
                <a:sym typeface="Poppins"/>
              </a:rPr>
              <a:t>Faster, more secure, and scalable communication</a:t>
            </a:r>
          </a:p>
          <a:p>
            <a:pPr algn="just">
              <a:lnSpc>
                <a:spcPts val="3325"/>
              </a:lnSpc>
            </a:pPr>
            <a:endParaRPr lang="en-US" sz="3325" dirty="0">
              <a:solidFill>
                <a:srgbClr val="1E1E1E"/>
              </a:solidFill>
              <a:latin typeface="Poppins"/>
              <a:ea typeface="Poppins"/>
              <a:cs typeface="Poppins"/>
              <a:sym typeface="Poppins"/>
            </a:endParaRPr>
          </a:p>
        </p:txBody>
      </p:sp>
      <p:sp>
        <p:nvSpPr>
          <p:cNvPr id="7" name="Freeform 7"/>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Freeform 10"/>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605739" y="1022381"/>
            <a:ext cx="12308626" cy="2199245"/>
          </a:xfrm>
          <a:prstGeom prst="rect">
            <a:avLst/>
          </a:prstGeom>
        </p:spPr>
        <p:txBody>
          <a:bodyPr lIns="0" tIns="0" rIns="0" bIns="0" rtlCol="0" anchor="t">
            <a:spAutoFit/>
          </a:bodyPr>
          <a:lstStyle/>
          <a:p>
            <a:pPr algn="l">
              <a:lnSpc>
                <a:spcPts val="8235"/>
              </a:lnSpc>
            </a:pPr>
            <a:r>
              <a:rPr lang="en-US" sz="9804" b="1">
                <a:solidFill>
                  <a:srgbClr val="000000"/>
                </a:solidFill>
                <a:latin typeface="Garet Bold"/>
                <a:ea typeface="Garet Bold"/>
                <a:cs typeface="Garet Bold"/>
                <a:sym typeface="Garet Bold"/>
              </a:rPr>
              <a:t>TYPES OF DATA CENTERS</a:t>
            </a:r>
          </a:p>
        </p:txBody>
      </p:sp>
      <p:sp>
        <p:nvSpPr>
          <p:cNvPr id="6" name="TextBox 6"/>
          <p:cNvSpPr txBox="1"/>
          <p:nvPr/>
        </p:nvSpPr>
        <p:spPr>
          <a:xfrm>
            <a:off x="1666661" y="3675503"/>
            <a:ext cx="11854986" cy="5923293"/>
          </a:xfrm>
          <a:prstGeom prst="rect">
            <a:avLst/>
          </a:prstGeom>
        </p:spPr>
        <p:txBody>
          <a:bodyPr lIns="0" tIns="0" rIns="0" bIns="0" rtlCol="0" anchor="t">
            <a:spAutoFit/>
          </a:bodyPr>
          <a:lstStyle/>
          <a:p>
            <a:pPr algn="just">
              <a:lnSpc>
                <a:spcPts val="3325"/>
              </a:lnSpc>
            </a:pPr>
            <a:r>
              <a:rPr lang="en-US" sz="3325" b="1">
                <a:solidFill>
                  <a:srgbClr val="1E1E1E"/>
                </a:solidFill>
                <a:latin typeface="Poppins Bold"/>
                <a:ea typeface="Poppins Bold"/>
                <a:cs typeface="Poppins Bold"/>
                <a:sym typeface="Poppins Bold"/>
              </a:rPr>
              <a:t>Onsite (Enterprise):</a:t>
            </a:r>
            <a:r>
              <a:rPr lang="en-US" sz="3325">
                <a:solidFill>
                  <a:srgbClr val="1E1E1E"/>
                </a:solidFill>
                <a:latin typeface="Poppins"/>
                <a:ea typeface="Poppins"/>
                <a:cs typeface="Poppins"/>
                <a:sym typeface="Poppins"/>
              </a:rPr>
              <a:t> Built and managed by a single company.</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r>
              <a:rPr lang="en-US" sz="3325" b="1">
                <a:solidFill>
                  <a:srgbClr val="1E1E1E"/>
                </a:solidFill>
                <a:latin typeface="Poppins Bold"/>
                <a:ea typeface="Poppins Bold"/>
                <a:cs typeface="Poppins Bold"/>
                <a:sym typeface="Poppins Bold"/>
              </a:rPr>
              <a:t>Colocation: </a:t>
            </a:r>
            <a:r>
              <a:rPr lang="en-US" sz="3325">
                <a:solidFill>
                  <a:srgbClr val="1E1E1E"/>
                </a:solidFill>
                <a:latin typeface="Poppins"/>
                <a:ea typeface="Poppins"/>
                <a:cs typeface="Poppins"/>
                <a:sym typeface="Poppins"/>
              </a:rPr>
              <a:t>Shared facility used by multiple organizations.</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r>
              <a:rPr lang="en-US" sz="3325" b="1">
                <a:solidFill>
                  <a:srgbClr val="1E1E1E"/>
                </a:solidFill>
                <a:latin typeface="Poppins Bold"/>
                <a:ea typeface="Poppins Bold"/>
                <a:cs typeface="Poppins Bold"/>
                <a:sym typeface="Poppins Bold"/>
              </a:rPr>
              <a:t>Cloud Data Centers:</a:t>
            </a:r>
            <a:r>
              <a:rPr lang="en-US" sz="3325">
                <a:solidFill>
                  <a:srgbClr val="1E1E1E"/>
                </a:solidFill>
                <a:latin typeface="Poppins"/>
                <a:ea typeface="Poppins"/>
                <a:cs typeface="Poppins"/>
                <a:sym typeface="Poppins"/>
              </a:rPr>
              <a:t> Provide virtual networks and services over the internet</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r>
              <a:rPr lang="en-US" sz="3325" b="1">
                <a:solidFill>
                  <a:srgbClr val="1E1E1E"/>
                </a:solidFill>
                <a:latin typeface="Poppins Bold"/>
                <a:ea typeface="Poppins Bold"/>
                <a:cs typeface="Poppins Bold"/>
                <a:sym typeface="Poppins Bold"/>
              </a:rPr>
              <a:t>Hyperscale:</a:t>
            </a:r>
            <a:r>
              <a:rPr lang="en-US" sz="3325">
                <a:solidFill>
                  <a:srgbClr val="1E1E1E"/>
                </a:solidFill>
                <a:latin typeface="Poppins"/>
                <a:ea typeface="Poppins"/>
                <a:cs typeface="Poppins"/>
                <a:sym typeface="Poppins"/>
              </a:rPr>
              <a:t> Very large data centers used by tech giants (e.g., cloud providers).</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r>
              <a:rPr lang="en-US" sz="3325" b="1">
                <a:solidFill>
                  <a:srgbClr val="1E1E1E"/>
                </a:solidFill>
                <a:latin typeface="Poppins Bold"/>
                <a:ea typeface="Poppins Bold"/>
                <a:cs typeface="Poppins Bold"/>
                <a:sym typeface="Poppins Bold"/>
              </a:rPr>
              <a:t>Edge Data Centers:</a:t>
            </a:r>
            <a:r>
              <a:rPr lang="en-US" sz="3325">
                <a:solidFill>
                  <a:srgbClr val="1E1E1E"/>
                </a:solidFill>
                <a:latin typeface="Poppins"/>
                <a:ea typeface="Poppins"/>
                <a:cs typeface="Poppins"/>
                <a:sym typeface="Poppins"/>
              </a:rPr>
              <a:t> Small facilities located closer to users for faster access and lower delay.</a:t>
            </a:r>
          </a:p>
        </p:txBody>
      </p:sp>
      <p:sp>
        <p:nvSpPr>
          <p:cNvPr id="7" name="Freeform 7"/>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Freeform 10"/>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446324" y="1766318"/>
            <a:ext cx="12308626" cy="3241420"/>
          </a:xfrm>
          <a:prstGeom prst="rect">
            <a:avLst/>
          </a:prstGeom>
        </p:spPr>
        <p:txBody>
          <a:bodyPr lIns="0" tIns="0" rIns="0" bIns="0" rtlCol="0" anchor="t">
            <a:spAutoFit/>
          </a:bodyPr>
          <a:lstStyle/>
          <a:p>
            <a:pPr algn="l">
              <a:lnSpc>
                <a:spcPts val="8235"/>
              </a:lnSpc>
            </a:pPr>
            <a:r>
              <a:rPr lang="en-US" sz="9804" b="1">
                <a:solidFill>
                  <a:srgbClr val="000000"/>
                </a:solidFill>
                <a:latin typeface="Garet Bold"/>
                <a:ea typeface="Garet Bold"/>
                <a:cs typeface="Garet Bold"/>
                <a:sym typeface="Garet Bold"/>
              </a:rPr>
              <a:t>DATA CENTER NETWORK (DCN) FUNDAMENTALS</a:t>
            </a:r>
          </a:p>
        </p:txBody>
      </p:sp>
      <p:sp>
        <p:nvSpPr>
          <p:cNvPr id="6" name="TextBox 6"/>
          <p:cNvSpPr txBox="1"/>
          <p:nvPr/>
        </p:nvSpPr>
        <p:spPr>
          <a:xfrm>
            <a:off x="1552361" y="5657938"/>
            <a:ext cx="11854986" cy="3827794"/>
          </a:xfrm>
          <a:prstGeom prst="rect">
            <a:avLst/>
          </a:prstGeom>
        </p:spPr>
        <p:txBody>
          <a:bodyPr lIns="0" tIns="0" rIns="0" bIns="0" rtlCol="0" anchor="t">
            <a:spAutoFit/>
          </a:bodyPr>
          <a:lstStyle/>
          <a:p>
            <a:pPr algn="just">
              <a:lnSpc>
                <a:spcPts val="3325"/>
              </a:lnSpc>
            </a:pPr>
            <a:r>
              <a:rPr lang="en-US" sz="3325" b="1">
                <a:solidFill>
                  <a:srgbClr val="1E1E1E"/>
                </a:solidFill>
                <a:latin typeface="Poppins Bold"/>
                <a:ea typeface="Poppins Bold"/>
                <a:cs typeface="Poppins Bold"/>
                <a:sym typeface="Poppins Bold"/>
              </a:rPr>
              <a:t>Data Center Network (DCN) Fundamentals</a:t>
            </a:r>
            <a:r>
              <a:rPr lang="en-US" sz="3325">
                <a:solidFill>
                  <a:srgbClr val="1E1E1E"/>
                </a:solidFill>
                <a:latin typeface="Poppins"/>
                <a:ea typeface="Poppins"/>
                <a:cs typeface="Poppins"/>
                <a:sym typeface="Poppins"/>
              </a:rPr>
              <a:t> refer to the basic concepts, components, and design principles used to build and manage networks inside a data center.</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r>
              <a:rPr lang="en-US" sz="3325" b="1">
                <a:solidFill>
                  <a:srgbClr val="1E1E1E"/>
                </a:solidFill>
                <a:latin typeface="Poppins Bold"/>
                <a:ea typeface="Poppins Bold"/>
                <a:cs typeface="Poppins Bold"/>
                <a:sym typeface="Poppins Bold"/>
              </a:rPr>
              <a:t>Purpose:</a:t>
            </a:r>
            <a:r>
              <a:rPr lang="en-US" sz="3325">
                <a:solidFill>
                  <a:srgbClr val="1E1E1E"/>
                </a:solidFill>
                <a:latin typeface="Poppins"/>
                <a:ea typeface="Poppins"/>
                <a:cs typeface="Poppins"/>
                <a:sym typeface="Poppins"/>
              </a:rPr>
              <a:t> Enables communication between servers, storage systems, and users to deliver applications and services efficiently.</a:t>
            </a:r>
          </a:p>
          <a:p>
            <a:pPr algn="just">
              <a:lnSpc>
                <a:spcPts val="3325"/>
              </a:lnSpc>
            </a:pPr>
            <a:endParaRPr lang="en-US" sz="3325">
              <a:solidFill>
                <a:srgbClr val="1E1E1E"/>
              </a:solidFill>
              <a:latin typeface="Poppins"/>
              <a:ea typeface="Poppins"/>
              <a:cs typeface="Poppins"/>
              <a:sym typeface="Poppins"/>
            </a:endParaRPr>
          </a:p>
        </p:txBody>
      </p:sp>
      <p:sp>
        <p:nvSpPr>
          <p:cNvPr id="7" name="Freeform 7"/>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Freeform 10"/>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1" name="TextBox 11"/>
          <p:cNvSpPr txBox="1"/>
          <p:nvPr/>
        </p:nvSpPr>
        <p:spPr>
          <a:xfrm>
            <a:off x="1542836" y="805182"/>
            <a:ext cx="3293630" cy="475611"/>
          </a:xfrm>
          <a:prstGeom prst="rect">
            <a:avLst/>
          </a:prstGeom>
        </p:spPr>
        <p:txBody>
          <a:bodyPr lIns="0" tIns="0" rIns="0" bIns="0" rtlCol="0" anchor="t">
            <a:spAutoFit/>
          </a:bodyPr>
          <a:lstStyle/>
          <a:p>
            <a:pPr algn="l">
              <a:lnSpc>
                <a:spcPts val="3349"/>
              </a:lnSpc>
            </a:pPr>
            <a:r>
              <a:rPr lang="en-US" sz="3349">
                <a:solidFill>
                  <a:srgbClr val="1E1E1E"/>
                </a:solidFill>
                <a:latin typeface="Poppins"/>
                <a:ea typeface="Poppins"/>
                <a:cs typeface="Poppins"/>
                <a:sym typeface="Poppins"/>
              </a:rPr>
              <a:t>LESSON 6.2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896971" y="1407998"/>
            <a:ext cx="4733016" cy="2989594"/>
          </a:xfrm>
          <a:prstGeom prst="rect">
            <a:avLst/>
          </a:prstGeom>
        </p:spPr>
        <p:txBody>
          <a:bodyPr lIns="0" tIns="0" rIns="0" bIns="0" rtlCol="0" anchor="t">
            <a:spAutoFit/>
          </a:bodyPr>
          <a:lstStyle/>
          <a:p>
            <a:pPr algn="just">
              <a:lnSpc>
                <a:spcPts val="3325"/>
              </a:lnSpc>
            </a:pPr>
            <a:r>
              <a:rPr lang="en-US" sz="3325" b="1">
                <a:solidFill>
                  <a:srgbClr val="1E1E1E"/>
                </a:solidFill>
                <a:latin typeface="Poppins Bold"/>
                <a:ea typeface="Poppins Bold"/>
                <a:cs typeface="Poppins Bold"/>
                <a:sym typeface="Poppins Bold"/>
              </a:rPr>
              <a:t>Main components: </a:t>
            </a:r>
          </a:p>
          <a:p>
            <a:pPr algn="just">
              <a:lnSpc>
                <a:spcPts val="3325"/>
              </a:lnSpc>
            </a:pPr>
            <a:endParaRPr lang="en-US" sz="3325" b="1">
              <a:solidFill>
                <a:srgbClr val="1E1E1E"/>
              </a:solidFill>
              <a:latin typeface="Poppins Bold"/>
              <a:ea typeface="Poppins Bold"/>
              <a:cs typeface="Poppins Bold"/>
              <a:sym typeface="Poppins Bold"/>
            </a:endParaRPr>
          </a:p>
          <a:p>
            <a:pPr marL="717982" lvl="1" indent="-358991" algn="l">
              <a:lnSpc>
                <a:spcPts val="3325"/>
              </a:lnSpc>
              <a:buFont typeface="Arial"/>
              <a:buChar char="•"/>
            </a:pPr>
            <a:r>
              <a:rPr lang="en-US" sz="3325">
                <a:solidFill>
                  <a:srgbClr val="1E1E1E"/>
                </a:solidFill>
                <a:latin typeface="Poppins"/>
                <a:ea typeface="Poppins"/>
                <a:cs typeface="Poppins"/>
                <a:sym typeface="Poppins"/>
              </a:rPr>
              <a:t>Servers </a:t>
            </a:r>
          </a:p>
          <a:p>
            <a:pPr marL="717982" lvl="1" indent="-358991" algn="l">
              <a:lnSpc>
                <a:spcPts val="3325"/>
              </a:lnSpc>
              <a:buFont typeface="Arial"/>
              <a:buChar char="•"/>
            </a:pPr>
            <a:r>
              <a:rPr lang="en-US" sz="3325">
                <a:solidFill>
                  <a:srgbClr val="1E1E1E"/>
                </a:solidFill>
                <a:latin typeface="Poppins"/>
                <a:ea typeface="Poppins"/>
                <a:cs typeface="Poppins"/>
                <a:sym typeface="Poppins"/>
              </a:rPr>
              <a:t>Switches </a:t>
            </a:r>
          </a:p>
          <a:p>
            <a:pPr marL="717982" lvl="1" indent="-358991" algn="l">
              <a:lnSpc>
                <a:spcPts val="3325"/>
              </a:lnSpc>
              <a:buFont typeface="Arial"/>
              <a:buChar char="•"/>
            </a:pPr>
            <a:r>
              <a:rPr lang="en-US" sz="3325">
                <a:solidFill>
                  <a:srgbClr val="1E1E1E"/>
                </a:solidFill>
                <a:latin typeface="Poppins"/>
                <a:ea typeface="Poppins"/>
                <a:cs typeface="Poppins"/>
                <a:sym typeface="Poppins"/>
              </a:rPr>
              <a:t>Routers </a:t>
            </a:r>
          </a:p>
          <a:p>
            <a:pPr marL="717982" lvl="1" indent="-358991" algn="l">
              <a:lnSpc>
                <a:spcPts val="3325"/>
              </a:lnSpc>
              <a:buFont typeface="Arial"/>
              <a:buChar char="•"/>
            </a:pPr>
            <a:r>
              <a:rPr lang="en-US" sz="3325">
                <a:solidFill>
                  <a:srgbClr val="1E1E1E"/>
                </a:solidFill>
                <a:latin typeface="Poppins"/>
                <a:ea typeface="Poppins"/>
                <a:cs typeface="Poppins"/>
                <a:sym typeface="Poppins"/>
              </a:rPr>
              <a:t>Storage systems</a:t>
            </a:r>
          </a:p>
          <a:p>
            <a:pPr algn="l">
              <a:lnSpc>
                <a:spcPts val="3325"/>
              </a:lnSpc>
            </a:pPr>
            <a:endParaRPr lang="en-US" sz="3325">
              <a:solidFill>
                <a:srgbClr val="1E1E1E"/>
              </a:solidFill>
              <a:latin typeface="Poppins"/>
              <a:ea typeface="Poppins"/>
              <a:cs typeface="Poppins"/>
              <a:sym typeface="Poppins"/>
            </a:endParaRPr>
          </a:p>
        </p:txBody>
      </p:sp>
      <p:sp>
        <p:nvSpPr>
          <p:cNvPr id="6" name="Freeform 6"/>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2896971" y="4618449"/>
            <a:ext cx="8729129" cy="3408694"/>
          </a:xfrm>
          <a:prstGeom prst="rect">
            <a:avLst/>
          </a:prstGeom>
        </p:spPr>
        <p:txBody>
          <a:bodyPr lIns="0" tIns="0" rIns="0" bIns="0" rtlCol="0" anchor="t">
            <a:spAutoFit/>
          </a:bodyPr>
          <a:lstStyle/>
          <a:p>
            <a:pPr algn="l">
              <a:lnSpc>
                <a:spcPts val="3325"/>
              </a:lnSpc>
            </a:pPr>
            <a:r>
              <a:rPr lang="en-US" sz="3325" b="1">
                <a:solidFill>
                  <a:srgbClr val="1E1E1E"/>
                </a:solidFill>
                <a:latin typeface="Poppins Bold"/>
                <a:ea typeface="Poppins Bold"/>
                <a:cs typeface="Poppins Bold"/>
                <a:sym typeface="Poppins Bold"/>
              </a:rPr>
              <a:t>Network design goals:</a:t>
            </a:r>
          </a:p>
          <a:p>
            <a:pPr algn="l">
              <a:lnSpc>
                <a:spcPts val="3325"/>
              </a:lnSpc>
            </a:pPr>
            <a:endParaRPr lang="en-US" sz="3325" b="1">
              <a:solidFill>
                <a:srgbClr val="1E1E1E"/>
              </a:solidFill>
              <a:latin typeface="Poppins Bold"/>
              <a:ea typeface="Poppins Bold"/>
              <a:cs typeface="Poppins Bold"/>
              <a:sym typeface="Poppins Bold"/>
            </a:endParaRPr>
          </a:p>
          <a:p>
            <a:pPr marL="717982" lvl="1" indent="-358991" algn="l">
              <a:lnSpc>
                <a:spcPts val="3325"/>
              </a:lnSpc>
              <a:buFont typeface="Arial"/>
              <a:buChar char="•"/>
            </a:pPr>
            <a:r>
              <a:rPr lang="en-US" sz="3325">
                <a:solidFill>
                  <a:srgbClr val="1E1E1E"/>
                </a:solidFill>
                <a:latin typeface="Poppins"/>
                <a:ea typeface="Poppins"/>
                <a:cs typeface="Poppins"/>
                <a:sym typeface="Poppins"/>
              </a:rPr>
              <a:t>High Performance </a:t>
            </a:r>
          </a:p>
          <a:p>
            <a:pPr marL="717982" lvl="1" indent="-358991" algn="l">
              <a:lnSpc>
                <a:spcPts val="3325"/>
              </a:lnSpc>
              <a:buFont typeface="Arial"/>
              <a:buChar char="•"/>
            </a:pPr>
            <a:r>
              <a:rPr lang="en-US" sz="3325">
                <a:solidFill>
                  <a:srgbClr val="1E1E1E"/>
                </a:solidFill>
                <a:latin typeface="Poppins"/>
                <a:ea typeface="Poppins"/>
                <a:cs typeface="Poppins"/>
                <a:sym typeface="Poppins"/>
              </a:rPr>
              <a:t>Low latency </a:t>
            </a:r>
          </a:p>
          <a:p>
            <a:pPr marL="717982" lvl="1" indent="-358991" algn="l">
              <a:lnSpc>
                <a:spcPts val="3325"/>
              </a:lnSpc>
              <a:buFont typeface="Arial"/>
              <a:buChar char="•"/>
            </a:pPr>
            <a:r>
              <a:rPr lang="en-US" sz="3325">
                <a:solidFill>
                  <a:srgbClr val="1E1E1E"/>
                </a:solidFill>
                <a:latin typeface="Poppins"/>
                <a:ea typeface="Poppins"/>
                <a:cs typeface="Poppins"/>
                <a:sym typeface="Poppins"/>
              </a:rPr>
              <a:t>Scalability </a:t>
            </a:r>
          </a:p>
          <a:p>
            <a:pPr marL="717982" lvl="1" indent="-358991" algn="l">
              <a:lnSpc>
                <a:spcPts val="3325"/>
              </a:lnSpc>
              <a:buFont typeface="Arial"/>
              <a:buChar char="•"/>
            </a:pPr>
            <a:r>
              <a:rPr lang="en-US" sz="3325">
                <a:solidFill>
                  <a:srgbClr val="1E1E1E"/>
                </a:solidFill>
                <a:latin typeface="Poppins"/>
                <a:ea typeface="Poppins"/>
                <a:cs typeface="Poppins"/>
                <a:sym typeface="Poppins"/>
              </a:rPr>
              <a:t>Reliability </a:t>
            </a:r>
          </a:p>
          <a:p>
            <a:pPr marL="717982" lvl="1" indent="-358991" algn="l">
              <a:lnSpc>
                <a:spcPts val="3325"/>
              </a:lnSpc>
              <a:buFont typeface="Arial"/>
              <a:buChar char="•"/>
            </a:pPr>
            <a:r>
              <a:rPr lang="en-US" sz="3325">
                <a:solidFill>
                  <a:srgbClr val="1E1E1E"/>
                </a:solidFill>
                <a:latin typeface="Poppins"/>
                <a:ea typeface="Poppins"/>
                <a:cs typeface="Poppins"/>
                <a:sym typeface="Poppins"/>
              </a:rPr>
              <a:t>Security </a:t>
            </a:r>
          </a:p>
          <a:p>
            <a:pPr algn="l">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527538" y="1417523"/>
            <a:ext cx="11986175" cy="3514103"/>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Traffic types:</a:t>
            </a:r>
          </a:p>
          <a:p>
            <a:pPr algn="just">
              <a:lnSpc>
                <a:spcPts val="3325"/>
              </a:lnSpc>
            </a:pPr>
            <a:endParaRPr lang="en-US" sz="4125" b="1">
              <a:solidFill>
                <a:srgbClr val="1E1E1E"/>
              </a:solidFill>
              <a:latin typeface="Poppins Bold"/>
              <a:ea typeface="Poppins Bold"/>
              <a:cs typeface="Poppins Bold"/>
              <a:sym typeface="Poppins Bold"/>
            </a:endParaRPr>
          </a:p>
          <a:p>
            <a:pPr marL="717982" lvl="1" indent="-358991" algn="l">
              <a:lnSpc>
                <a:spcPts val="3325"/>
              </a:lnSpc>
              <a:buFont typeface="Arial"/>
              <a:buChar char="•"/>
            </a:pPr>
            <a:r>
              <a:rPr lang="en-US" sz="3325" b="1">
                <a:solidFill>
                  <a:srgbClr val="1E1E1E"/>
                </a:solidFill>
                <a:latin typeface="Poppins Bold"/>
                <a:ea typeface="Poppins Bold"/>
                <a:cs typeface="Poppins Bold"/>
                <a:sym typeface="Poppins Bold"/>
              </a:rPr>
              <a:t>North-South traffic</a:t>
            </a:r>
            <a:r>
              <a:rPr lang="en-US" sz="3325">
                <a:solidFill>
                  <a:srgbClr val="1E1E1E"/>
                </a:solidFill>
                <a:latin typeface="Poppins"/>
                <a:ea typeface="Poppins"/>
                <a:cs typeface="Poppins"/>
                <a:sym typeface="Poppins"/>
              </a:rPr>
              <a:t> – data moving between the data center and external users.</a:t>
            </a:r>
          </a:p>
          <a:p>
            <a:pPr algn="l">
              <a:lnSpc>
                <a:spcPts val="3325"/>
              </a:lnSpc>
            </a:pPr>
            <a:endParaRPr lang="en-US" sz="3325">
              <a:solidFill>
                <a:srgbClr val="1E1E1E"/>
              </a:solidFill>
              <a:latin typeface="Poppins"/>
              <a:ea typeface="Poppins"/>
              <a:cs typeface="Poppins"/>
              <a:sym typeface="Poppins"/>
            </a:endParaRPr>
          </a:p>
          <a:p>
            <a:pPr marL="717982" lvl="1" indent="-358991" algn="l">
              <a:lnSpc>
                <a:spcPts val="3325"/>
              </a:lnSpc>
              <a:buFont typeface="Arial"/>
              <a:buChar char="•"/>
            </a:pPr>
            <a:r>
              <a:rPr lang="en-US" sz="3325" b="1">
                <a:solidFill>
                  <a:srgbClr val="1E1E1E"/>
                </a:solidFill>
                <a:latin typeface="Poppins Bold"/>
                <a:ea typeface="Poppins Bold"/>
                <a:cs typeface="Poppins Bold"/>
                <a:sym typeface="Poppins Bold"/>
              </a:rPr>
              <a:t>East-West traffic</a:t>
            </a:r>
            <a:r>
              <a:rPr lang="en-US" sz="3325">
                <a:solidFill>
                  <a:srgbClr val="1E1E1E"/>
                </a:solidFill>
                <a:latin typeface="Poppins"/>
                <a:ea typeface="Poppins"/>
                <a:cs typeface="Poppins"/>
                <a:sym typeface="Poppins"/>
              </a:rPr>
              <a:t> – data moving within the data center (server to server).</a:t>
            </a:r>
          </a:p>
          <a:p>
            <a:pPr algn="l">
              <a:lnSpc>
                <a:spcPts val="3325"/>
              </a:lnSpc>
            </a:pPr>
            <a:endParaRPr lang="en-US" sz="3325">
              <a:solidFill>
                <a:srgbClr val="1E1E1E"/>
              </a:solidFill>
              <a:latin typeface="Poppins"/>
              <a:ea typeface="Poppins"/>
              <a:cs typeface="Poppins"/>
              <a:sym typeface="Poppins"/>
            </a:endParaRPr>
          </a:p>
        </p:txBody>
      </p:sp>
      <p:sp>
        <p:nvSpPr>
          <p:cNvPr id="6" name="Freeform 6"/>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1527538" y="5491935"/>
            <a:ext cx="11986175" cy="2780678"/>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Basic Structure Idea</a:t>
            </a:r>
          </a:p>
          <a:p>
            <a:pPr algn="just">
              <a:lnSpc>
                <a:spcPts val="4125"/>
              </a:lnSpc>
            </a:pPr>
            <a:endParaRPr lang="en-US" sz="4125" b="1">
              <a:solidFill>
                <a:srgbClr val="1E1E1E"/>
              </a:solidFill>
              <a:latin typeface="Poppins Bold"/>
              <a:ea typeface="Poppins Bold"/>
              <a:cs typeface="Poppins Bold"/>
              <a:sym typeface="Poppins Bold"/>
            </a:endParaRPr>
          </a:p>
          <a:p>
            <a:pPr marL="717982" lvl="1" indent="-358991" algn="l">
              <a:lnSpc>
                <a:spcPts val="3325"/>
              </a:lnSpc>
              <a:buFont typeface="Arial"/>
              <a:buChar char="•"/>
            </a:pPr>
            <a:r>
              <a:rPr lang="en-US" sz="3325">
                <a:solidFill>
                  <a:srgbClr val="1E1E1E"/>
                </a:solidFill>
                <a:latin typeface="Poppins"/>
                <a:ea typeface="Poppins"/>
                <a:cs typeface="Poppins"/>
                <a:sym typeface="Poppins"/>
              </a:rPr>
              <a:t>Uses structured network designs (such as layered models) to organize connections and ensure efficient and stable data flow.</a:t>
            </a:r>
          </a:p>
          <a:p>
            <a:pPr algn="l">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340048" y="1902080"/>
            <a:ext cx="12308626" cy="3241420"/>
          </a:xfrm>
          <a:prstGeom prst="rect">
            <a:avLst/>
          </a:prstGeom>
        </p:spPr>
        <p:txBody>
          <a:bodyPr lIns="0" tIns="0" rIns="0" bIns="0" rtlCol="0" anchor="t">
            <a:spAutoFit/>
          </a:bodyPr>
          <a:lstStyle/>
          <a:p>
            <a:pPr algn="l">
              <a:lnSpc>
                <a:spcPts val="8235"/>
              </a:lnSpc>
            </a:pPr>
            <a:r>
              <a:rPr lang="en-US" sz="9804" b="1">
                <a:solidFill>
                  <a:srgbClr val="000000"/>
                </a:solidFill>
                <a:latin typeface="Garet Bold"/>
                <a:ea typeface="Garet Bold"/>
                <a:cs typeface="Garet Bold"/>
                <a:sym typeface="Garet Bold"/>
              </a:rPr>
              <a:t>DATA CENTER NETWORK ARCHITECTURES</a:t>
            </a:r>
          </a:p>
        </p:txBody>
      </p:sp>
      <p:sp>
        <p:nvSpPr>
          <p:cNvPr id="6" name="Freeform 6"/>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1447586" y="805182"/>
            <a:ext cx="3293630" cy="475611"/>
          </a:xfrm>
          <a:prstGeom prst="rect">
            <a:avLst/>
          </a:prstGeom>
        </p:spPr>
        <p:txBody>
          <a:bodyPr lIns="0" tIns="0" rIns="0" bIns="0" rtlCol="0" anchor="t">
            <a:spAutoFit/>
          </a:bodyPr>
          <a:lstStyle/>
          <a:p>
            <a:pPr algn="l">
              <a:lnSpc>
                <a:spcPts val="3349"/>
              </a:lnSpc>
            </a:pPr>
            <a:r>
              <a:rPr lang="en-US" sz="3349">
                <a:solidFill>
                  <a:srgbClr val="1E1E1E"/>
                </a:solidFill>
                <a:latin typeface="Poppins"/>
                <a:ea typeface="Poppins"/>
                <a:cs typeface="Poppins"/>
                <a:sym typeface="Poppins"/>
              </a:rPr>
              <a:t>LESSON 6.3</a:t>
            </a:r>
          </a:p>
        </p:txBody>
      </p:sp>
      <p:sp>
        <p:nvSpPr>
          <p:cNvPr id="11" name="TextBox 11"/>
          <p:cNvSpPr txBox="1"/>
          <p:nvPr/>
        </p:nvSpPr>
        <p:spPr>
          <a:xfrm>
            <a:off x="1527447" y="5285097"/>
            <a:ext cx="11933828" cy="2675903"/>
          </a:xfrm>
          <a:prstGeom prst="rect">
            <a:avLst/>
          </a:prstGeom>
        </p:spPr>
        <p:txBody>
          <a:bodyPr lIns="0" tIns="0" rIns="0" bIns="0" rtlCol="0" anchor="t">
            <a:spAutoFit/>
          </a:bodyPr>
          <a:lstStyle/>
          <a:p>
            <a:pPr algn="just">
              <a:lnSpc>
                <a:spcPts val="4125"/>
              </a:lnSpc>
            </a:pPr>
            <a:endParaRPr/>
          </a:p>
          <a:p>
            <a:pPr marL="717982" lvl="1" indent="-358991" algn="l">
              <a:lnSpc>
                <a:spcPts val="3325"/>
              </a:lnSpc>
              <a:buFont typeface="Arial"/>
              <a:buChar char="•"/>
            </a:pPr>
            <a:r>
              <a:rPr lang="en-US" sz="3325">
                <a:solidFill>
                  <a:srgbClr val="1E1E1E"/>
                </a:solidFill>
                <a:latin typeface="Poppins"/>
                <a:ea typeface="Poppins"/>
                <a:cs typeface="Poppins"/>
                <a:sym typeface="Poppins"/>
              </a:rPr>
              <a:t>Structured design connecting servers, storage, and network devices </a:t>
            </a:r>
          </a:p>
          <a:p>
            <a:pPr marL="717982" lvl="1" indent="-358991" algn="l">
              <a:lnSpc>
                <a:spcPts val="3325"/>
              </a:lnSpc>
              <a:buFont typeface="Arial"/>
              <a:buChar char="•"/>
            </a:pPr>
            <a:r>
              <a:rPr lang="en-US" sz="3325">
                <a:solidFill>
                  <a:srgbClr val="1E1E1E"/>
                </a:solidFill>
                <a:latin typeface="Poppins"/>
                <a:ea typeface="Poppins"/>
                <a:cs typeface="Poppins"/>
                <a:sym typeface="Poppins"/>
              </a:rPr>
              <a:t>Ensures fast, reliable, and efficient communication </a:t>
            </a:r>
          </a:p>
          <a:p>
            <a:pPr marL="717982" lvl="1" indent="-358991" algn="l">
              <a:lnSpc>
                <a:spcPts val="3325"/>
              </a:lnSpc>
              <a:buFont typeface="Arial"/>
              <a:buChar char="•"/>
            </a:pPr>
            <a:r>
              <a:rPr lang="en-US" sz="3325">
                <a:solidFill>
                  <a:srgbClr val="1E1E1E"/>
                </a:solidFill>
                <a:latin typeface="Poppins"/>
                <a:ea typeface="Poppins"/>
                <a:cs typeface="Poppins"/>
                <a:sym typeface="Poppins"/>
              </a:rPr>
              <a:t>Supports cloud computing and big data </a:t>
            </a:r>
          </a:p>
          <a:p>
            <a:pPr algn="l">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028700" y="1066800"/>
            <a:ext cx="11933828" cy="1942478"/>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Three-Tier Architecture</a:t>
            </a:r>
          </a:p>
          <a:p>
            <a:pPr algn="just">
              <a:lnSpc>
                <a:spcPts val="4125"/>
              </a:lnSpc>
            </a:pPr>
            <a:endParaRPr lang="en-US" sz="4125" b="1">
              <a:solidFill>
                <a:srgbClr val="1E1E1E"/>
              </a:solidFill>
              <a:latin typeface="Poppins Bold"/>
              <a:ea typeface="Poppins Bold"/>
              <a:cs typeface="Poppins Bold"/>
              <a:sym typeface="Poppins Bold"/>
            </a:endParaRPr>
          </a:p>
          <a:p>
            <a:pPr marL="717982" lvl="1" indent="-358991" algn="l">
              <a:lnSpc>
                <a:spcPts val="3325"/>
              </a:lnSpc>
              <a:buFont typeface="Arial"/>
              <a:buChar char="•"/>
            </a:pPr>
            <a:r>
              <a:rPr lang="en-US" sz="3325">
                <a:solidFill>
                  <a:srgbClr val="1E1E1E"/>
                </a:solidFill>
                <a:latin typeface="Poppins"/>
                <a:ea typeface="Poppins"/>
                <a:cs typeface="Poppins"/>
                <a:sym typeface="Poppins"/>
              </a:rPr>
              <a:t>traditional layered network design with three levels.</a:t>
            </a:r>
          </a:p>
          <a:p>
            <a:pPr algn="l">
              <a:lnSpc>
                <a:spcPts val="3325"/>
              </a:lnSpc>
            </a:pPr>
            <a:endParaRPr lang="en-US" sz="3325">
              <a:solidFill>
                <a:srgbClr val="1E1E1E"/>
              </a:solidFill>
              <a:latin typeface="Poppins"/>
              <a:ea typeface="Poppins"/>
              <a:cs typeface="Poppins"/>
              <a:sym typeface="Poppins"/>
            </a:endParaRPr>
          </a:p>
        </p:txBody>
      </p:sp>
      <p:sp>
        <p:nvSpPr>
          <p:cNvPr id="10" name="TextBox 10"/>
          <p:cNvSpPr txBox="1"/>
          <p:nvPr/>
        </p:nvSpPr>
        <p:spPr>
          <a:xfrm>
            <a:off x="1677348" y="2893457"/>
            <a:ext cx="9188904" cy="2183778"/>
          </a:xfrm>
          <a:prstGeom prst="rect">
            <a:avLst/>
          </a:prstGeom>
        </p:spPr>
        <p:txBody>
          <a:bodyPr lIns="0" tIns="0" rIns="0" bIns="0" rtlCol="0" anchor="t">
            <a:spAutoFit/>
          </a:bodyPr>
          <a:lstStyle/>
          <a:p>
            <a:pPr algn="just">
              <a:lnSpc>
                <a:spcPts val="3625"/>
              </a:lnSpc>
            </a:pPr>
            <a:r>
              <a:rPr lang="en-US" sz="3625" b="1">
                <a:solidFill>
                  <a:srgbClr val="1E1E1E"/>
                </a:solidFill>
                <a:latin typeface="Poppins Bold"/>
                <a:ea typeface="Poppins Bold"/>
                <a:cs typeface="Poppins Bold"/>
                <a:sym typeface="Poppins Bold"/>
              </a:rPr>
              <a:t>Layer</a:t>
            </a:r>
          </a:p>
          <a:p>
            <a:pPr marL="717982" lvl="1" indent="-358991" algn="l">
              <a:lnSpc>
                <a:spcPts val="3325"/>
              </a:lnSpc>
              <a:buFont typeface="Arial"/>
              <a:buChar char="•"/>
            </a:pPr>
            <a:r>
              <a:rPr lang="en-US" sz="3325">
                <a:solidFill>
                  <a:srgbClr val="1E1E1E"/>
                </a:solidFill>
                <a:latin typeface="Poppins"/>
                <a:ea typeface="Poppins"/>
                <a:cs typeface="Poppins"/>
                <a:sym typeface="Poppins"/>
              </a:rPr>
              <a:t>Access – connects servers </a:t>
            </a:r>
          </a:p>
          <a:p>
            <a:pPr marL="717982" lvl="1" indent="-358991" algn="l">
              <a:lnSpc>
                <a:spcPts val="3325"/>
              </a:lnSpc>
              <a:buFont typeface="Arial"/>
              <a:buChar char="•"/>
            </a:pPr>
            <a:r>
              <a:rPr lang="en-US" sz="3325">
                <a:solidFill>
                  <a:srgbClr val="1E1E1E"/>
                </a:solidFill>
                <a:latin typeface="Poppins"/>
                <a:ea typeface="Poppins"/>
                <a:cs typeface="Poppins"/>
                <a:sym typeface="Poppins"/>
              </a:rPr>
              <a:t>Aggregation – connects switches </a:t>
            </a:r>
          </a:p>
          <a:p>
            <a:pPr marL="717982" lvl="1" indent="-358991" algn="l">
              <a:lnSpc>
                <a:spcPts val="3325"/>
              </a:lnSpc>
              <a:buFont typeface="Arial"/>
              <a:buChar char="•"/>
            </a:pPr>
            <a:r>
              <a:rPr lang="en-US" sz="3325">
                <a:solidFill>
                  <a:srgbClr val="1E1E1E"/>
                </a:solidFill>
                <a:latin typeface="Poppins"/>
                <a:ea typeface="Poppins"/>
                <a:cs typeface="Poppins"/>
                <a:sym typeface="Poppins"/>
              </a:rPr>
              <a:t>Core – backbone network </a:t>
            </a:r>
          </a:p>
          <a:p>
            <a:pPr algn="l">
              <a:lnSpc>
                <a:spcPts val="3325"/>
              </a:lnSpc>
            </a:pPr>
            <a:endParaRPr lang="en-US" sz="3325">
              <a:solidFill>
                <a:srgbClr val="1E1E1E"/>
              </a:solidFill>
              <a:latin typeface="Poppins"/>
              <a:ea typeface="Poppins"/>
              <a:cs typeface="Poppins"/>
              <a:sym typeface="Poppins"/>
            </a:endParaRPr>
          </a:p>
        </p:txBody>
      </p:sp>
      <p:sp>
        <p:nvSpPr>
          <p:cNvPr id="11" name="TextBox 11"/>
          <p:cNvSpPr txBox="1"/>
          <p:nvPr/>
        </p:nvSpPr>
        <p:spPr>
          <a:xfrm>
            <a:off x="1028700" y="5572536"/>
            <a:ext cx="13165196" cy="2361578"/>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Fat-Tree Architecture</a:t>
            </a:r>
          </a:p>
          <a:p>
            <a:pPr algn="just">
              <a:lnSpc>
                <a:spcPts val="4125"/>
              </a:lnSpc>
            </a:pPr>
            <a:endParaRPr lang="en-US" sz="4125" b="1">
              <a:solidFill>
                <a:srgbClr val="1E1E1E"/>
              </a:solidFill>
              <a:latin typeface="Poppins Bold"/>
              <a:ea typeface="Poppins Bold"/>
              <a:cs typeface="Poppins Bold"/>
              <a:sym typeface="Poppins Bold"/>
            </a:endParaRPr>
          </a:p>
          <a:p>
            <a:pPr marL="717982" lvl="1" indent="-358991" algn="l">
              <a:lnSpc>
                <a:spcPts val="3325"/>
              </a:lnSpc>
              <a:buFont typeface="Arial"/>
              <a:buChar char="•"/>
            </a:pPr>
            <a:r>
              <a:rPr lang="en-US" sz="3325">
                <a:solidFill>
                  <a:srgbClr val="1E1E1E"/>
                </a:solidFill>
                <a:latin typeface="Poppins"/>
                <a:ea typeface="Poppins"/>
                <a:cs typeface="Poppins"/>
                <a:sym typeface="Poppins"/>
              </a:rPr>
              <a:t>network design using multiple equal paths for better traffic flow.</a:t>
            </a:r>
          </a:p>
          <a:p>
            <a:pPr algn="l">
              <a:lnSpc>
                <a:spcPts val="3325"/>
              </a:lnSpc>
            </a:pPr>
            <a:endParaRPr lang="en-US" sz="3325">
              <a:solidFill>
                <a:srgbClr val="1E1E1E"/>
              </a:solidFill>
              <a:latin typeface="Poppins"/>
              <a:ea typeface="Poppins"/>
              <a:cs typeface="Poppins"/>
              <a:sym typeface="Poppins"/>
            </a:endParaRPr>
          </a:p>
        </p:txBody>
      </p:sp>
      <p:sp>
        <p:nvSpPr>
          <p:cNvPr id="12" name="TextBox 12"/>
          <p:cNvSpPr txBox="1"/>
          <p:nvPr/>
        </p:nvSpPr>
        <p:spPr>
          <a:xfrm>
            <a:off x="1677348" y="7704599"/>
            <a:ext cx="9188904" cy="1764678"/>
          </a:xfrm>
          <a:prstGeom prst="rect">
            <a:avLst/>
          </a:prstGeom>
        </p:spPr>
        <p:txBody>
          <a:bodyPr lIns="0" tIns="0" rIns="0" bIns="0" rtlCol="0" anchor="t">
            <a:spAutoFit/>
          </a:bodyPr>
          <a:lstStyle/>
          <a:p>
            <a:pPr algn="just">
              <a:lnSpc>
                <a:spcPts val="3625"/>
              </a:lnSpc>
            </a:pPr>
            <a:r>
              <a:rPr lang="en-US" sz="3625" b="1">
                <a:solidFill>
                  <a:srgbClr val="1E1E1E"/>
                </a:solidFill>
                <a:latin typeface="Poppins Bold"/>
                <a:ea typeface="Poppins Bold"/>
                <a:cs typeface="Poppins Bold"/>
                <a:sym typeface="Poppins Bold"/>
              </a:rPr>
              <a:t>Features</a:t>
            </a:r>
          </a:p>
          <a:p>
            <a:pPr marL="717982" lvl="1" indent="-358991" algn="l">
              <a:lnSpc>
                <a:spcPts val="3325"/>
              </a:lnSpc>
              <a:buFont typeface="Arial"/>
              <a:buChar char="•"/>
            </a:pPr>
            <a:r>
              <a:rPr lang="en-US" sz="3325">
                <a:solidFill>
                  <a:srgbClr val="1E1E1E"/>
                </a:solidFill>
                <a:latin typeface="Poppins"/>
                <a:ea typeface="Poppins"/>
                <a:cs typeface="Poppins"/>
                <a:sym typeface="Poppins"/>
              </a:rPr>
              <a:t>Multiple equal-cost paths </a:t>
            </a:r>
          </a:p>
          <a:p>
            <a:pPr marL="717982" lvl="1" indent="-358991" algn="l">
              <a:lnSpc>
                <a:spcPts val="3325"/>
              </a:lnSpc>
              <a:buFont typeface="Arial"/>
              <a:buChar char="•"/>
            </a:pPr>
            <a:r>
              <a:rPr lang="en-US" sz="3325">
                <a:solidFill>
                  <a:srgbClr val="1E1E1E"/>
                </a:solidFill>
                <a:latin typeface="Poppins"/>
                <a:ea typeface="Poppins"/>
                <a:cs typeface="Poppins"/>
                <a:sym typeface="Poppins"/>
              </a:rPr>
              <a:t>High bandwidth </a:t>
            </a:r>
          </a:p>
          <a:p>
            <a:pPr algn="l">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028700" y="1066800"/>
            <a:ext cx="13833403" cy="1942478"/>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Spine-Leaf Architecture</a:t>
            </a:r>
          </a:p>
          <a:p>
            <a:pPr algn="just">
              <a:lnSpc>
                <a:spcPts val="4125"/>
              </a:lnSpc>
            </a:pPr>
            <a:endParaRPr lang="en-US" sz="4125" b="1">
              <a:solidFill>
                <a:srgbClr val="1E1E1E"/>
              </a:solidFill>
              <a:latin typeface="Poppins Bold"/>
              <a:ea typeface="Poppins Bold"/>
              <a:cs typeface="Poppins Bold"/>
              <a:sym typeface="Poppins Bold"/>
            </a:endParaRPr>
          </a:p>
          <a:p>
            <a:pPr marL="717982" lvl="1" indent="-358991" algn="l">
              <a:lnSpc>
                <a:spcPts val="3325"/>
              </a:lnSpc>
              <a:buFont typeface="Arial"/>
              <a:buChar char="•"/>
            </a:pPr>
            <a:r>
              <a:rPr lang="en-US" sz="3325">
                <a:solidFill>
                  <a:srgbClr val="1E1E1E"/>
                </a:solidFill>
                <a:latin typeface="Poppins"/>
                <a:ea typeface="Poppins"/>
                <a:cs typeface="Poppins"/>
                <a:sym typeface="Poppins"/>
              </a:rPr>
              <a:t>modern two-layer design for fast and scalable data transfer.</a:t>
            </a:r>
          </a:p>
          <a:p>
            <a:pPr algn="l">
              <a:lnSpc>
                <a:spcPts val="3325"/>
              </a:lnSpc>
            </a:pPr>
            <a:endParaRPr lang="en-US" sz="3325">
              <a:solidFill>
                <a:srgbClr val="1E1E1E"/>
              </a:solidFill>
              <a:latin typeface="Poppins"/>
              <a:ea typeface="Poppins"/>
              <a:cs typeface="Poppins"/>
              <a:sym typeface="Poppins"/>
            </a:endParaRPr>
          </a:p>
        </p:txBody>
      </p:sp>
      <p:sp>
        <p:nvSpPr>
          <p:cNvPr id="10" name="TextBox 10"/>
          <p:cNvSpPr txBox="1"/>
          <p:nvPr/>
        </p:nvSpPr>
        <p:spPr>
          <a:xfrm>
            <a:off x="1677348" y="2883932"/>
            <a:ext cx="9188904" cy="1313193"/>
          </a:xfrm>
          <a:prstGeom prst="rect">
            <a:avLst/>
          </a:prstGeom>
        </p:spPr>
        <p:txBody>
          <a:bodyPr lIns="0" tIns="0" rIns="0" bIns="0" rtlCol="0" anchor="t">
            <a:spAutoFit/>
          </a:bodyPr>
          <a:lstStyle/>
          <a:p>
            <a:pPr algn="l">
              <a:lnSpc>
                <a:spcPts val="3325"/>
              </a:lnSpc>
            </a:pPr>
            <a:r>
              <a:rPr lang="en-US" sz="3325" b="1">
                <a:solidFill>
                  <a:srgbClr val="1E1E1E"/>
                </a:solidFill>
                <a:latin typeface="Poppins Bold"/>
                <a:ea typeface="Poppins Bold"/>
                <a:cs typeface="Poppins Bold"/>
                <a:sym typeface="Poppins Bold"/>
              </a:rPr>
              <a:t>Structure</a:t>
            </a:r>
          </a:p>
          <a:p>
            <a:pPr marL="717982" lvl="1" indent="-358991" algn="l">
              <a:lnSpc>
                <a:spcPts val="3325"/>
              </a:lnSpc>
              <a:buFont typeface="Arial"/>
              <a:buChar char="•"/>
            </a:pPr>
            <a:r>
              <a:rPr lang="en-US" sz="3325">
                <a:solidFill>
                  <a:srgbClr val="1E1E1E"/>
                </a:solidFill>
                <a:latin typeface="Poppins"/>
                <a:ea typeface="Poppins"/>
                <a:cs typeface="Poppins"/>
                <a:sym typeface="Poppins"/>
              </a:rPr>
              <a:t>Leaf – connects servers </a:t>
            </a:r>
          </a:p>
          <a:p>
            <a:pPr marL="717982" lvl="1" indent="-358991" algn="l">
              <a:lnSpc>
                <a:spcPts val="3325"/>
              </a:lnSpc>
              <a:buFont typeface="Arial"/>
              <a:buChar char="•"/>
            </a:pPr>
            <a:r>
              <a:rPr lang="en-US" sz="3325">
                <a:solidFill>
                  <a:srgbClr val="1E1E1E"/>
                </a:solidFill>
                <a:latin typeface="Poppins"/>
                <a:ea typeface="Poppins"/>
                <a:cs typeface="Poppins"/>
                <a:sym typeface="Poppins"/>
              </a:rPr>
              <a:t>Spine – connects leaf switches </a:t>
            </a:r>
          </a:p>
        </p:txBody>
      </p:sp>
      <p:sp>
        <p:nvSpPr>
          <p:cNvPr id="11" name="TextBox 11"/>
          <p:cNvSpPr txBox="1"/>
          <p:nvPr/>
        </p:nvSpPr>
        <p:spPr>
          <a:xfrm>
            <a:off x="1028700" y="5572536"/>
            <a:ext cx="13833403" cy="1523378"/>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Software-Defined Networking (SDN)</a:t>
            </a:r>
          </a:p>
          <a:p>
            <a:pPr algn="just">
              <a:lnSpc>
                <a:spcPts val="4125"/>
              </a:lnSpc>
            </a:pPr>
            <a:endParaRPr lang="en-US" sz="4125" b="1">
              <a:solidFill>
                <a:srgbClr val="1E1E1E"/>
              </a:solidFill>
              <a:latin typeface="Poppins Bold"/>
              <a:ea typeface="Poppins Bold"/>
              <a:cs typeface="Poppins Bold"/>
              <a:sym typeface="Poppins Bold"/>
            </a:endParaRPr>
          </a:p>
          <a:p>
            <a:pPr marL="717982" lvl="1" indent="-358991" algn="l">
              <a:lnSpc>
                <a:spcPts val="3325"/>
              </a:lnSpc>
              <a:buFont typeface="Arial"/>
              <a:buChar char="•"/>
            </a:pPr>
            <a:r>
              <a:rPr lang="en-US" sz="3325">
                <a:solidFill>
                  <a:srgbClr val="1E1E1E"/>
                </a:solidFill>
                <a:latin typeface="Poppins"/>
                <a:ea typeface="Poppins"/>
                <a:cs typeface="Poppins"/>
                <a:sym typeface="Poppins"/>
              </a:rPr>
              <a:t>network controlled by software instead of hardware devices.</a:t>
            </a:r>
          </a:p>
        </p:txBody>
      </p:sp>
      <p:sp>
        <p:nvSpPr>
          <p:cNvPr id="12" name="TextBox 12"/>
          <p:cNvSpPr txBox="1"/>
          <p:nvPr/>
        </p:nvSpPr>
        <p:spPr>
          <a:xfrm>
            <a:off x="1677348" y="7704599"/>
            <a:ext cx="9188904" cy="1764678"/>
          </a:xfrm>
          <a:prstGeom prst="rect">
            <a:avLst/>
          </a:prstGeom>
        </p:spPr>
        <p:txBody>
          <a:bodyPr lIns="0" tIns="0" rIns="0" bIns="0" rtlCol="0" anchor="t">
            <a:spAutoFit/>
          </a:bodyPr>
          <a:lstStyle/>
          <a:p>
            <a:pPr algn="just">
              <a:lnSpc>
                <a:spcPts val="3625"/>
              </a:lnSpc>
            </a:pPr>
            <a:r>
              <a:rPr lang="en-US" sz="3625" b="1">
                <a:solidFill>
                  <a:srgbClr val="1E1E1E"/>
                </a:solidFill>
                <a:latin typeface="Poppins Bold"/>
                <a:ea typeface="Poppins Bold"/>
                <a:cs typeface="Poppins Bold"/>
                <a:sym typeface="Poppins Bold"/>
              </a:rPr>
              <a:t>Layers</a:t>
            </a:r>
          </a:p>
          <a:p>
            <a:pPr marL="717982" lvl="1" indent="-358991" algn="l">
              <a:lnSpc>
                <a:spcPts val="3325"/>
              </a:lnSpc>
              <a:buFont typeface="Arial"/>
              <a:buChar char="•"/>
            </a:pPr>
            <a:r>
              <a:rPr lang="en-US" sz="3325">
                <a:solidFill>
                  <a:srgbClr val="1E1E1E"/>
                </a:solidFill>
                <a:latin typeface="Poppins"/>
                <a:ea typeface="Poppins"/>
                <a:cs typeface="Poppins"/>
                <a:sym typeface="Poppins"/>
              </a:rPr>
              <a:t>Application </a:t>
            </a:r>
          </a:p>
          <a:p>
            <a:pPr marL="717982" lvl="1" indent="-358991" algn="l">
              <a:lnSpc>
                <a:spcPts val="3325"/>
              </a:lnSpc>
              <a:buFont typeface="Arial"/>
              <a:buChar char="•"/>
            </a:pPr>
            <a:r>
              <a:rPr lang="en-US" sz="3325">
                <a:solidFill>
                  <a:srgbClr val="1E1E1E"/>
                </a:solidFill>
                <a:latin typeface="Poppins"/>
                <a:ea typeface="Poppins"/>
                <a:cs typeface="Poppins"/>
                <a:sym typeface="Poppins"/>
              </a:rPr>
              <a:t>Control (Controller) </a:t>
            </a:r>
          </a:p>
          <a:p>
            <a:pPr marL="717982" lvl="1" indent="-358991" algn="l">
              <a:lnSpc>
                <a:spcPts val="3325"/>
              </a:lnSpc>
              <a:buFont typeface="Arial"/>
              <a:buChar char="•"/>
            </a:pPr>
            <a:r>
              <a:rPr lang="en-US" sz="3325">
                <a:solidFill>
                  <a:srgbClr val="1E1E1E"/>
                </a:solidFill>
                <a:latin typeface="Poppins"/>
                <a:ea typeface="Poppins"/>
                <a:cs typeface="Poppins"/>
                <a:sym typeface="Poppins"/>
              </a:rPr>
              <a:t>Infrastructure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447586" y="3271887"/>
            <a:ext cx="12308626" cy="4283596"/>
          </a:xfrm>
          <a:prstGeom prst="rect">
            <a:avLst/>
          </a:prstGeom>
        </p:spPr>
        <p:txBody>
          <a:bodyPr lIns="0" tIns="0" rIns="0" bIns="0" rtlCol="0" anchor="t">
            <a:spAutoFit/>
          </a:bodyPr>
          <a:lstStyle/>
          <a:p>
            <a:pPr algn="l">
              <a:lnSpc>
                <a:spcPts val="8235"/>
              </a:lnSpc>
            </a:pPr>
            <a:r>
              <a:rPr lang="en-US" sz="9804" b="1">
                <a:solidFill>
                  <a:srgbClr val="000000"/>
                </a:solidFill>
                <a:latin typeface="Garet Bold"/>
                <a:ea typeface="Garet Bold"/>
                <a:cs typeface="Garet Bold"/>
                <a:sym typeface="Garet Bold"/>
              </a:rPr>
              <a:t>DATA CENTER TRAFFIC PATTERNS AND MANAGEMENT</a:t>
            </a:r>
          </a:p>
        </p:txBody>
      </p:sp>
      <p:sp>
        <p:nvSpPr>
          <p:cNvPr id="6" name="Freeform 6"/>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1447586" y="2140041"/>
            <a:ext cx="3293630" cy="475611"/>
          </a:xfrm>
          <a:prstGeom prst="rect">
            <a:avLst/>
          </a:prstGeom>
        </p:spPr>
        <p:txBody>
          <a:bodyPr lIns="0" tIns="0" rIns="0" bIns="0" rtlCol="0" anchor="t">
            <a:spAutoFit/>
          </a:bodyPr>
          <a:lstStyle/>
          <a:p>
            <a:pPr algn="l">
              <a:lnSpc>
                <a:spcPts val="3349"/>
              </a:lnSpc>
            </a:pPr>
            <a:r>
              <a:rPr lang="en-US" sz="3349">
                <a:solidFill>
                  <a:srgbClr val="1E1E1E"/>
                </a:solidFill>
                <a:latin typeface="Poppins"/>
                <a:ea typeface="Poppins"/>
                <a:cs typeface="Poppins"/>
                <a:sym typeface="Poppins"/>
              </a:rPr>
              <a:t>LESSON 6.4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454051" y="998423"/>
            <a:ext cx="11986175" cy="3095003"/>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What Is Data Center Networking? </a:t>
            </a:r>
          </a:p>
          <a:p>
            <a:pPr algn="just">
              <a:lnSpc>
                <a:spcPts val="3325"/>
              </a:lnSpc>
            </a:pPr>
            <a:endParaRPr lang="en-US" sz="4125" b="1">
              <a:solidFill>
                <a:srgbClr val="1E1E1E"/>
              </a:solidFill>
              <a:latin typeface="Poppins Bold"/>
              <a:ea typeface="Poppins Bold"/>
              <a:cs typeface="Poppins Bold"/>
              <a:sym typeface="Poppins Bold"/>
            </a:endParaRPr>
          </a:p>
          <a:p>
            <a:pPr algn="l">
              <a:lnSpc>
                <a:spcPts val="3325"/>
              </a:lnSpc>
            </a:pPr>
            <a:r>
              <a:rPr lang="en-US" sz="3325">
                <a:solidFill>
                  <a:srgbClr val="1E1E1E"/>
                </a:solidFill>
                <a:latin typeface="Poppins"/>
                <a:ea typeface="Poppins"/>
                <a:cs typeface="Poppins"/>
                <a:sym typeface="Poppins"/>
              </a:rPr>
              <a:t>        Data center traffic primarily flows East-West (server-to-server) and North-South (client-to-server), driven by cloud-native, high-bandwidth applications. Data centers depend on efficient traffic flow for performance. </a:t>
            </a:r>
          </a:p>
        </p:txBody>
      </p:sp>
      <p:sp>
        <p:nvSpPr>
          <p:cNvPr id="6" name="Freeform 6"/>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1454051" y="4549793"/>
            <a:ext cx="11986175" cy="4037978"/>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Two main traffic types:</a:t>
            </a:r>
          </a:p>
          <a:p>
            <a:pPr algn="just">
              <a:lnSpc>
                <a:spcPts val="4125"/>
              </a:lnSpc>
            </a:pPr>
            <a:endParaRPr lang="en-US" sz="4125" b="1">
              <a:solidFill>
                <a:srgbClr val="1E1E1E"/>
              </a:solidFill>
              <a:latin typeface="Poppins Bold"/>
              <a:ea typeface="Poppins Bold"/>
              <a:cs typeface="Poppins Bold"/>
              <a:sym typeface="Poppins Bold"/>
            </a:endParaRPr>
          </a:p>
          <a:p>
            <a:pPr marL="717982" lvl="1" indent="-358991" algn="just">
              <a:lnSpc>
                <a:spcPts val="3325"/>
              </a:lnSpc>
              <a:buFont typeface="Arial"/>
              <a:buChar char="•"/>
            </a:pPr>
            <a:r>
              <a:rPr lang="en-US" sz="3325" b="1">
                <a:solidFill>
                  <a:srgbClr val="1E1E1E"/>
                </a:solidFill>
                <a:latin typeface="Poppins Bold"/>
                <a:ea typeface="Poppins Bold"/>
                <a:cs typeface="Poppins Bold"/>
                <a:sym typeface="Poppins Bold"/>
              </a:rPr>
              <a:t>North-South: </a:t>
            </a:r>
            <a:r>
              <a:rPr lang="en-US" sz="3325">
                <a:solidFill>
                  <a:srgbClr val="1E1E1E"/>
                </a:solidFill>
                <a:latin typeface="Poppins"/>
                <a:ea typeface="Poppins"/>
                <a:cs typeface="Poppins"/>
                <a:sym typeface="Poppins"/>
              </a:rPr>
              <a:t>External users  internal servers. North-south traffic refers to communication between external users and internal servers, such as when users access websites or cloud services. In contrast, east-west traffic occurs within the data center itself, involving communication between servers, storage systems, and applications.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282582" y="1057275"/>
            <a:ext cx="11986175" cy="1732294"/>
          </a:xfrm>
          <a:prstGeom prst="rect">
            <a:avLst/>
          </a:prstGeom>
        </p:spPr>
        <p:txBody>
          <a:bodyPr lIns="0" tIns="0" rIns="0" bIns="0" rtlCol="0" anchor="t">
            <a:spAutoFit/>
          </a:bodyPr>
          <a:lstStyle/>
          <a:p>
            <a:pPr marL="717982" lvl="1" indent="-358991" algn="just">
              <a:lnSpc>
                <a:spcPts val="3325"/>
              </a:lnSpc>
              <a:buFont typeface="Arial"/>
              <a:buChar char="•"/>
            </a:pPr>
            <a:r>
              <a:rPr lang="en-US" sz="3325" b="1">
                <a:solidFill>
                  <a:srgbClr val="1E1E1E"/>
                </a:solidFill>
                <a:latin typeface="Poppins Bold"/>
                <a:ea typeface="Poppins Bold"/>
                <a:cs typeface="Poppins Bold"/>
                <a:sym typeface="Poppins Bold"/>
              </a:rPr>
              <a:t>East-West: </a:t>
            </a:r>
            <a:r>
              <a:rPr lang="en-US" sz="3325">
                <a:solidFill>
                  <a:srgbClr val="1E1E1E"/>
                </a:solidFill>
                <a:latin typeface="Poppins"/>
                <a:ea typeface="Poppins"/>
                <a:cs typeface="Poppins"/>
                <a:sym typeface="Poppins"/>
              </a:rPr>
              <a:t>Internal communication between servers, storage, apps. It occurs within the data center itself, involving communication between servers, storage systems, and applications.</a:t>
            </a:r>
          </a:p>
        </p:txBody>
      </p:sp>
      <p:sp>
        <p:nvSpPr>
          <p:cNvPr id="10" name="TextBox 10"/>
          <p:cNvSpPr txBox="1"/>
          <p:nvPr/>
        </p:nvSpPr>
        <p:spPr>
          <a:xfrm>
            <a:off x="1282582" y="3453585"/>
            <a:ext cx="11986175" cy="6238254"/>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To manage these challenges, several traffic management strategies are implemented.</a:t>
            </a:r>
          </a:p>
          <a:p>
            <a:pPr algn="just">
              <a:lnSpc>
                <a:spcPts val="4125"/>
              </a:lnSpc>
            </a:pPr>
            <a:endParaRPr lang="en-US" sz="4125" b="1">
              <a:solidFill>
                <a:srgbClr val="1E1E1E"/>
              </a:solidFill>
              <a:latin typeface="Poppins Bold"/>
              <a:ea typeface="Poppins Bold"/>
              <a:cs typeface="Poppins Bold"/>
              <a:sym typeface="Poppins Bold"/>
            </a:endParaRPr>
          </a:p>
          <a:p>
            <a:pPr marL="717982" lvl="1" indent="-358991" algn="just">
              <a:lnSpc>
                <a:spcPts val="3325"/>
              </a:lnSpc>
              <a:buFont typeface="Arial"/>
              <a:buChar char="•"/>
            </a:pPr>
            <a:r>
              <a:rPr lang="en-US" sz="3325" b="1">
                <a:solidFill>
                  <a:srgbClr val="1E1E1E"/>
                </a:solidFill>
                <a:latin typeface="Poppins Bold"/>
                <a:ea typeface="Poppins Bold"/>
                <a:cs typeface="Poppins Bold"/>
                <a:sym typeface="Poppins Bold"/>
              </a:rPr>
              <a:t>Load Balancing (LB): </a:t>
            </a:r>
            <a:r>
              <a:rPr lang="en-US" sz="3325">
                <a:solidFill>
                  <a:srgbClr val="1E1E1E"/>
                </a:solidFill>
                <a:latin typeface="Poppins"/>
                <a:ea typeface="Poppins"/>
                <a:cs typeface="Poppins"/>
                <a:sym typeface="Poppins"/>
              </a:rPr>
              <a:t>helps distribute incoming and internal requests across multiple servers, preventing any single server from becoming overloaded and improving overall response time. </a:t>
            </a:r>
          </a:p>
          <a:p>
            <a:pPr algn="just">
              <a:lnSpc>
                <a:spcPts val="3325"/>
              </a:lnSpc>
            </a:pPr>
            <a:endParaRPr lang="en-US" sz="3325">
              <a:solidFill>
                <a:srgbClr val="1E1E1E"/>
              </a:solidFill>
              <a:latin typeface="Poppins"/>
              <a:ea typeface="Poppins"/>
              <a:cs typeface="Poppins"/>
              <a:sym typeface="Poppins"/>
            </a:endParaRPr>
          </a:p>
          <a:p>
            <a:pPr marL="717982" lvl="1" indent="-358991" algn="just">
              <a:lnSpc>
                <a:spcPts val="3325"/>
              </a:lnSpc>
              <a:buFont typeface="Arial"/>
              <a:buChar char="•"/>
            </a:pPr>
            <a:r>
              <a:rPr lang="en-US" sz="3325" b="1">
                <a:solidFill>
                  <a:srgbClr val="1E1E1E"/>
                </a:solidFill>
                <a:latin typeface="Poppins Bold"/>
                <a:ea typeface="Poppins Bold"/>
                <a:cs typeface="Poppins Bold"/>
                <a:sym typeface="Poppins Bold"/>
              </a:rPr>
              <a:t> Quality of Service (QoS): </a:t>
            </a:r>
            <a:r>
              <a:rPr lang="en-US" sz="3325">
                <a:solidFill>
                  <a:srgbClr val="1E1E1E"/>
                </a:solidFill>
                <a:latin typeface="Poppins"/>
                <a:ea typeface="Poppins"/>
                <a:cs typeface="Poppins"/>
                <a:sym typeface="Poppins"/>
              </a:rPr>
              <a:t>policies used to prioritize critical applications, ensuring that essential services—such as real-time communication and database transactions—receive adequate bandwidth and minimal delay.</a:t>
            </a:r>
          </a:p>
          <a:p>
            <a:pPr algn="just">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572941" y="1198416"/>
            <a:ext cx="13976503" cy="5958427"/>
          </a:xfrm>
          <a:prstGeom prst="rect">
            <a:avLst/>
          </a:prstGeom>
        </p:spPr>
        <p:txBody>
          <a:bodyPr lIns="0" tIns="0" rIns="0" bIns="0" rtlCol="0" anchor="t">
            <a:spAutoFit/>
          </a:bodyPr>
          <a:lstStyle/>
          <a:p>
            <a:pPr algn="just">
              <a:lnSpc>
                <a:spcPts val="4810"/>
              </a:lnSpc>
            </a:pPr>
            <a:endParaRPr/>
          </a:p>
          <a:p>
            <a:pPr algn="just">
              <a:lnSpc>
                <a:spcPts val="3877"/>
              </a:lnSpc>
            </a:pPr>
            <a:r>
              <a:rPr lang="en-US" sz="3877" b="1">
                <a:solidFill>
                  <a:srgbClr val="1E1E1E"/>
                </a:solidFill>
                <a:latin typeface="Poppins Bold"/>
                <a:ea typeface="Poppins Bold"/>
                <a:cs typeface="Poppins Bold"/>
                <a:sym typeface="Poppins Bold"/>
              </a:rPr>
              <a:t>Load Balancing (LB):Software-Defined Networking (SDN):</a:t>
            </a:r>
            <a:r>
              <a:rPr lang="en-US" sz="3877">
                <a:solidFill>
                  <a:srgbClr val="1E1E1E"/>
                </a:solidFill>
                <a:latin typeface="Poppins"/>
                <a:ea typeface="Poppins"/>
                <a:cs typeface="Poppins"/>
                <a:sym typeface="Poppins"/>
              </a:rPr>
              <a:t> The adoption of Software-Defined Networking (SDN) further enhances traffic management by enabling centralized control of the network. Administrators can dynamically adjust traffic flows based on current demand, making the system more flexible and responsive to changes. </a:t>
            </a:r>
          </a:p>
          <a:p>
            <a:pPr algn="just">
              <a:lnSpc>
                <a:spcPts val="3877"/>
              </a:lnSpc>
            </a:pPr>
            <a:endParaRPr lang="en-US" sz="3877">
              <a:solidFill>
                <a:srgbClr val="1E1E1E"/>
              </a:solidFill>
              <a:latin typeface="Poppins"/>
              <a:ea typeface="Poppins"/>
              <a:cs typeface="Poppins"/>
              <a:sym typeface="Poppins"/>
            </a:endParaRPr>
          </a:p>
          <a:p>
            <a:pPr algn="just">
              <a:lnSpc>
                <a:spcPts val="3877"/>
              </a:lnSpc>
            </a:pPr>
            <a:r>
              <a:rPr lang="en-US" sz="3877" b="1">
                <a:solidFill>
                  <a:srgbClr val="1E1E1E"/>
                </a:solidFill>
                <a:latin typeface="Poppins Bold"/>
                <a:ea typeface="Poppins Bold"/>
                <a:cs typeface="Poppins Bold"/>
                <a:sym typeface="Poppins Bold"/>
              </a:rPr>
              <a:t>Spine-leaf architecture: </a:t>
            </a:r>
            <a:r>
              <a:rPr lang="en-US" sz="3877">
                <a:solidFill>
                  <a:srgbClr val="1E1E1E"/>
                </a:solidFill>
                <a:latin typeface="Poppins"/>
                <a:ea typeface="Poppins"/>
                <a:cs typeface="Poppins"/>
                <a:sym typeface="Poppins"/>
              </a:rPr>
              <a:t>policies used to prioritize critical applications, ensuring that essential services—such as real-time communication and database transactions—receive adequate bandwidth and minimal delay.</a:t>
            </a:r>
          </a:p>
          <a:p>
            <a:pPr algn="just">
              <a:lnSpc>
                <a:spcPts val="3877"/>
              </a:lnSpc>
            </a:pPr>
            <a:endParaRPr lang="en-US" sz="3877">
              <a:solidFill>
                <a:srgbClr val="1E1E1E"/>
              </a:solidFill>
              <a:latin typeface="Poppins"/>
              <a:ea typeface="Poppins"/>
              <a:cs typeface="Poppins"/>
              <a:sym typeface="Poppins"/>
            </a:endParaRPr>
          </a:p>
          <a:p>
            <a:pPr algn="just">
              <a:lnSpc>
                <a:spcPts val="3877"/>
              </a:lnSpc>
            </a:pPr>
            <a:endParaRPr lang="en-US" sz="3877">
              <a:solidFill>
                <a:srgbClr val="1E1E1E"/>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028700" y="2809553"/>
            <a:ext cx="12308626" cy="4877445"/>
          </a:xfrm>
          <a:prstGeom prst="rect">
            <a:avLst/>
          </a:prstGeom>
        </p:spPr>
        <p:txBody>
          <a:bodyPr lIns="0" tIns="0" rIns="0" bIns="0" rtlCol="0" anchor="t">
            <a:spAutoFit/>
          </a:bodyPr>
          <a:lstStyle/>
          <a:p>
            <a:pPr algn="l">
              <a:lnSpc>
                <a:spcPts val="9510"/>
              </a:lnSpc>
            </a:pPr>
            <a:r>
              <a:rPr lang="en-US" sz="9804" b="1">
                <a:solidFill>
                  <a:srgbClr val="000000"/>
                </a:solidFill>
                <a:latin typeface="Garet Bold"/>
                <a:ea typeface="Garet Bold"/>
                <a:cs typeface="Garet Bold"/>
                <a:sym typeface="Garet Bold"/>
              </a:rPr>
              <a:t>DATA CENTER NETWORK REALIABILTY AND FAULT TOLERANCE</a:t>
            </a:r>
          </a:p>
        </p:txBody>
      </p:sp>
      <p:sp>
        <p:nvSpPr>
          <p:cNvPr id="6" name="Freeform 6"/>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1085850" y="1943898"/>
            <a:ext cx="3293630" cy="475611"/>
          </a:xfrm>
          <a:prstGeom prst="rect">
            <a:avLst/>
          </a:prstGeom>
        </p:spPr>
        <p:txBody>
          <a:bodyPr lIns="0" tIns="0" rIns="0" bIns="0" rtlCol="0" anchor="t">
            <a:spAutoFit/>
          </a:bodyPr>
          <a:lstStyle/>
          <a:p>
            <a:pPr algn="l">
              <a:lnSpc>
                <a:spcPts val="3349"/>
              </a:lnSpc>
            </a:pPr>
            <a:r>
              <a:rPr lang="en-US" sz="3349">
                <a:solidFill>
                  <a:srgbClr val="1E1E1E"/>
                </a:solidFill>
                <a:latin typeface="Poppins"/>
                <a:ea typeface="Poppins"/>
                <a:cs typeface="Poppins"/>
                <a:sym typeface="Poppins"/>
              </a:rPr>
              <a:t>LESSON 6.5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282582" y="1721688"/>
            <a:ext cx="11986175" cy="2256803"/>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What Is Data Center Networking? </a:t>
            </a:r>
          </a:p>
          <a:p>
            <a:pPr algn="just">
              <a:lnSpc>
                <a:spcPts val="3325"/>
              </a:lnSpc>
            </a:pPr>
            <a:r>
              <a:rPr lang="en-US" sz="3325">
                <a:solidFill>
                  <a:srgbClr val="1E1E1E"/>
                </a:solidFill>
                <a:latin typeface="Poppins"/>
                <a:ea typeface="Poppins"/>
                <a:cs typeface="Poppins"/>
                <a:sym typeface="Poppins"/>
              </a:rPr>
              <a:t>    </a:t>
            </a:r>
          </a:p>
          <a:p>
            <a:pPr algn="just">
              <a:lnSpc>
                <a:spcPts val="3325"/>
              </a:lnSpc>
            </a:pPr>
            <a:r>
              <a:rPr lang="en-US" sz="3325">
                <a:solidFill>
                  <a:srgbClr val="1E1E1E"/>
                </a:solidFill>
                <a:latin typeface="Poppins"/>
                <a:ea typeface="Poppins"/>
                <a:cs typeface="Poppins"/>
                <a:sym typeface="Poppins"/>
              </a:rPr>
              <a:t>A network that connects servers and devices inside a data center for communication.</a:t>
            </a:r>
          </a:p>
          <a:p>
            <a:pPr algn="just">
              <a:lnSpc>
                <a:spcPts val="3325"/>
              </a:lnSpc>
            </a:pPr>
            <a:endParaRPr lang="en-US" sz="3325">
              <a:solidFill>
                <a:srgbClr val="1E1E1E"/>
              </a:solidFill>
              <a:latin typeface="Poppins"/>
              <a:ea typeface="Poppins"/>
              <a:cs typeface="Poppins"/>
              <a:sym typeface="Poppins"/>
            </a:endParaRPr>
          </a:p>
        </p:txBody>
      </p:sp>
      <p:sp>
        <p:nvSpPr>
          <p:cNvPr id="10" name="TextBox 10"/>
          <p:cNvSpPr txBox="1"/>
          <p:nvPr/>
        </p:nvSpPr>
        <p:spPr>
          <a:xfrm>
            <a:off x="1282582" y="4721464"/>
            <a:ext cx="11986175" cy="3199778"/>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Reliability in DCN</a:t>
            </a:r>
          </a:p>
          <a:p>
            <a:pPr algn="just">
              <a:lnSpc>
                <a:spcPts val="4125"/>
              </a:lnSpc>
            </a:pPr>
            <a:endParaRPr lang="en-US" sz="4125" b="1">
              <a:solidFill>
                <a:srgbClr val="1E1E1E"/>
              </a:solidFill>
              <a:latin typeface="Poppins Bold"/>
              <a:ea typeface="Poppins Bold"/>
              <a:cs typeface="Poppins Bold"/>
              <a:sym typeface="Poppins Bold"/>
            </a:endParaRPr>
          </a:p>
          <a:p>
            <a:pPr algn="just">
              <a:lnSpc>
                <a:spcPts val="3325"/>
              </a:lnSpc>
            </a:pPr>
            <a:r>
              <a:rPr lang="en-US" sz="3325">
                <a:solidFill>
                  <a:srgbClr val="1E1E1E"/>
                </a:solidFill>
                <a:latin typeface="Poppins"/>
                <a:ea typeface="Poppins"/>
                <a:cs typeface="Poppins"/>
                <a:sym typeface="Poppins"/>
              </a:rPr>
              <a:t>     The network’s ability to consistently perform its intended functions without interruption. It ensures continuous operation without failure. Includes redundancy, monitoring, and high availability.</a:t>
            </a:r>
          </a:p>
          <a:p>
            <a:pPr algn="just">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282582" y="1721688"/>
            <a:ext cx="11986175" cy="1837703"/>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 Fault tolerance in DCN</a:t>
            </a:r>
          </a:p>
          <a:p>
            <a:pPr algn="just">
              <a:lnSpc>
                <a:spcPts val="3325"/>
              </a:lnSpc>
            </a:pPr>
            <a:r>
              <a:rPr lang="en-US" sz="3325">
                <a:solidFill>
                  <a:srgbClr val="1E1E1E"/>
                </a:solidFill>
                <a:latin typeface="Poppins"/>
                <a:ea typeface="Poppins"/>
                <a:cs typeface="Poppins"/>
                <a:sym typeface="Poppins"/>
              </a:rPr>
              <a:t>    </a:t>
            </a:r>
          </a:p>
          <a:p>
            <a:pPr algn="just">
              <a:lnSpc>
                <a:spcPts val="3325"/>
              </a:lnSpc>
            </a:pPr>
            <a:r>
              <a:rPr lang="en-US" sz="3325">
                <a:solidFill>
                  <a:srgbClr val="1E1E1E"/>
                </a:solidFill>
                <a:latin typeface="Poppins"/>
                <a:ea typeface="Poppins"/>
                <a:cs typeface="Poppins"/>
                <a:sym typeface="Poppins"/>
              </a:rPr>
              <a:t>    Ensuring that the network can continue functioning even when failures occur.</a:t>
            </a:r>
          </a:p>
        </p:txBody>
      </p:sp>
      <p:sp>
        <p:nvSpPr>
          <p:cNvPr id="10" name="TextBox 10"/>
          <p:cNvSpPr txBox="1"/>
          <p:nvPr/>
        </p:nvSpPr>
        <p:spPr>
          <a:xfrm>
            <a:off x="1282582" y="4709602"/>
            <a:ext cx="11986175" cy="4236026"/>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Importance of Reliability in Data Center Networks</a:t>
            </a:r>
          </a:p>
          <a:p>
            <a:pPr algn="just">
              <a:lnSpc>
                <a:spcPts val="4125"/>
              </a:lnSpc>
            </a:pPr>
            <a:endParaRPr lang="en-US" sz="4125" b="1">
              <a:solidFill>
                <a:srgbClr val="1E1E1E"/>
              </a:solidFill>
              <a:latin typeface="Poppins Bold"/>
              <a:ea typeface="Poppins Bold"/>
              <a:cs typeface="Poppins Bold"/>
              <a:sym typeface="Poppins Bold"/>
            </a:endParaRPr>
          </a:p>
          <a:p>
            <a:pPr marL="717982" lvl="1" indent="-358991" algn="l">
              <a:lnSpc>
                <a:spcPts val="4256"/>
              </a:lnSpc>
              <a:buFont typeface="Arial"/>
              <a:buChar char="•"/>
            </a:pPr>
            <a:r>
              <a:rPr lang="en-US" sz="3325">
                <a:solidFill>
                  <a:srgbClr val="1E1E1E"/>
                </a:solidFill>
                <a:latin typeface="Poppins"/>
                <a:ea typeface="Poppins"/>
                <a:cs typeface="Poppins"/>
                <a:sym typeface="Poppins"/>
              </a:rPr>
              <a:t>·Supports continuous service availability (24/7 systems) </a:t>
            </a:r>
          </a:p>
          <a:p>
            <a:pPr marL="717982" lvl="1" indent="-358991" algn="l">
              <a:lnSpc>
                <a:spcPts val="4256"/>
              </a:lnSpc>
              <a:buFont typeface="Arial"/>
              <a:buChar char="•"/>
            </a:pPr>
            <a:r>
              <a:rPr lang="en-US" sz="3325">
                <a:solidFill>
                  <a:srgbClr val="1E1E1E"/>
                </a:solidFill>
                <a:latin typeface="Poppins"/>
                <a:ea typeface="Poppins"/>
                <a:cs typeface="Poppins"/>
                <a:sym typeface="Poppins"/>
              </a:rPr>
              <a:t>·Ensures business continuity </a:t>
            </a:r>
          </a:p>
          <a:p>
            <a:pPr marL="717982" lvl="1" indent="-358991" algn="l">
              <a:lnSpc>
                <a:spcPts val="4256"/>
              </a:lnSpc>
              <a:buFont typeface="Arial"/>
              <a:buChar char="•"/>
            </a:pPr>
            <a:r>
              <a:rPr lang="en-US" sz="3325">
                <a:solidFill>
                  <a:srgbClr val="1E1E1E"/>
                </a:solidFill>
                <a:latin typeface="Poppins"/>
                <a:ea typeface="Poppins"/>
                <a:cs typeface="Poppins"/>
                <a:sym typeface="Poppins"/>
              </a:rPr>
              <a:t>·Protects data integrity and user trust</a:t>
            </a:r>
          </a:p>
          <a:p>
            <a:pPr algn="l">
              <a:lnSpc>
                <a:spcPts val="4256"/>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282582" y="1721688"/>
            <a:ext cx="11986175" cy="999503"/>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Types of Failures in Data Center Networks</a:t>
            </a:r>
          </a:p>
          <a:p>
            <a:pPr algn="just">
              <a:lnSpc>
                <a:spcPts val="3325"/>
              </a:lnSpc>
            </a:pPr>
            <a:endParaRPr lang="en-US" sz="4125" b="1">
              <a:solidFill>
                <a:srgbClr val="1E1E1E"/>
              </a:solidFill>
              <a:latin typeface="Poppins Bold"/>
              <a:ea typeface="Poppins Bold"/>
              <a:cs typeface="Poppins Bold"/>
              <a:sym typeface="Poppins Bold"/>
            </a:endParaRPr>
          </a:p>
        </p:txBody>
      </p:sp>
      <p:sp>
        <p:nvSpPr>
          <p:cNvPr id="10" name="TextBox 10"/>
          <p:cNvSpPr txBox="1"/>
          <p:nvPr/>
        </p:nvSpPr>
        <p:spPr>
          <a:xfrm>
            <a:off x="1487605" y="2768817"/>
            <a:ext cx="11986175" cy="2686063"/>
          </a:xfrm>
          <a:prstGeom prst="rect">
            <a:avLst/>
          </a:prstGeom>
        </p:spPr>
        <p:txBody>
          <a:bodyPr lIns="0" tIns="0" rIns="0" bIns="0" rtlCol="0" anchor="t">
            <a:spAutoFit/>
          </a:bodyPr>
          <a:lstStyle/>
          <a:p>
            <a:pPr marL="890698" lvl="1" indent="-445349" algn="l">
              <a:lnSpc>
                <a:spcPts val="4125"/>
              </a:lnSpc>
              <a:buFont typeface="Arial"/>
              <a:buChar char="•"/>
            </a:pPr>
            <a:r>
              <a:rPr lang="en-US" sz="4125">
                <a:solidFill>
                  <a:srgbClr val="1E1E1E"/>
                </a:solidFill>
                <a:latin typeface="Poppins"/>
                <a:ea typeface="Poppins"/>
                <a:cs typeface="Poppins"/>
                <a:sym typeface="Poppins"/>
              </a:rPr>
              <a:t>Hardware Failures</a:t>
            </a:r>
          </a:p>
          <a:p>
            <a:pPr marL="890698" lvl="1" indent="-445349" algn="l">
              <a:lnSpc>
                <a:spcPts val="4125"/>
              </a:lnSpc>
              <a:buFont typeface="Arial"/>
              <a:buChar char="•"/>
            </a:pPr>
            <a:r>
              <a:rPr lang="en-US" sz="4125">
                <a:solidFill>
                  <a:srgbClr val="1E1E1E"/>
                </a:solidFill>
                <a:latin typeface="Poppins"/>
                <a:ea typeface="Poppins"/>
                <a:cs typeface="Poppins"/>
                <a:sym typeface="Poppins"/>
              </a:rPr>
              <a:t>Software Failures</a:t>
            </a:r>
          </a:p>
          <a:p>
            <a:pPr marL="890698" lvl="1" indent="-445349" algn="l">
              <a:lnSpc>
                <a:spcPts val="4125"/>
              </a:lnSpc>
              <a:buFont typeface="Arial"/>
              <a:buChar char="•"/>
            </a:pPr>
            <a:r>
              <a:rPr lang="en-US" sz="4125">
                <a:solidFill>
                  <a:srgbClr val="1E1E1E"/>
                </a:solidFill>
                <a:latin typeface="Poppins"/>
                <a:ea typeface="Poppins"/>
                <a:cs typeface="Poppins"/>
                <a:sym typeface="Poppins"/>
              </a:rPr>
              <a:t>Network Failures</a:t>
            </a:r>
          </a:p>
          <a:p>
            <a:pPr marL="890698" lvl="1" indent="-445349" algn="l">
              <a:lnSpc>
                <a:spcPts val="4125"/>
              </a:lnSpc>
              <a:buFont typeface="Arial"/>
              <a:buChar char="•"/>
            </a:pPr>
            <a:r>
              <a:rPr lang="en-US" sz="4125">
                <a:solidFill>
                  <a:srgbClr val="1E1E1E"/>
                </a:solidFill>
                <a:latin typeface="Poppins"/>
                <a:ea typeface="Poppins"/>
                <a:cs typeface="Poppins"/>
                <a:sym typeface="Poppins"/>
              </a:rPr>
              <a:t>Environmental Failures</a:t>
            </a:r>
          </a:p>
          <a:p>
            <a:pPr algn="just">
              <a:lnSpc>
                <a:spcPts val="4125"/>
              </a:lnSpc>
            </a:pPr>
            <a:endParaRPr lang="en-US" sz="4125">
              <a:solidFill>
                <a:srgbClr val="1E1E1E"/>
              </a:solidFill>
              <a:latin typeface="Poppins"/>
              <a:ea typeface="Poppins"/>
              <a:cs typeface="Poppins"/>
              <a:sym typeface="Poppins"/>
            </a:endParaRPr>
          </a:p>
        </p:txBody>
      </p:sp>
      <p:sp>
        <p:nvSpPr>
          <p:cNvPr id="11" name="TextBox 11"/>
          <p:cNvSpPr txBox="1"/>
          <p:nvPr/>
        </p:nvSpPr>
        <p:spPr>
          <a:xfrm>
            <a:off x="885971" y="5492980"/>
            <a:ext cx="11986175" cy="999503"/>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Key Techniques for Fault Tolerance</a:t>
            </a:r>
          </a:p>
          <a:p>
            <a:pPr algn="just">
              <a:lnSpc>
                <a:spcPts val="3325"/>
              </a:lnSpc>
            </a:pPr>
            <a:endParaRPr lang="en-US" sz="4125" b="1">
              <a:solidFill>
                <a:srgbClr val="1E1E1E"/>
              </a:solidFill>
              <a:latin typeface="Poppins Bold"/>
              <a:ea typeface="Poppins Bold"/>
              <a:cs typeface="Poppins Bold"/>
              <a:sym typeface="Poppins Bold"/>
            </a:endParaRPr>
          </a:p>
        </p:txBody>
      </p:sp>
      <p:sp>
        <p:nvSpPr>
          <p:cNvPr id="12" name="TextBox 12"/>
          <p:cNvSpPr txBox="1"/>
          <p:nvPr/>
        </p:nvSpPr>
        <p:spPr>
          <a:xfrm>
            <a:off x="1487605" y="6346608"/>
            <a:ext cx="11986175" cy="2686063"/>
          </a:xfrm>
          <a:prstGeom prst="rect">
            <a:avLst/>
          </a:prstGeom>
        </p:spPr>
        <p:txBody>
          <a:bodyPr lIns="0" tIns="0" rIns="0" bIns="0" rtlCol="0" anchor="t">
            <a:spAutoFit/>
          </a:bodyPr>
          <a:lstStyle/>
          <a:p>
            <a:pPr marL="890698" lvl="1" indent="-445349" algn="l">
              <a:lnSpc>
                <a:spcPts val="4125"/>
              </a:lnSpc>
              <a:buFont typeface="Arial"/>
              <a:buChar char="•"/>
            </a:pPr>
            <a:r>
              <a:rPr lang="en-US" sz="4125">
                <a:solidFill>
                  <a:srgbClr val="1E1E1E"/>
                </a:solidFill>
                <a:latin typeface="Poppins"/>
                <a:ea typeface="Poppins"/>
                <a:cs typeface="Poppins"/>
                <a:sym typeface="Poppins"/>
              </a:rPr>
              <a:t>Redundancy</a:t>
            </a:r>
          </a:p>
          <a:p>
            <a:pPr marL="890698" lvl="1" indent="-445349" algn="l">
              <a:lnSpc>
                <a:spcPts val="4125"/>
              </a:lnSpc>
              <a:buFont typeface="Arial"/>
              <a:buChar char="•"/>
            </a:pPr>
            <a:r>
              <a:rPr lang="en-US" sz="4125">
                <a:solidFill>
                  <a:srgbClr val="1E1E1E"/>
                </a:solidFill>
                <a:latin typeface="Poppins"/>
                <a:ea typeface="Poppins"/>
                <a:cs typeface="Poppins"/>
                <a:sym typeface="Poppins"/>
              </a:rPr>
              <a:t>Failover Mechanisms</a:t>
            </a:r>
          </a:p>
          <a:p>
            <a:pPr marL="890698" lvl="1" indent="-445349" algn="l">
              <a:lnSpc>
                <a:spcPts val="4125"/>
              </a:lnSpc>
              <a:buFont typeface="Arial"/>
              <a:buChar char="•"/>
            </a:pPr>
            <a:r>
              <a:rPr lang="en-US" sz="4125">
                <a:solidFill>
                  <a:srgbClr val="1E1E1E"/>
                </a:solidFill>
                <a:latin typeface="Poppins"/>
                <a:ea typeface="Poppins"/>
                <a:cs typeface="Poppins"/>
                <a:sym typeface="Poppins"/>
              </a:rPr>
              <a:t>Replication</a:t>
            </a:r>
          </a:p>
          <a:p>
            <a:pPr marL="890698" lvl="1" indent="-445349" algn="l">
              <a:lnSpc>
                <a:spcPts val="4125"/>
              </a:lnSpc>
              <a:buFont typeface="Arial"/>
              <a:buChar char="•"/>
            </a:pPr>
            <a:r>
              <a:rPr lang="en-US" sz="4125">
                <a:solidFill>
                  <a:srgbClr val="1E1E1E"/>
                </a:solidFill>
                <a:latin typeface="Poppins"/>
                <a:ea typeface="Poppins"/>
                <a:cs typeface="Poppins"/>
                <a:sym typeface="Poppins"/>
              </a:rPr>
              <a:t>Fault Detection and Monitoring</a:t>
            </a:r>
          </a:p>
          <a:p>
            <a:pPr marL="890698" lvl="1" indent="-445349" algn="l">
              <a:lnSpc>
                <a:spcPts val="4125"/>
              </a:lnSpc>
              <a:buFont typeface="Arial"/>
              <a:buChar char="•"/>
            </a:pPr>
            <a:r>
              <a:rPr lang="en-US" sz="4125">
                <a:solidFill>
                  <a:srgbClr val="1E1E1E"/>
                </a:solidFill>
                <a:latin typeface="Poppins"/>
                <a:ea typeface="Poppins"/>
                <a:cs typeface="Poppins"/>
                <a:sym typeface="Poppins"/>
              </a:rPr>
              <a:t>Isolation and Containment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028700" y="2809553"/>
            <a:ext cx="12308626" cy="3677295"/>
          </a:xfrm>
          <a:prstGeom prst="rect">
            <a:avLst/>
          </a:prstGeom>
        </p:spPr>
        <p:txBody>
          <a:bodyPr lIns="0" tIns="0" rIns="0" bIns="0" rtlCol="0" anchor="t">
            <a:spAutoFit/>
          </a:bodyPr>
          <a:lstStyle/>
          <a:p>
            <a:pPr algn="l">
              <a:lnSpc>
                <a:spcPts val="9510"/>
              </a:lnSpc>
            </a:pPr>
            <a:r>
              <a:rPr lang="en-US" sz="9804" b="1">
                <a:solidFill>
                  <a:srgbClr val="000000"/>
                </a:solidFill>
                <a:latin typeface="Garet Bold"/>
                <a:ea typeface="Garet Bold"/>
                <a:cs typeface="Garet Bold"/>
                <a:sym typeface="Garet Bold"/>
              </a:rPr>
              <a:t>EMERGING TECHNOLOGIES IN DATA CENTER </a:t>
            </a:r>
          </a:p>
        </p:txBody>
      </p:sp>
      <p:sp>
        <p:nvSpPr>
          <p:cNvPr id="6" name="Freeform 6"/>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Freeform 9"/>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1085850" y="1943898"/>
            <a:ext cx="3293630" cy="475611"/>
          </a:xfrm>
          <a:prstGeom prst="rect">
            <a:avLst/>
          </a:prstGeom>
        </p:spPr>
        <p:txBody>
          <a:bodyPr lIns="0" tIns="0" rIns="0" bIns="0" rtlCol="0" anchor="t">
            <a:spAutoFit/>
          </a:bodyPr>
          <a:lstStyle/>
          <a:p>
            <a:pPr algn="l">
              <a:lnSpc>
                <a:spcPts val="3349"/>
              </a:lnSpc>
            </a:pPr>
            <a:r>
              <a:rPr lang="en-US" sz="3349">
                <a:solidFill>
                  <a:srgbClr val="1E1E1E"/>
                </a:solidFill>
                <a:latin typeface="Poppins"/>
                <a:ea typeface="Poppins"/>
                <a:cs typeface="Poppins"/>
                <a:sym typeface="Poppins"/>
              </a:rPr>
              <a:t>LESSON 6.6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028700" y="1257611"/>
            <a:ext cx="13065847" cy="7809879"/>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Software defined architecture (SDN)</a:t>
            </a:r>
          </a:p>
          <a:p>
            <a:pPr algn="just">
              <a:lnSpc>
                <a:spcPts val="3325"/>
              </a:lnSpc>
            </a:pPr>
            <a:r>
              <a:rPr lang="en-US" sz="3325">
                <a:solidFill>
                  <a:srgbClr val="1E1E1E"/>
                </a:solidFill>
                <a:latin typeface="Poppins"/>
                <a:ea typeface="Poppins"/>
                <a:cs typeface="Poppins"/>
                <a:sym typeface="Poppins"/>
              </a:rPr>
              <a:t>    </a:t>
            </a:r>
          </a:p>
          <a:p>
            <a:pPr algn="just">
              <a:lnSpc>
                <a:spcPts val="3325"/>
              </a:lnSpc>
            </a:pPr>
            <a:r>
              <a:rPr lang="en-US" sz="3325">
                <a:solidFill>
                  <a:srgbClr val="1E1E1E"/>
                </a:solidFill>
                <a:latin typeface="Poppins"/>
                <a:ea typeface="Poppins"/>
                <a:cs typeface="Poppins"/>
                <a:sym typeface="Poppins"/>
              </a:rPr>
              <a:t>   SDN separates the control from the data plane, allowing centralized control of network behaviour through software-based controllers. This abstraction enables dynamic network configuration, improved resource allocation, and simplified management.</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endParaRPr lang="en-US" sz="3325">
              <a:solidFill>
                <a:srgbClr val="1E1E1E"/>
              </a:solidFill>
              <a:latin typeface="Poppins"/>
              <a:ea typeface="Poppins"/>
              <a:cs typeface="Poppins"/>
              <a:sym typeface="Poppins"/>
            </a:endParaRPr>
          </a:p>
          <a:p>
            <a:pPr algn="just">
              <a:lnSpc>
                <a:spcPts val="4125"/>
              </a:lnSpc>
            </a:pPr>
            <a:r>
              <a:rPr lang="en-US" sz="4125" b="1">
                <a:solidFill>
                  <a:srgbClr val="1E1E1E"/>
                </a:solidFill>
                <a:latin typeface="Poppins Bold"/>
                <a:ea typeface="Poppins Bold"/>
                <a:cs typeface="Poppins Bold"/>
                <a:sym typeface="Poppins Bold"/>
              </a:rPr>
              <a:t>Network function virtualization </a:t>
            </a:r>
          </a:p>
          <a:p>
            <a:pPr algn="just">
              <a:lnSpc>
                <a:spcPts val="3325"/>
              </a:lnSpc>
            </a:pPr>
            <a:r>
              <a:rPr lang="en-US" sz="3325" b="1">
                <a:solidFill>
                  <a:srgbClr val="1E1E1E"/>
                </a:solidFill>
                <a:latin typeface="Poppins Bold"/>
                <a:ea typeface="Poppins Bold"/>
                <a:cs typeface="Poppins Bold"/>
                <a:sym typeface="Poppins Bold"/>
              </a:rPr>
              <a:t> </a:t>
            </a:r>
          </a:p>
          <a:p>
            <a:pPr algn="just">
              <a:lnSpc>
                <a:spcPts val="3325"/>
              </a:lnSpc>
            </a:pPr>
            <a:r>
              <a:rPr lang="en-US" sz="3325" b="1">
                <a:solidFill>
                  <a:srgbClr val="1E1E1E"/>
                </a:solidFill>
                <a:latin typeface="Poppins Bold"/>
                <a:ea typeface="Poppins Bold"/>
                <a:cs typeface="Poppins Bold"/>
                <a:sym typeface="Poppins Bold"/>
              </a:rPr>
              <a:t> </a:t>
            </a:r>
            <a:r>
              <a:rPr lang="en-US" sz="3325">
                <a:solidFill>
                  <a:srgbClr val="1E1E1E"/>
                </a:solidFill>
                <a:latin typeface="Poppins"/>
                <a:ea typeface="Poppins"/>
                <a:cs typeface="Poppins"/>
                <a:sym typeface="Poppins"/>
              </a:rPr>
              <a:t>NFV replaces traditional hardware-based network appliances (firewalls, load balancers) with virtualized software instances running on standard servers. This reduces dependency on specialized hardware AD enables rapid deployment of network services.</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028700" y="1048371"/>
            <a:ext cx="13065847" cy="8209929"/>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Edge computing </a:t>
            </a:r>
          </a:p>
          <a:p>
            <a:pPr algn="just">
              <a:lnSpc>
                <a:spcPts val="3325"/>
              </a:lnSpc>
            </a:pPr>
            <a:r>
              <a:rPr lang="en-US" sz="3325">
                <a:solidFill>
                  <a:srgbClr val="1E1E1E"/>
                </a:solidFill>
                <a:latin typeface="Poppins"/>
                <a:ea typeface="Poppins"/>
                <a:cs typeface="Poppins"/>
                <a:sym typeface="Poppins"/>
              </a:rPr>
              <a:t>    </a:t>
            </a:r>
          </a:p>
          <a:p>
            <a:pPr algn="just">
              <a:lnSpc>
                <a:spcPts val="3325"/>
              </a:lnSpc>
            </a:pPr>
            <a:r>
              <a:rPr lang="en-US" sz="3325">
                <a:solidFill>
                  <a:srgbClr val="1E1E1E"/>
                </a:solidFill>
                <a:latin typeface="Poppins"/>
                <a:ea typeface="Poppins"/>
                <a:cs typeface="Poppins"/>
                <a:sym typeface="Poppins"/>
              </a:rPr>
              <a:t>    Edge computing extends data processing closer to the end-user or devices, reducing latency and bandwidth consumption. In data center networking, edge nodes complement centralized data centers by handling time-sensitive computations.</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endParaRPr lang="en-US" sz="3325">
              <a:solidFill>
                <a:srgbClr val="1E1E1E"/>
              </a:solidFill>
              <a:latin typeface="Poppins"/>
              <a:ea typeface="Poppins"/>
              <a:cs typeface="Poppins"/>
              <a:sym typeface="Poppins"/>
            </a:endParaRPr>
          </a:p>
          <a:p>
            <a:pPr algn="just">
              <a:lnSpc>
                <a:spcPts val="3325"/>
              </a:lnSpc>
            </a:pPr>
            <a:endParaRPr lang="en-US" sz="3325">
              <a:solidFill>
                <a:srgbClr val="1E1E1E"/>
              </a:solidFill>
              <a:latin typeface="Poppins"/>
              <a:ea typeface="Poppins"/>
              <a:cs typeface="Poppins"/>
              <a:sym typeface="Poppins"/>
            </a:endParaRPr>
          </a:p>
          <a:p>
            <a:pPr algn="just">
              <a:lnSpc>
                <a:spcPts val="4025"/>
              </a:lnSpc>
            </a:pPr>
            <a:r>
              <a:rPr lang="en-US" sz="4025" b="1">
                <a:solidFill>
                  <a:srgbClr val="1E1E1E"/>
                </a:solidFill>
                <a:latin typeface="Poppins Bold"/>
                <a:ea typeface="Poppins Bold"/>
                <a:cs typeface="Poppins Bold"/>
                <a:sym typeface="Poppins Bold"/>
              </a:rPr>
              <a:t>Artificial intelligence and machine learning </a:t>
            </a:r>
          </a:p>
          <a:p>
            <a:pPr algn="just">
              <a:lnSpc>
                <a:spcPts val="3325"/>
              </a:lnSpc>
            </a:pPr>
            <a:endParaRPr lang="en-US" sz="4025" b="1">
              <a:solidFill>
                <a:srgbClr val="1E1E1E"/>
              </a:solidFill>
              <a:latin typeface="Poppins Bold"/>
              <a:ea typeface="Poppins Bold"/>
              <a:cs typeface="Poppins Bold"/>
              <a:sym typeface="Poppins Bold"/>
            </a:endParaRPr>
          </a:p>
          <a:p>
            <a:pPr algn="just">
              <a:lnSpc>
                <a:spcPts val="3325"/>
              </a:lnSpc>
            </a:pPr>
            <a:r>
              <a:rPr lang="en-US" sz="3325" b="1">
                <a:solidFill>
                  <a:srgbClr val="1E1E1E"/>
                </a:solidFill>
                <a:latin typeface="Poppins Bold"/>
                <a:ea typeface="Poppins Bold"/>
                <a:cs typeface="Poppins Bold"/>
                <a:sym typeface="Poppins Bold"/>
              </a:rPr>
              <a:t>  </a:t>
            </a:r>
            <a:r>
              <a:rPr lang="en-US" sz="3325">
                <a:solidFill>
                  <a:srgbClr val="1E1E1E"/>
                </a:solidFill>
                <a:latin typeface="Poppins"/>
                <a:ea typeface="Poppins"/>
                <a:cs typeface="Poppins"/>
                <a:sym typeface="Poppins"/>
              </a:rPr>
              <a:t>Ai driven network management systems are increasingly used to monitor, analyze and optimize data center operations. Machine learning algorithms can predict traffic patterns, detect anomalies and automate fault resolution.</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endParaRPr lang="en-US" sz="3325">
              <a:solidFill>
                <a:srgbClr val="1E1E1E"/>
              </a:solidFill>
              <a:latin typeface="Poppins"/>
              <a:ea typeface="Poppins"/>
              <a:cs typeface="Poppins"/>
              <a:sym typeface="Poppins"/>
            </a:endParaRPr>
          </a:p>
          <a:p>
            <a:pPr algn="just">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14862103" y="-620391"/>
            <a:ext cx="2594017" cy="11734776"/>
            <a:chOff x="0" y="0"/>
            <a:chExt cx="683716" cy="3092987"/>
          </a:xfrm>
        </p:grpSpPr>
        <p:sp>
          <p:nvSpPr>
            <p:cNvPr id="3" name="Freeform 3"/>
            <p:cNvSpPr/>
            <p:nvPr/>
          </p:nvSpPr>
          <p:spPr>
            <a:xfrm>
              <a:off x="0" y="0"/>
              <a:ext cx="683717" cy="3092987"/>
            </a:xfrm>
            <a:custGeom>
              <a:avLst/>
              <a:gdLst/>
              <a:ahLst/>
              <a:cxnLst/>
              <a:rect l="l" t="t" r="r" b="b"/>
              <a:pathLst>
                <a:path w="683717" h="3092987">
                  <a:moveTo>
                    <a:pt x="44768" y="0"/>
                  </a:moveTo>
                  <a:lnTo>
                    <a:pt x="638949" y="0"/>
                  </a:lnTo>
                  <a:cubicBezTo>
                    <a:pt x="650822" y="0"/>
                    <a:pt x="662209" y="4717"/>
                    <a:pt x="670604" y="13112"/>
                  </a:cubicBezTo>
                  <a:cubicBezTo>
                    <a:pt x="679000" y="21508"/>
                    <a:pt x="683717" y="32895"/>
                    <a:pt x="683717" y="44768"/>
                  </a:cubicBezTo>
                  <a:lnTo>
                    <a:pt x="683717" y="3048219"/>
                  </a:lnTo>
                  <a:cubicBezTo>
                    <a:pt x="683717" y="3072944"/>
                    <a:pt x="663673" y="3092987"/>
                    <a:pt x="638949" y="3092987"/>
                  </a:cubicBezTo>
                  <a:lnTo>
                    <a:pt x="44768" y="3092987"/>
                  </a:lnTo>
                  <a:cubicBezTo>
                    <a:pt x="32895" y="3092987"/>
                    <a:pt x="21508" y="3088271"/>
                    <a:pt x="13112" y="3079875"/>
                  </a:cubicBezTo>
                  <a:cubicBezTo>
                    <a:pt x="4717" y="3071479"/>
                    <a:pt x="0" y="3060092"/>
                    <a:pt x="0" y="3048219"/>
                  </a:cubicBezTo>
                  <a:lnTo>
                    <a:pt x="0" y="44768"/>
                  </a:lnTo>
                  <a:cubicBezTo>
                    <a:pt x="0" y="32895"/>
                    <a:pt x="4717" y="21508"/>
                    <a:pt x="13112" y="13112"/>
                  </a:cubicBezTo>
                  <a:cubicBezTo>
                    <a:pt x="21508" y="4717"/>
                    <a:pt x="32895" y="0"/>
                    <a:pt x="44768" y="0"/>
                  </a:cubicBezTo>
                  <a:close/>
                </a:path>
              </a:pathLst>
            </a:custGeom>
            <a:solidFill>
              <a:srgbClr val="190036"/>
            </a:solidFill>
          </p:spPr>
        </p:sp>
        <p:sp>
          <p:nvSpPr>
            <p:cNvPr id="4" name="TextBox 4"/>
            <p:cNvSpPr txBox="1"/>
            <p:nvPr/>
          </p:nvSpPr>
          <p:spPr>
            <a:xfrm>
              <a:off x="0" y="-57150"/>
              <a:ext cx="683716" cy="315013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4046" y="3978492"/>
            <a:ext cx="2330017" cy="2330017"/>
          </a:xfrm>
          <a:custGeom>
            <a:avLst/>
            <a:gdLst/>
            <a:ahLst/>
            <a:cxnLst/>
            <a:rect l="l" t="t" r="r" b="b"/>
            <a:pathLst>
              <a:path w="2330017" h="2330017">
                <a:moveTo>
                  <a:pt x="0" y="0"/>
                </a:moveTo>
                <a:lnTo>
                  <a:pt x="2330017" y="0"/>
                </a:lnTo>
                <a:lnTo>
                  <a:pt x="2330017" y="2330016"/>
                </a:lnTo>
                <a:lnTo>
                  <a:pt x="0" y="2330016"/>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6" name="Freeform 6"/>
          <p:cNvSpPr/>
          <p:nvPr/>
        </p:nvSpPr>
        <p:spPr>
          <a:xfrm>
            <a:off x="10866252" y="8626114"/>
            <a:ext cx="759849" cy="759849"/>
          </a:xfrm>
          <a:custGeom>
            <a:avLst/>
            <a:gdLst/>
            <a:ahLst/>
            <a:cxnLst/>
            <a:rect l="l" t="t" r="r" b="b"/>
            <a:pathLst>
              <a:path w="759849" h="759849">
                <a:moveTo>
                  <a:pt x="0" y="0"/>
                </a:moveTo>
                <a:lnTo>
                  <a:pt x="759849" y="0"/>
                </a:lnTo>
                <a:lnTo>
                  <a:pt x="759849" y="759849"/>
                </a:lnTo>
                <a:lnTo>
                  <a:pt x="0" y="759849"/>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7" name="Freeform 7"/>
          <p:cNvSpPr/>
          <p:nvPr/>
        </p:nvSpPr>
        <p:spPr>
          <a:xfrm>
            <a:off x="5957772" y="9006038"/>
            <a:ext cx="2330017" cy="2330017"/>
          </a:xfrm>
          <a:custGeom>
            <a:avLst/>
            <a:gdLst/>
            <a:ahLst/>
            <a:cxnLst/>
            <a:rect l="l" t="t" r="r" b="b"/>
            <a:pathLst>
              <a:path w="2330017" h="2330017">
                <a:moveTo>
                  <a:pt x="0" y="0"/>
                </a:moveTo>
                <a:lnTo>
                  <a:pt x="2330017" y="0"/>
                </a:lnTo>
                <a:lnTo>
                  <a:pt x="2330017" y="2330017"/>
                </a:lnTo>
                <a:lnTo>
                  <a:pt x="0" y="2330017"/>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8" name="Freeform 8"/>
          <p:cNvSpPr/>
          <p:nvPr/>
        </p:nvSpPr>
        <p:spPr>
          <a:xfrm>
            <a:off x="11632038" y="-1174166"/>
            <a:ext cx="2844203" cy="2844203"/>
          </a:xfrm>
          <a:custGeom>
            <a:avLst/>
            <a:gdLst/>
            <a:ahLst/>
            <a:cxnLst/>
            <a:rect l="l" t="t" r="r" b="b"/>
            <a:pathLst>
              <a:path w="2844203" h="2844203">
                <a:moveTo>
                  <a:pt x="0" y="0"/>
                </a:moveTo>
                <a:lnTo>
                  <a:pt x="2844203" y="0"/>
                </a:lnTo>
                <a:lnTo>
                  <a:pt x="2844203" y="2844204"/>
                </a:lnTo>
                <a:lnTo>
                  <a:pt x="0" y="2844204"/>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1028700" y="2724461"/>
            <a:ext cx="13065847" cy="4876178"/>
          </a:xfrm>
          <a:prstGeom prst="rect">
            <a:avLst/>
          </a:prstGeom>
        </p:spPr>
        <p:txBody>
          <a:bodyPr lIns="0" tIns="0" rIns="0" bIns="0" rtlCol="0" anchor="t">
            <a:spAutoFit/>
          </a:bodyPr>
          <a:lstStyle/>
          <a:p>
            <a:pPr algn="just">
              <a:lnSpc>
                <a:spcPts val="4125"/>
              </a:lnSpc>
            </a:pPr>
            <a:r>
              <a:rPr lang="en-US" sz="4125" b="1">
                <a:solidFill>
                  <a:srgbClr val="1E1E1E"/>
                </a:solidFill>
                <a:latin typeface="Poppins Bold"/>
                <a:ea typeface="Poppins Bold"/>
                <a:cs typeface="Poppins Bold"/>
                <a:sym typeface="Poppins Bold"/>
              </a:rPr>
              <a:t>Highspeed interconnects and optical networking </a:t>
            </a:r>
          </a:p>
          <a:p>
            <a:pPr algn="just">
              <a:lnSpc>
                <a:spcPts val="3325"/>
              </a:lnSpc>
            </a:pPr>
            <a:r>
              <a:rPr lang="en-US" sz="3325">
                <a:solidFill>
                  <a:srgbClr val="1E1E1E"/>
                </a:solidFill>
                <a:latin typeface="Poppins"/>
                <a:ea typeface="Poppins"/>
                <a:cs typeface="Poppins"/>
                <a:sym typeface="Poppins"/>
              </a:rPr>
              <a:t>    </a:t>
            </a:r>
          </a:p>
          <a:p>
            <a:pPr algn="just">
              <a:lnSpc>
                <a:spcPts val="3325"/>
              </a:lnSpc>
            </a:pPr>
            <a:r>
              <a:rPr lang="en-US" sz="3325">
                <a:solidFill>
                  <a:srgbClr val="1E1E1E"/>
                </a:solidFill>
                <a:latin typeface="Poppins"/>
                <a:ea typeface="Poppins"/>
                <a:cs typeface="Poppins"/>
                <a:sym typeface="Poppins"/>
              </a:rPr>
              <a:t>     Emerging technologies such as 400g/800g ethernet and optical interconnects provide high bandwidth communication within data centers. These advancements support the increasing data demands of cloud services in large scale distributed systems.</a:t>
            </a:r>
          </a:p>
          <a:p>
            <a:pPr algn="just">
              <a:lnSpc>
                <a:spcPts val="3325"/>
              </a:lnSpc>
            </a:pPr>
            <a:endParaRPr lang="en-US" sz="3325">
              <a:solidFill>
                <a:srgbClr val="1E1E1E"/>
              </a:solidFill>
              <a:latin typeface="Poppins"/>
              <a:ea typeface="Poppins"/>
              <a:cs typeface="Poppins"/>
              <a:sym typeface="Poppins"/>
            </a:endParaRPr>
          </a:p>
          <a:p>
            <a:pPr algn="just">
              <a:lnSpc>
                <a:spcPts val="3325"/>
              </a:lnSpc>
            </a:pPr>
            <a:endParaRPr lang="en-US" sz="3325">
              <a:solidFill>
                <a:srgbClr val="1E1E1E"/>
              </a:solidFill>
              <a:latin typeface="Poppins"/>
              <a:ea typeface="Poppins"/>
              <a:cs typeface="Poppins"/>
              <a:sym typeface="Poppins"/>
            </a:endParaRPr>
          </a:p>
          <a:p>
            <a:pPr algn="just">
              <a:lnSpc>
                <a:spcPts val="3325"/>
              </a:lnSpc>
            </a:pPr>
            <a:endParaRPr lang="en-US" sz="3325">
              <a:solidFill>
                <a:srgbClr val="1E1E1E"/>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90036"/>
        </a:solidFill>
        <a:effectLst/>
      </p:bgPr>
    </p:bg>
    <p:spTree>
      <p:nvGrpSpPr>
        <p:cNvPr id="1" name=""/>
        <p:cNvGrpSpPr/>
        <p:nvPr/>
      </p:nvGrpSpPr>
      <p:grpSpPr>
        <a:xfrm>
          <a:off x="0" y="0"/>
          <a:ext cx="0" cy="0"/>
          <a:chOff x="0" y="0"/>
          <a:chExt cx="0" cy="0"/>
        </a:xfrm>
      </p:grpSpPr>
      <p:grpSp>
        <p:nvGrpSpPr>
          <p:cNvPr id="2" name="Group 2"/>
          <p:cNvGrpSpPr/>
          <p:nvPr/>
        </p:nvGrpSpPr>
        <p:grpSpPr>
          <a:xfrm>
            <a:off x="4541087" y="1028700"/>
            <a:ext cx="14708150" cy="8229600"/>
            <a:chOff x="0" y="0"/>
            <a:chExt cx="4058107" cy="2270619"/>
          </a:xfrm>
        </p:grpSpPr>
        <p:sp>
          <p:nvSpPr>
            <p:cNvPr id="3" name="Freeform 3"/>
            <p:cNvSpPr/>
            <p:nvPr/>
          </p:nvSpPr>
          <p:spPr>
            <a:xfrm>
              <a:off x="0" y="0"/>
              <a:ext cx="4058107" cy="2270619"/>
            </a:xfrm>
            <a:custGeom>
              <a:avLst/>
              <a:gdLst/>
              <a:ahLst/>
              <a:cxnLst/>
              <a:rect l="l" t="t" r="r" b="b"/>
              <a:pathLst>
                <a:path w="4058107" h="2270619">
                  <a:moveTo>
                    <a:pt x="43162" y="0"/>
                  </a:moveTo>
                  <a:lnTo>
                    <a:pt x="4014945" y="0"/>
                  </a:lnTo>
                  <a:cubicBezTo>
                    <a:pt x="4038783" y="0"/>
                    <a:pt x="4058107" y="19324"/>
                    <a:pt x="4058107" y="43162"/>
                  </a:cubicBezTo>
                  <a:lnTo>
                    <a:pt x="4058107" y="2227456"/>
                  </a:lnTo>
                  <a:cubicBezTo>
                    <a:pt x="4058107" y="2238904"/>
                    <a:pt x="4053560" y="2249882"/>
                    <a:pt x="4045465" y="2257977"/>
                  </a:cubicBezTo>
                  <a:cubicBezTo>
                    <a:pt x="4037371" y="2266071"/>
                    <a:pt x="4026392" y="2270619"/>
                    <a:pt x="4014945" y="2270619"/>
                  </a:cubicBezTo>
                  <a:lnTo>
                    <a:pt x="43162" y="2270619"/>
                  </a:lnTo>
                  <a:cubicBezTo>
                    <a:pt x="19324" y="2270619"/>
                    <a:pt x="0" y="2251294"/>
                    <a:pt x="0" y="2227456"/>
                  </a:cubicBezTo>
                  <a:lnTo>
                    <a:pt x="0" y="43162"/>
                  </a:lnTo>
                  <a:cubicBezTo>
                    <a:pt x="0" y="19324"/>
                    <a:pt x="19324" y="0"/>
                    <a:pt x="43162" y="0"/>
                  </a:cubicBezTo>
                  <a:close/>
                </a:path>
              </a:pathLst>
            </a:custGeom>
            <a:solidFill>
              <a:srgbClr val="FAFAFA"/>
            </a:solidFill>
          </p:spPr>
        </p:sp>
        <p:sp>
          <p:nvSpPr>
            <p:cNvPr id="4" name="TextBox 4"/>
            <p:cNvSpPr txBox="1"/>
            <p:nvPr/>
          </p:nvSpPr>
          <p:spPr>
            <a:xfrm>
              <a:off x="0" y="-57150"/>
              <a:ext cx="4058107" cy="2327769"/>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8516259" y="2952384"/>
            <a:ext cx="7593221" cy="3601436"/>
          </a:xfrm>
          <a:prstGeom prst="rect">
            <a:avLst/>
          </a:prstGeom>
        </p:spPr>
        <p:txBody>
          <a:bodyPr lIns="0" tIns="0" rIns="0" bIns="0" rtlCol="0" anchor="t">
            <a:spAutoFit/>
          </a:bodyPr>
          <a:lstStyle/>
          <a:p>
            <a:pPr algn="l">
              <a:lnSpc>
                <a:spcPts val="13517"/>
              </a:lnSpc>
            </a:pPr>
            <a:r>
              <a:rPr lang="en-US" sz="16091" b="1">
                <a:solidFill>
                  <a:srgbClr val="000000"/>
                </a:solidFill>
                <a:latin typeface="Garet Bold"/>
                <a:ea typeface="Garet Bold"/>
                <a:cs typeface="Garet Bold"/>
                <a:sym typeface="Garet Bold"/>
              </a:rPr>
              <a:t>THANK YOU</a:t>
            </a:r>
          </a:p>
        </p:txBody>
      </p:sp>
      <p:sp>
        <p:nvSpPr>
          <p:cNvPr id="6" name="TextBox 6"/>
          <p:cNvSpPr txBox="1"/>
          <p:nvPr/>
        </p:nvSpPr>
        <p:spPr>
          <a:xfrm>
            <a:off x="8159132" y="6849917"/>
            <a:ext cx="3113277" cy="459101"/>
          </a:xfrm>
          <a:prstGeom prst="rect">
            <a:avLst/>
          </a:prstGeom>
        </p:spPr>
        <p:txBody>
          <a:bodyPr lIns="0" tIns="0" rIns="0" bIns="0" rtlCol="0" anchor="t">
            <a:spAutoFit/>
          </a:bodyPr>
          <a:lstStyle/>
          <a:p>
            <a:pPr algn="l">
              <a:lnSpc>
                <a:spcPts val="3282"/>
              </a:lnSpc>
            </a:pPr>
            <a:r>
              <a:rPr lang="en-US" sz="3282" b="1">
                <a:solidFill>
                  <a:srgbClr val="000000"/>
                </a:solidFill>
                <a:latin typeface="Poppins Bold"/>
                <a:ea typeface="Poppins Bold"/>
                <a:cs typeface="Poppins Bold"/>
                <a:sym typeface="Poppins Bold"/>
              </a:rPr>
              <a:t>Presented By: </a:t>
            </a:r>
          </a:p>
        </p:txBody>
      </p:sp>
      <p:sp>
        <p:nvSpPr>
          <p:cNvPr id="7" name="TextBox 7"/>
          <p:cNvSpPr txBox="1"/>
          <p:nvPr/>
        </p:nvSpPr>
        <p:spPr>
          <a:xfrm>
            <a:off x="8159132" y="7431592"/>
            <a:ext cx="4881424" cy="1286749"/>
          </a:xfrm>
          <a:prstGeom prst="rect">
            <a:avLst/>
          </a:prstGeom>
        </p:spPr>
        <p:txBody>
          <a:bodyPr lIns="0" tIns="0" rIns="0" bIns="0" rtlCol="0" anchor="t">
            <a:spAutoFit/>
          </a:bodyPr>
          <a:lstStyle/>
          <a:p>
            <a:pPr algn="l">
              <a:lnSpc>
                <a:spcPts val="3282"/>
              </a:lnSpc>
            </a:pPr>
            <a:r>
              <a:rPr lang="en-US" sz="3282">
                <a:solidFill>
                  <a:srgbClr val="000000"/>
                </a:solidFill>
                <a:latin typeface="Poppins"/>
                <a:ea typeface="Poppins"/>
                <a:cs typeface="Poppins"/>
                <a:sym typeface="Poppins"/>
              </a:rPr>
              <a:t>Cas, Alexandre</a:t>
            </a:r>
          </a:p>
          <a:p>
            <a:pPr algn="l">
              <a:lnSpc>
                <a:spcPts val="3282"/>
              </a:lnSpc>
            </a:pPr>
            <a:r>
              <a:rPr lang="en-US" sz="3282">
                <a:solidFill>
                  <a:srgbClr val="000000"/>
                </a:solidFill>
                <a:latin typeface="Poppins"/>
                <a:ea typeface="Poppins"/>
                <a:cs typeface="Poppins"/>
                <a:sym typeface="Poppins"/>
              </a:rPr>
              <a:t>Gabon, Rachelle</a:t>
            </a:r>
          </a:p>
          <a:p>
            <a:pPr algn="l">
              <a:lnSpc>
                <a:spcPts val="3282"/>
              </a:lnSpc>
            </a:pPr>
            <a:r>
              <a:rPr lang="en-US" sz="3282">
                <a:solidFill>
                  <a:srgbClr val="000000"/>
                </a:solidFill>
                <a:latin typeface="Poppins"/>
                <a:ea typeface="Poppins"/>
                <a:cs typeface="Poppins"/>
                <a:sym typeface="Poppins"/>
              </a:rPr>
              <a:t>Lomerio, Jasmin Kylle</a:t>
            </a:r>
          </a:p>
        </p:txBody>
      </p:sp>
      <p:sp>
        <p:nvSpPr>
          <p:cNvPr id="8" name="Freeform 8"/>
          <p:cNvSpPr/>
          <p:nvPr/>
        </p:nvSpPr>
        <p:spPr>
          <a:xfrm>
            <a:off x="1036700" y="1992467"/>
            <a:ext cx="6804242" cy="6586941"/>
          </a:xfrm>
          <a:custGeom>
            <a:avLst/>
            <a:gdLst/>
            <a:ahLst/>
            <a:cxnLst/>
            <a:rect l="l" t="t" r="r" b="b"/>
            <a:pathLst>
              <a:path w="6804242" h="6586941">
                <a:moveTo>
                  <a:pt x="0" y="0"/>
                </a:moveTo>
                <a:lnTo>
                  <a:pt x="6804242" y="0"/>
                </a:lnTo>
                <a:lnTo>
                  <a:pt x="6804242" y="6586941"/>
                </a:lnTo>
                <a:lnTo>
                  <a:pt x="0" y="6586941"/>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1699218" y="2805290"/>
            <a:ext cx="5479206" cy="5774118"/>
            <a:chOff x="0" y="0"/>
            <a:chExt cx="812800" cy="856548"/>
          </a:xfrm>
        </p:grpSpPr>
        <p:sp>
          <p:nvSpPr>
            <p:cNvPr id="10" name="Freeform 10"/>
            <p:cNvSpPr/>
            <p:nvPr/>
          </p:nvSpPr>
          <p:spPr>
            <a:xfrm>
              <a:off x="0" y="0"/>
              <a:ext cx="812800" cy="856548"/>
            </a:xfrm>
            <a:custGeom>
              <a:avLst/>
              <a:gdLst/>
              <a:ahLst/>
              <a:cxnLst/>
              <a:rect l="l" t="t" r="r" b="b"/>
              <a:pathLst>
                <a:path w="812800" h="856548">
                  <a:moveTo>
                    <a:pt x="406400" y="0"/>
                  </a:moveTo>
                  <a:cubicBezTo>
                    <a:pt x="181951" y="0"/>
                    <a:pt x="0" y="191745"/>
                    <a:pt x="0" y="428274"/>
                  </a:cubicBezTo>
                  <a:cubicBezTo>
                    <a:pt x="0" y="664803"/>
                    <a:pt x="181951" y="856548"/>
                    <a:pt x="406400" y="856548"/>
                  </a:cubicBezTo>
                  <a:cubicBezTo>
                    <a:pt x="630849" y="856548"/>
                    <a:pt x="812800" y="664803"/>
                    <a:pt x="812800" y="428274"/>
                  </a:cubicBezTo>
                  <a:cubicBezTo>
                    <a:pt x="812800" y="191745"/>
                    <a:pt x="630849" y="0"/>
                    <a:pt x="406400" y="0"/>
                  </a:cubicBezTo>
                  <a:close/>
                </a:path>
              </a:pathLst>
            </a:custGeom>
            <a:blipFill>
              <a:blip r:embed="rId3"/>
              <a:stretch>
                <a:fillRect l="-37818" r="-37818"/>
              </a:stretch>
            </a:blipFill>
            <a:ln w="152400" cap="sq">
              <a:solidFill>
                <a:srgbClr val="470691"/>
              </a:solidFill>
              <a:prstDash val="solid"/>
              <a:miter/>
            </a:ln>
          </p:spPr>
        </p:sp>
      </p:grpSp>
      <p:sp>
        <p:nvSpPr>
          <p:cNvPr id="11" name="Freeform 11"/>
          <p:cNvSpPr/>
          <p:nvPr/>
        </p:nvSpPr>
        <p:spPr>
          <a:xfrm>
            <a:off x="1028700" y="1889687"/>
            <a:ext cx="1074607" cy="1074607"/>
          </a:xfrm>
          <a:custGeom>
            <a:avLst/>
            <a:gdLst/>
            <a:ahLst/>
            <a:cxnLst/>
            <a:rect l="l" t="t" r="r" b="b"/>
            <a:pathLst>
              <a:path w="1074607" h="1074607">
                <a:moveTo>
                  <a:pt x="0" y="0"/>
                </a:moveTo>
                <a:lnTo>
                  <a:pt x="1074607" y="0"/>
                </a:lnTo>
                <a:lnTo>
                  <a:pt x="1074607" y="1074607"/>
                </a:lnTo>
                <a:lnTo>
                  <a:pt x="0" y="1074607"/>
                </a:lnTo>
                <a:lnTo>
                  <a:pt x="0" y="0"/>
                </a:lnTo>
                <a:close/>
              </a:path>
            </a:pathLst>
          </a:custGeom>
          <a:blipFill>
            <a:blip>
              <a:alphaModFix amt="7999"/>
              <a:extLst>
                <a:ext uri="{96DAC541-7B7A-43D3-8B79-37D633B846F1}">
                  <asvg:svgBlip xmlns:asvg="http://schemas.microsoft.com/office/drawing/2016/SVG/main" r:embed="rId4"/>
                </a:ext>
              </a:extLst>
            </a:blip>
            <a:stretch>
              <a:fillRect/>
            </a:stretch>
          </a:blipFill>
        </p:spPr>
      </p:sp>
      <p:sp>
        <p:nvSpPr>
          <p:cNvPr id="12" name="Freeform 12"/>
          <p:cNvSpPr/>
          <p:nvPr/>
        </p:nvSpPr>
        <p:spPr>
          <a:xfrm>
            <a:off x="16354002" y="2755302"/>
            <a:ext cx="5061270" cy="5061270"/>
          </a:xfrm>
          <a:custGeom>
            <a:avLst/>
            <a:gdLst/>
            <a:ahLst/>
            <a:cxnLst/>
            <a:rect l="l" t="t" r="r" b="b"/>
            <a:pathLst>
              <a:path w="5061270" h="5061270">
                <a:moveTo>
                  <a:pt x="0" y="0"/>
                </a:moveTo>
                <a:lnTo>
                  <a:pt x="5061270" y="0"/>
                </a:lnTo>
                <a:lnTo>
                  <a:pt x="5061270" y="5061270"/>
                </a:lnTo>
                <a:lnTo>
                  <a:pt x="0" y="5061270"/>
                </a:lnTo>
                <a:lnTo>
                  <a:pt x="0" y="0"/>
                </a:lnTo>
                <a:close/>
              </a:path>
            </a:pathLst>
          </a:custGeom>
          <a:blipFill>
            <a:blip>
              <a:alphaModFix amt="6000"/>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3040557" y="7431592"/>
            <a:ext cx="4881424" cy="1286749"/>
          </a:xfrm>
          <a:prstGeom prst="rect">
            <a:avLst/>
          </a:prstGeom>
        </p:spPr>
        <p:txBody>
          <a:bodyPr lIns="0" tIns="0" rIns="0" bIns="0" rtlCol="0" anchor="t">
            <a:spAutoFit/>
          </a:bodyPr>
          <a:lstStyle/>
          <a:p>
            <a:pPr algn="l">
              <a:lnSpc>
                <a:spcPts val="3282"/>
              </a:lnSpc>
            </a:pPr>
            <a:r>
              <a:rPr lang="en-US" sz="3282">
                <a:solidFill>
                  <a:srgbClr val="000000"/>
                </a:solidFill>
                <a:latin typeface="Poppins"/>
                <a:ea typeface="Poppins"/>
                <a:cs typeface="Poppins"/>
                <a:sym typeface="Poppins"/>
              </a:rPr>
              <a:t>Merenciano, Krisscel</a:t>
            </a:r>
          </a:p>
          <a:p>
            <a:pPr algn="l">
              <a:lnSpc>
                <a:spcPts val="3282"/>
              </a:lnSpc>
            </a:pPr>
            <a:r>
              <a:rPr lang="en-US" sz="3282">
                <a:solidFill>
                  <a:srgbClr val="000000"/>
                </a:solidFill>
                <a:latin typeface="Poppins"/>
                <a:ea typeface="Poppins"/>
                <a:cs typeface="Poppins"/>
                <a:sym typeface="Poppins"/>
              </a:rPr>
              <a:t>Moral, Kathleen</a:t>
            </a:r>
          </a:p>
          <a:p>
            <a:pPr algn="l">
              <a:lnSpc>
                <a:spcPts val="3282"/>
              </a:lnSpc>
            </a:pPr>
            <a:r>
              <a:rPr lang="en-US" sz="3282">
                <a:solidFill>
                  <a:srgbClr val="000000"/>
                </a:solidFill>
                <a:latin typeface="Poppins"/>
                <a:ea typeface="Poppins"/>
                <a:cs typeface="Poppins"/>
                <a:sym typeface="Poppins"/>
              </a:rPr>
              <a:t>Murillo, 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1141</Words>
  <Application>Microsoft Office PowerPoint</Application>
  <PresentationFormat>Custom</PresentationFormat>
  <Paragraphs>178</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Calibri</vt:lpstr>
      <vt:lpstr>Poppins Bold</vt:lpstr>
      <vt:lpstr>Arial</vt:lpstr>
      <vt:lpstr>Garet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Networking</dc:title>
  <cp:lastModifiedBy>Jasmin kylle Lomerio</cp:lastModifiedBy>
  <cp:revision>2</cp:revision>
  <dcterms:created xsi:type="dcterms:W3CDTF">2006-08-16T00:00:00Z</dcterms:created>
  <dcterms:modified xsi:type="dcterms:W3CDTF">2026-04-21T23:43:31Z</dcterms:modified>
  <dc:identifier>DAHHBR9OU2c</dc:identifier>
</cp:coreProperties>
</file>