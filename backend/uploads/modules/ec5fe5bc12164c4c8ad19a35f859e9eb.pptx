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0"/>
  </p:notesMasterIdLst>
  <p:sldIdLst>
    <p:sldId id="258" r:id="rId2"/>
    <p:sldId id="297" r:id="rId3"/>
    <p:sldId id="298" r:id="rId4"/>
    <p:sldId id="299" r:id="rId5"/>
    <p:sldId id="300" r:id="rId6"/>
    <p:sldId id="301" r:id="rId7"/>
    <p:sldId id="302" r:id="rId8"/>
    <p:sldId id="294" r:id="rId9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1"/>
    </p:embeddedFont>
    <p:embeddedFont>
      <p:font typeface="Bodoni MT Black" panose="02070A03080606020203" pitchFamily="18" charset="0"/>
      <p:bold r:id="rId12"/>
      <p:boldItalic r:id="rId13"/>
    </p:embeddedFont>
    <p:embeddedFont>
      <p:font typeface="Catamaran" panose="020B0604020202020204" charset="0"/>
      <p:regular r:id="rId14"/>
      <p:bold r:id="rId15"/>
    </p:embeddedFont>
    <p:embeddedFont>
      <p:font typeface="Catamaran Thin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EC2C83-4F27-46E9-AB52-EA9CB43B9D6F}">
  <a:tblStyle styleId="{93EC2C83-4F27-46E9-AB52-EA9CB43B9D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77553AC-1573-4A18-AE2D-678138A4FA2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6" autoAdjust="0"/>
    <p:restoredTop sz="94660"/>
  </p:normalViewPr>
  <p:slideViewPr>
    <p:cSldViewPr snapToGrid="0">
      <p:cViewPr varScale="1">
        <p:scale>
          <a:sx n="93" d="100"/>
          <a:sy n="93" d="100"/>
        </p:scale>
        <p:origin x="4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56C00955-D3AD-AB5A-CE30-EFD92007F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>
            <a:extLst>
              <a:ext uri="{FF2B5EF4-FFF2-40B4-BE49-F238E27FC236}">
                <a16:creationId xmlns:a16="http://schemas.microsoft.com/office/drawing/2014/main" id="{534A86A9-B24D-2C16-CA6C-F5E60589B6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>
            <a:extLst>
              <a:ext uri="{FF2B5EF4-FFF2-40B4-BE49-F238E27FC236}">
                <a16:creationId xmlns:a16="http://schemas.microsoft.com/office/drawing/2014/main" id="{D3BA85FD-99C8-6413-B16B-CE7A9F1ACC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7424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36CDFCF4-9A7C-FC76-0294-C2CC89F59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>
            <a:extLst>
              <a:ext uri="{FF2B5EF4-FFF2-40B4-BE49-F238E27FC236}">
                <a16:creationId xmlns:a16="http://schemas.microsoft.com/office/drawing/2014/main" id="{278EB1D4-6EAE-B030-30FF-4BF0BB30E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>
            <a:extLst>
              <a:ext uri="{FF2B5EF4-FFF2-40B4-BE49-F238E27FC236}">
                <a16:creationId xmlns:a16="http://schemas.microsoft.com/office/drawing/2014/main" id="{6A89FB3C-4118-5DCC-B9BA-E43A43A596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6111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14ABB953-2420-99D3-EFF2-E450050B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>
            <a:extLst>
              <a:ext uri="{FF2B5EF4-FFF2-40B4-BE49-F238E27FC236}">
                <a16:creationId xmlns:a16="http://schemas.microsoft.com/office/drawing/2014/main" id="{A404797B-A7ED-E7CA-A1B2-4FDF329256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>
            <a:extLst>
              <a:ext uri="{FF2B5EF4-FFF2-40B4-BE49-F238E27FC236}">
                <a16:creationId xmlns:a16="http://schemas.microsoft.com/office/drawing/2014/main" id="{80EA4E20-77AC-A936-C241-F4DA770895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3224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1A6EB75F-8950-65A2-69A6-9E020510E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>
            <a:extLst>
              <a:ext uri="{FF2B5EF4-FFF2-40B4-BE49-F238E27FC236}">
                <a16:creationId xmlns:a16="http://schemas.microsoft.com/office/drawing/2014/main" id="{1DFDD205-1DA3-80B0-74AB-3629B23AA7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>
            <a:extLst>
              <a:ext uri="{FF2B5EF4-FFF2-40B4-BE49-F238E27FC236}">
                <a16:creationId xmlns:a16="http://schemas.microsoft.com/office/drawing/2014/main" id="{C64C3862-916D-3557-B4F4-E6F34E3F73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966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4FBE39B6-1A71-0515-36E4-E6E800AFC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>
            <a:extLst>
              <a:ext uri="{FF2B5EF4-FFF2-40B4-BE49-F238E27FC236}">
                <a16:creationId xmlns:a16="http://schemas.microsoft.com/office/drawing/2014/main" id="{F6AE72A1-E2B8-E971-F57A-02565FC0C0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>
            <a:extLst>
              <a:ext uri="{FF2B5EF4-FFF2-40B4-BE49-F238E27FC236}">
                <a16:creationId xmlns:a16="http://schemas.microsoft.com/office/drawing/2014/main" id="{30E50E33-DEF0-3B58-D3CD-AF571B0DE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4362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3B2F33EF-9F58-A3E5-95E8-602F9718B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>
            <a:extLst>
              <a:ext uri="{FF2B5EF4-FFF2-40B4-BE49-F238E27FC236}">
                <a16:creationId xmlns:a16="http://schemas.microsoft.com/office/drawing/2014/main" id="{C812DE4B-1193-37DC-345D-3E5C90E0ED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>
            <a:extLst>
              <a:ext uri="{FF2B5EF4-FFF2-40B4-BE49-F238E27FC236}">
                <a16:creationId xmlns:a16="http://schemas.microsoft.com/office/drawing/2014/main" id="{D24D7805-BDA2-F2B8-990D-FACB08EBC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9316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/>
          <p:nvPr/>
        </p:nvSpPr>
        <p:spPr>
          <a:xfrm>
            <a:off x="-45517" y="689752"/>
            <a:ext cx="624020" cy="68879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89" name="Google Shape;89;p6"/>
          <p:cNvGrpSpPr/>
          <p:nvPr/>
        </p:nvGrpSpPr>
        <p:grpSpPr>
          <a:xfrm>
            <a:off x="6320991" y="-7"/>
            <a:ext cx="3630818" cy="5143498"/>
            <a:chOff x="6320991" y="-7"/>
            <a:chExt cx="3630818" cy="5143498"/>
          </a:xfrm>
        </p:grpSpPr>
        <p:sp>
          <p:nvSpPr>
            <p:cNvPr id="90" name="Google Shape;90;p6"/>
            <p:cNvSpPr/>
            <p:nvPr/>
          </p:nvSpPr>
          <p:spPr>
            <a:xfrm>
              <a:off x="6320991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7806636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8548210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3" name="Google Shape;93;p6"/>
            <p:cNvSpPr/>
            <p:nvPr/>
          </p:nvSpPr>
          <p:spPr>
            <a:xfrm rot="10800000">
              <a:off x="7806422" y="30"/>
              <a:ext cx="1404540" cy="515400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7806643" y="1543679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7065077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8745616" y="1335143"/>
              <a:ext cx="835681" cy="92246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7133773" y="3941724"/>
              <a:ext cx="507445" cy="5601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8" name="Google Shape;98;p6"/>
            <p:cNvSpPr/>
            <p:nvPr/>
          </p:nvSpPr>
          <p:spPr>
            <a:xfrm rot="10800000">
              <a:off x="7406482" y="-7"/>
              <a:ext cx="720792" cy="527782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7331887" y="2181982"/>
              <a:ext cx="962029" cy="106196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8548210" y="2833077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101" name="Google Shape;101;p6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6"/>
          <p:cNvSpPr txBox="1">
            <a:spLocks noGrp="1"/>
          </p:cNvSpPr>
          <p:nvPr>
            <p:ph type="body" idx="1"/>
          </p:nvPr>
        </p:nvSpPr>
        <p:spPr>
          <a:xfrm>
            <a:off x="779075" y="1503550"/>
            <a:ext cx="28083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20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20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03" name="Google Shape;103;p6"/>
          <p:cNvSpPr txBox="1">
            <a:spLocks noGrp="1"/>
          </p:cNvSpPr>
          <p:nvPr>
            <p:ph type="body" idx="2"/>
          </p:nvPr>
        </p:nvSpPr>
        <p:spPr>
          <a:xfrm>
            <a:off x="3981304" y="1503550"/>
            <a:ext cx="28083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20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20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0"/>
          <p:cNvGrpSpPr/>
          <p:nvPr/>
        </p:nvGrpSpPr>
        <p:grpSpPr>
          <a:xfrm>
            <a:off x="-981075" y="-3"/>
            <a:ext cx="11516344" cy="5143455"/>
            <a:chOff x="-981075" y="-3"/>
            <a:chExt cx="11516344" cy="5143455"/>
          </a:xfrm>
        </p:grpSpPr>
        <p:sp>
          <p:nvSpPr>
            <p:cNvPr id="159" name="Google Shape;159;p10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0" name="Google Shape;160;p10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1" name="Google Shape;161;p10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2" name="Google Shape;162;p10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3" name="Google Shape;163;p10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4" name="Google Shape;164;p10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5" name="Google Shape;165;p10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6" name="Google Shape;166;p10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7" name="Google Shape;167;p10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8" name="Google Shape;168;p10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9" name="Google Shape;169;p10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0" name="Google Shape;170;p10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171" name="Google Shape;171;p1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olor background">
  <p:cSld name="BLANK_1">
    <p:bg>
      <p:bgPr>
        <a:solidFill>
          <a:schemeClr val="accen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4" name="Google Shape;174;p11"/>
          <p:cNvGrpSpPr/>
          <p:nvPr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175" name="Google Shape;175;p11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6" name="Google Shape;176;p11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7" name="Google Shape;177;p11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⬢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1pPr>
            <a:lvl2pPr marL="914400" lvl="1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2pPr>
            <a:lvl3pPr marL="1371600" lvl="2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6" r:id="rId2"/>
    <p:sldLayoutId id="2147483657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 txBox="1">
            <a:spLocks/>
          </p:cNvSpPr>
          <p:nvPr/>
        </p:nvSpPr>
        <p:spPr>
          <a:xfrm>
            <a:off x="489535" y="1057274"/>
            <a:ext cx="7302404" cy="1860605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PH" sz="6000" b="1" dirty="0">
                <a:solidFill>
                  <a:schemeClr val="accent2">
                    <a:lumMod val="50000"/>
                  </a:schemeClr>
                </a:solidFill>
                <a:latin typeface="Bodoni MT Black" panose="02070A03080606020203" pitchFamily="18" charset="0"/>
              </a:rPr>
              <a:t>Basics of Power </a:t>
            </a:r>
            <a:endParaRPr lang="en-PH" sz="6000" dirty="0">
              <a:solidFill>
                <a:schemeClr val="accent2">
                  <a:lumMod val="50000"/>
                </a:schemeClr>
              </a:solidFill>
              <a:latin typeface="Bodoni MT Black" panose="02070A03080606020203" pitchFamily="18" charset="0"/>
            </a:endParaRPr>
          </a:p>
          <a:p>
            <a:r>
              <a:rPr lang="en-PH" sz="6000" b="1" dirty="0">
                <a:solidFill>
                  <a:schemeClr val="accent2">
                    <a:lumMod val="50000"/>
                  </a:schemeClr>
                </a:solidFill>
                <a:latin typeface="Bodoni MT Black" panose="02070A03080606020203" pitchFamily="18" charset="0"/>
              </a:rPr>
              <a:t>Supply Unit </a:t>
            </a:r>
            <a:endParaRPr lang="en-PH" sz="6000" dirty="0">
              <a:solidFill>
                <a:schemeClr val="accent2">
                  <a:lumMod val="50000"/>
                </a:schemeClr>
              </a:solidFill>
              <a:latin typeface="Bodoni MT Black" panose="02070A03080606020203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3FC808-BFF3-1581-CBE1-586AFE2AAD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82" t="15629" r="3335" b="15228"/>
          <a:stretch>
            <a:fillRect/>
          </a:stretch>
        </p:blipFill>
        <p:spPr>
          <a:xfrm>
            <a:off x="5238153" y="2843171"/>
            <a:ext cx="2714625" cy="2005685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5" name="Google Shape;992;p47">
            <a:extLst>
              <a:ext uri="{FF2B5EF4-FFF2-40B4-BE49-F238E27FC236}">
                <a16:creationId xmlns:a16="http://schemas.microsoft.com/office/drawing/2014/main" id="{BECA3521-6553-D1F3-5093-B9385FE836ED}"/>
              </a:ext>
            </a:extLst>
          </p:cNvPr>
          <p:cNvGrpSpPr/>
          <p:nvPr/>
        </p:nvGrpSpPr>
        <p:grpSpPr>
          <a:xfrm>
            <a:off x="6897395" y="1425568"/>
            <a:ext cx="1139981" cy="1469958"/>
            <a:chOff x="6730350" y="2315900"/>
            <a:chExt cx="257700" cy="42010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6" name="Google Shape;993;p47">
              <a:extLst>
                <a:ext uri="{FF2B5EF4-FFF2-40B4-BE49-F238E27FC236}">
                  <a16:creationId xmlns:a16="http://schemas.microsoft.com/office/drawing/2014/main" id="{2C2B4481-171F-9F75-CF4A-3E1CDE7ABD59}"/>
                </a:ext>
              </a:extLst>
            </p:cNvPr>
            <p:cNvSpPr/>
            <p:nvPr/>
          </p:nvSpPr>
          <p:spPr>
            <a:xfrm>
              <a:off x="6807900" y="26712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" name="Google Shape;994;p47">
              <a:extLst>
                <a:ext uri="{FF2B5EF4-FFF2-40B4-BE49-F238E27FC236}">
                  <a16:creationId xmlns:a16="http://schemas.microsoft.com/office/drawing/2014/main" id="{9A6D66CF-EBEB-6EF6-913A-FFDBFA4DE765}"/>
                </a:ext>
              </a:extLst>
            </p:cNvPr>
            <p:cNvSpPr/>
            <p:nvPr/>
          </p:nvSpPr>
          <p:spPr>
            <a:xfrm>
              <a:off x="6807900" y="26364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995;p47">
              <a:extLst>
                <a:ext uri="{FF2B5EF4-FFF2-40B4-BE49-F238E27FC236}">
                  <a16:creationId xmlns:a16="http://schemas.microsoft.com/office/drawing/2014/main" id="{98DDA66A-DA77-E3AC-E185-C84A0963B1E9}"/>
                </a:ext>
              </a:extLst>
            </p:cNvPr>
            <p:cNvSpPr/>
            <p:nvPr/>
          </p:nvSpPr>
          <p:spPr>
            <a:xfrm>
              <a:off x="6807900" y="2706075"/>
              <a:ext cx="102600" cy="29925"/>
            </a:xfrm>
            <a:custGeom>
              <a:avLst/>
              <a:gdLst/>
              <a:ahLst/>
              <a:cxnLst/>
              <a:rect l="l" t="t" r="r" b="b"/>
              <a:pathLst>
                <a:path w="4104" h="1197" extrusionOk="0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" name="Google Shape;996;p47">
              <a:extLst>
                <a:ext uri="{FF2B5EF4-FFF2-40B4-BE49-F238E27FC236}">
                  <a16:creationId xmlns:a16="http://schemas.microsoft.com/office/drawing/2014/main" id="{B276A6FC-BB3A-96B0-66D4-CEA57AFD3A21}"/>
                </a:ext>
              </a:extLst>
            </p:cNvPr>
            <p:cNvSpPr/>
            <p:nvPr/>
          </p:nvSpPr>
          <p:spPr>
            <a:xfrm>
              <a:off x="6811575" y="2463675"/>
              <a:ext cx="95275" cy="160600"/>
            </a:xfrm>
            <a:custGeom>
              <a:avLst/>
              <a:gdLst/>
              <a:ahLst/>
              <a:cxnLst/>
              <a:rect l="l" t="t" r="r" b="b"/>
              <a:pathLst>
                <a:path w="3811" h="6424" extrusionOk="0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" name="Google Shape;997;p47">
              <a:extLst>
                <a:ext uri="{FF2B5EF4-FFF2-40B4-BE49-F238E27FC236}">
                  <a16:creationId xmlns:a16="http://schemas.microsoft.com/office/drawing/2014/main" id="{4529F7B3-5CE4-C1A9-1BC0-1560E59213C9}"/>
                </a:ext>
              </a:extLst>
            </p:cNvPr>
            <p:cNvSpPr/>
            <p:nvPr/>
          </p:nvSpPr>
          <p:spPr>
            <a:xfrm>
              <a:off x="6730350" y="2315900"/>
              <a:ext cx="257700" cy="308375"/>
            </a:xfrm>
            <a:custGeom>
              <a:avLst/>
              <a:gdLst/>
              <a:ahLst/>
              <a:cxnLst/>
              <a:rect l="l" t="t" r="r" b="b"/>
              <a:pathLst>
                <a:path w="10308" h="12335" extrusionOk="0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" name="Google Shape;1010;p47">
            <a:extLst>
              <a:ext uri="{FF2B5EF4-FFF2-40B4-BE49-F238E27FC236}">
                <a16:creationId xmlns:a16="http://schemas.microsoft.com/office/drawing/2014/main" id="{C1C53707-F463-6988-1E22-9CA84C24A8DA}"/>
              </a:ext>
            </a:extLst>
          </p:cNvPr>
          <p:cNvGrpSpPr/>
          <p:nvPr/>
        </p:nvGrpSpPr>
        <p:grpSpPr>
          <a:xfrm>
            <a:off x="5878706" y="190031"/>
            <a:ext cx="1767425" cy="1235537"/>
            <a:chOff x="5255200" y="3006475"/>
            <a:chExt cx="511700" cy="378575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Google Shape;1011;p47">
              <a:extLst>
                <a:ext uri="{FF2B5EF4-FFF2-40B4-BE49-F238E27FC236}">
                  <a16:creationId xmlns:a16="http://schemas.microsoft.com/office/drawing/2014/main" id="{30907E7F-FD84-825B-22EF-0BB5CE69E94B}"/>
                </a:ext>
              </a:extLst>
            </p:cNvPr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l" t="t" r="r" b="b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" name="Google Shape;1012;p47">
              <a:extLst>
                <a:ext uri="{FF2B5EF4-FFF2-40B4-BE49-F238E27FC236}">
                  <a16:creationId xmlns:a16="http://schemas.microsoft.com/office/drawing/2014/main" id="{22FE0894-B482-6486-A574-DD386CF4630F}"/>
                </a:ext>
              </a:extLst>
            </p:cNvPr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l" t="t" r="r" b="b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>
          <a:extLst>
            <a:ext uri="{FF2B5EF4-FFF2-40B4-BE49-F238E27FC236}">
              <a16:creationId xmlns:a16="http://schemas.microsoft.com/office/drawing/2014/main" id="{EDDC2145-DA7C-A1C4-2795-B4D22C399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943C62-1A63-55E0-2C5B-6558264282D1}"/>
              </a:ext>
            </a:extLst>
          </p:cNvPr>
          <p:cNvSpPr txBox="1"/>
          <p:nvPr/>
        </p:nvSpPr>
        <p:spPr>
          <a:xfrm>
            <a:off x="735646" y="467514"/>
            <a:ext cx="7817089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PH" sz="2500" b="1" dirty="0">
                <a:latin typeface="Arial Black" panose="020B0A04020102020204" pitchFamily="34" charset="0"/>
              </a:rPr>
              <a:t>What is a Power Supply Unit (PSU)?</a:t>
            </a:r>
          </a:p>
          <a:p>
            <a:pPr algn="just"/>
            <a:endParaRPr lang="en-PH" sz="2000" dirty="0"/>
          </a:p>
          <a:p>
            <a:pPr marL="342900" indent="-342900" algn="just"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PH" sz="2000" dirty="0"/>
              <a:t>A Power Supply Unit (PSU) is an electronic device that provides the electrical power needed by a computer and its components.</a:t>
            </a:r>
          </a:p>
          <a:p>
            <a:pPr marL="342900" indent="-342900" algn="just"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q"/>
            </a:pPr>
            <a:endParaRPr lang="en-PH" sz="2000" dirty="0"/>
          </a:p>
          <a:p>
            <a:pPr marL="342900" indent="-342900" algn="just"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PH" sz="2000" dirty="0"/>
              <a:t>The PSU converts the AC electrical power from the wall outlet into the DC voltages required by computer components, such as the motherboard, processor, storage devices, fans, and other hardware.</a:t>
            </a:r>
          </a:p>
        </p:txBody>
      </p:sp>
    </p:spTree>
    <p:extLst>
      <p:ext uri="{BB962C8B-B14F-4D97-AF65-F5344CB8AC3E}">
        <p14:creationId xmlns:p14="http://schemas.microsoft.com/office/powerpoint/2010/main" val="564625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>
          <a:extLst>
            <a:ext uri="{FF2B5EF4-FFF2-40B4-BE49-F238E27FC236}">
              <a16:creationId xmlns:a16="http://schemas.microsoft.com/office/drawing/2014/main" id="{7FB6E641-6536-BB14-6ED4-9E9514D75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C0A198-5399-3C4D-24D1-375C39E3C5C1}"/>
              </a:ext>
            </a:extLst>
          </p:cNvPr>
          <p:cNvSpPr txBox="1"/>
          <p:nvPr/>
        </p:nvSpPr>
        <p:spPr>
          <a:xfrm>
            <a:off x="735645" y="165006"/>
            <a:ext cx="7817089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Arial Black" panose="020B0A04020102020204" pitchFamily="34" charset="0"/>
              </a:rPr>
              <a:t>Types of Power Supply Unit</a:t>
            </a:r>
          </a:p>
          <a:p>
            <a:endParaRPr lang="en-PH" dirty="0"/>
          </a:p>
          <a:p>
            <a:endParaRPr lang="en-PH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527982-7CCE-CD22-8C3E-0B8592DAB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028996"/>
              </p:ext>
            </p:extLst>
          </p:nvPr>
        </p:nvGraphicFramePr>
        <p:xfrm>
          <a:off x="735645" y="618767"/>
          <a:ext cx="7748336" cy="4420864"/>
        </p:xfrm>
        <a:graphic>
          <a:graphicData uri="http://schemas.openxmlformats.org/drawingml/2006/table">
            <a:tbl>
              <a:tblPr>
                <a:tableStyleId>{93EC2C83-4F27-46E9-AB52-EA9CB43B9D6F}</a:tableStyleId>
              </a:tblPr>
              <a:tblGrid>
                <a:gridCol w="1306286">
                  <a:extLst>
                    <a:ext uri="{9D8B030D-6E8A-4147-A177-3AD203B41FA5}">
                      <a16:colId xmlns:a16="http://schemas.microsoft.com/office/drawing/2014/main" val="1364732566"/>
                    </a:ext>
                  </a:extLst>
                </a:gridCol>
                <a:gridCol w="2578195">
                  <a:extLst>
                    <a:ext uri="{9D8B030D-6E8A-4147-A177-3AD203B41FA5}">
                      <a16:colId xmlns:a16="http://schemas.microsoft.com/office/drawing/2014/main" val="3890236092"/>
                    </a:ext>
                  </a:extLst>
                </a:gridCol>
                <a:gridCol w="1656921">
                  <a:extLst>
                    <a:ext uri="{9D8B030D-6E8A-4147-A177-3AD203B41FA5}">
                      <a16:colId xmlns:a16="http://schemas.microsoft.com/office/drawing/2014/main" val="1866230429"/>
                    </a:ext>
                  </a:extLst>
                </a:gridCol>
                <a:gridCol w="2206934">
                  <a:extLst>
                    <a:ext uri="{9D8B030D-6E8A-4147-A177-3AD203B41FA5}">
                      <a16:colId xmlns:a16="http://schemas.microsoft.com/office/drawing/2014/main" val="1238133074"/>
                    </a:ext>
                  </a:extLst>
                </a:gridCol>
              </a:tblGrid>
              <a:tr h="248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200" b="1" dirty="0"/>
                        <a:t>Type</a:t>
                      </a:r>
                    </a:p>
                  </a:txBody>
                  <a:tcPr marL="43267" marR="43267" marT="21634" marB="216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200" b="1"/>
                        <a:t>Description</a:t>
                      </a:r>
                    </a:p>
                  </a:txBody>
                  <a:tcPr marL="43267" marR="43267" marT="21634" marB="216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200" b="1" dirty="0"/>
                        <a:t>Example</a:t>
                      </a:r>
                    </a:p>
                  </a:txBody>
                  <a:tcPr marL="43267" marR="43267" marT="21634" marB="216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Image</a:t>
                      </a:r>
                      <a:endParaRPr lang="en-PH" sz="1200" b="1" dirty="0"/>
                    </a:p>
                  </a:txBody>
                  <a:tcPr marL="43267" marR="43267" marT="21634" marB="21634" anchor="ctr"/>
                </a:tc>
                <a:extLst>
                  <a:ext uri="{0D108BD9-81ED-4DB2-BD59-A6C34878D82A}">
                    <a16:rowId xmlns:a16="http://schemas.microsoft.com/office/drawing/2014/main" val="1790561234"/>
                  </a:ext>
                </a:extLst>
              </a:tr>
              <a:tr h="807814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PH" sz="1200" b="1" dirty="0"/>
                        <a:t>Fixed Power Supply</a:t>
                      </a:r>
                    </a:p>
                  </a:txBody>
                  <a:tcPr marL="43267" marR="43267" marT="21634" marB="21634" anchor="ctr"/>
                </a:tc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200"/>
                        <a:t>Provides a constant, predetermined output voltage that cannot normally be adjusted by the user.</a:t>
                      </a:r>
                    </a:p>
                  </a:txBody>
                  <a:tcPr marL="43267" marR="43267" marT="21634" marB="21634" anchor="ctr"/>
                </a:tc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200" dirty="0"/>
                        <a:t>5 V DC, 9 V DC, or 12 V DC power supply</a:t>
                      </a:r>
                    </a:p>
                  </a:txBody>
                  <a:tcPr marL="43267" marR="43267" marT="21634" marB="21634" anchor="ctr"/>
                </a:tc>
                <a:tc>
                  <a:txBody>
                    <a:bodyPr/>
                    <a:lstStyle/>
                    <a:p>
                      <a:pPr marL="0" indent="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None/>
                      </a:pPr>
                      <a:endParaRPr lang="en-PH" sz="1200" dirty="0"/>
                    </a:p>
                  </a:txBody>
                  <a:tcPr marL="43267" marR="43267" marT="21634" marB="21634" anchor="ctr"/>
                </a:tc>
                <a:extLst>
                  <a:ext uri="{0D108BD9-81ED-4DB2-BD59-A6C34878D82A}">
                    <a16:rowId xmlns:a16="http://schemas.microsoft.com/office/drawing/2014/main" val="3485520484"/>
                  </a:ext>
                </a:extLst>
              </a:tr>
              <a:tr h="792032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 startAt="2"/>
                      </a:pPr>
                      <a:r>
                        <a:rPr lang="en-PH" sz="1200" b="1" dirty="0"/>
                        <a:t>Variable/ Adjustable Power Supply</a:t>
                      </a:r>
                    </a:p>
                  </a:txBody>
                  <a:tcPr marL="43267" marR="43267" marT="21634" marB="21634" anchor="ctr"/>
                </a:tc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200"/>
                        <a:t>Allows the user to adjust the output voltage within a certain range.</a:t>
                      </a:r>
                    </a:p>
                  </a:txBody>
                  <a:tcPr marL="43267" marR="43267" marT="21634" marB="21634" anchor="ctr"/>
                </a:tc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200" dirty="0"/>
                        <a:t>0–12 V DC adjustable power supply</a:t>
                      </a:r>
                    </a:p>
                  </a:txBody>
                  <a:tcPr marL="43267" marR="43267" marT="21634" marB="21634" anchor="ctr"/>
                </a:tc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endParaRPr lang="en-PH" sz="1200" dirty="0"/>
                    </a:p>
                  </a:txBody>
                  <a:tcPr marL="43267" marR="43267" marT="21634" marB="21634" anchor="ctr"/>
                </a:tc>
                <a:extLst>
                  <a:ext uri="{0D108BD9-81ED-4DB2-BD59-A6C34878D82A}">
                    <a16:rowId xmlns:a16="http://schemas.microsoft.com/office/drawing/2014/main" val="1424131589"/>
                  </a:ext>
                </a:extLst>
              </a:tr>
              <a:tr h="807814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 startAt="3"/>
                      </a:pPr>
                      <a:r>
                        <a:rPr lang="en-PH" sz="1200" b="1" dirty="0"/>
                        <a:t>Selectable-Voltage Power Supply</a:t>
                      </a:r>
                    </a:p>
                  </a:txBody>
                  <a:tcPr marL="43267" marR="43267" marT="21634" marB="21634" anchor="ctr"/>
                </a:tc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200" dirty="0"/>
                        <a:t>Provides several preset voltage levels that can be selected using a rotary switch or selector.</a:t>
                      </a:r>
                    </a:p>
                  </a:txBody>
                  <a:tcPr marL="43267" marR="43267" marT="21634" marB="21634" anchor="ctr"/>
                </a:tc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200" dirty="0"/>
                        <a:t>3 V, 4.5 V, 6 V, 9 V, and 12 V</a:t>
                      </a:r>
                    </a:p>
                  </a:txBody>
                  <a:tcPr marL="43267" marR="43267" marT="21634" marB="21634" anchor="ctr"/>
                </a:tc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endParaRPr lang="en-PH" sz="1200" dirty="0"/>
                    </a:p>
                  </a:txBody>
                  <a:tcPr marL="43267" marR="43267" marT="21634" marB="21634" anchor="ctr"/>
                </a:tc>
                <a:extLst>
                  <a:ext uri="{0D108BD9-81ED-4DB2-BD59-A6C34878D82A}">
                    <a16:rowId xmlns:a16="http://schemas.microsoft.com/office/drawing/2014/main" val="4143959594"/>
                  </a:ext>
                </a:extLst>
              </a:tr>
              <a:tr h="807814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 startAt="4"/>
                      </a:pPr>
                      <a:r>
                        <a:rPr lang="en-PH" sz="1200" b="1" dirty="0"/>
                        <a:t>Linear Power Supply</a:t>
                      </a:r>
                    </a:p>
                  </a:txBody>
                  <a:tcPr marL="43267" marR="43267" marT="21634" marB="21634" anchor="ctr"/>
                </a:tc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200" b="0" dirty="0"/>
                        <a:t>Uses a linear voltage regulator to maintain a stable DC output voltage.</a:t>
                      </a:r>
                    </a:p>
                  </a:txBody>
                  <a:tcPr marL="43267" marR="43267" marT="21634" marB="21634" anchor="ctr"/>
                </a:tc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200" dirty="0"/>
                        <a:t>Traditional regulated bench power supply</a:t>
                      </a:r>
                    </a:p>
                  </a:txBody>
                  <a:tcPr marL="43267" marR="43267" marT="21634" marB="21634" anchor="ctr"/>
                </a:tc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endParaRPr lang="en-PH" sz="1200" dirty="0"/>
                    </a:p>
                  </a:txBody>
                  <a:tcPr marL="43267" marR="43267" marT="21634" marB="21634" anchor="ctr"/>
                </a:tc>
                <a:extLst>
                  <a:ext uri="{0D108BD9-81ED-4DB2-BD59-A6C34878D82A}">
                    <a16:rowId xmlns:a16="http://schemas.microsoft.com/office/drawing/2014/main" val="362412003"/>
                  </a:ext>
                </a:extLst>
              </a:tr>
              <a:tr h="957255"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 startAt="5"/>
                      </a:pPr>
                      <a:r>
                        <a:rPr lang="en-PH" sz="1200" b="1" dirty="0"/>
                        <a:t>Switching Power Supply (SMPS)</a:t>
                      </a:r>
                    </a:p>
                  </a:txBody>
                  <a:tcPr marL="43267" marR="43267" marT="21634" marB="21634" anchor="ctr"/>
                </a:tc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200" dirty="0"/>
                        <a:t>Uses high-frequency electronic switching to efficiently convert electrical power into the required output voltage.</a:t>
                      </a:r>
                    </a:p>
                  </a:txBody>
                  <a:tcPr marL="43267" marR="43267" marT="21634" marB="21634" anchor="ctr"/>
                </a:tc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200" dirty="0"/>
                        <a:t>Computer ATX PSU</a:t>
                      </a:r>
                    </a:p>
                  </a:txBody>
                  <a:tcPr marL="43267" marR="43267" marT="21634" marB="21634" anchor="ctr"/>
                </a:tc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endParaRPr lang="en-PH" sz="1200" dirty="0"/>
                    </a:p>
                  </a:txBody>
                  <a:tcPr marL="43267" marR="43267" marT="21634" marB="21634" anchor="ctr"/>
                </a:tc>
                <a:extLst>
                  <a:ext uri="{0D108BD9-81ED-4DB2-BD59-A6C34878D82A}">
                    <a16:rowId xmlns:a16="http://schemas.microsoft.com/office/drawing/2014/main" val="26430608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0238A63E-BBF0-6205-39A6-11B256A07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877" y="1526722"/>
            <a:ext cx="1045028" cy="10450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688A74-E901-E838-D2ED-5B36249A8B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349" t="38630" r="17050" b="27285"/>
          <a:stretch>
            <a:fillRect/>
          </a:stretch>
        </p:blipFill>
        <p:spPr>
          <a:xfrm>
            <a:off x="6919877" y="2464405"/>
            <a:ext cx="1259512" cy="7989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C423A2-9FB9-32C4-EC04-D458D2E289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82" t="25129" r="3523" b="16057"/>
          <a:stretch>
            <a:fillRect/>
          </a:stretch>
        </p:blipFill>
        <p:spPr>
          <a:xfrm>
            <a:off x="6851124" y="3263349"/>
            <a:ext cx="1263993" cy="7959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9C170B-9ED6-6254-2310-CB30F74BFE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2531" y="4206255"/>
            <a:ext cx="1263993" cy="8209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80DD85-9EC9-60CE-948F-68E64F63E85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100" t="18984" b="11420"/>
          <a:stretch>
            <a:fillRect/>
          </a:stretch>
        </p:blipFill>
        <p:spPr>
          <a:xfrm>
            <a:off x="7070632" y="914185"/>
            <a:ext cx="894273" cy="64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310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>
          <a:extLst>
            <a:ext uri="{FF2B5EF4-FFF2-40B4-BE49-F238E27FC236}">
              <a16:creationId xmlns:a16="http://schemas.microsoft.com/office/drawing/2014/main" id="{47CB522D-0701-FC5B-EE6D-14A337048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A7A6AA-7A5A-F51E-B544-C2C378BDC260}"/>
              </a:ext>
            </a:extLst>
          </p:cNvPr>
          <p:cNvSpPr txBox="1"/>
          <p:nvPr/>
        </p:nvSpPr>
        <p:spPr>
          <a:xfrm>
            <a:off x="618768" y="240633"/>
            <a:ext cx="8195224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dirty="0">
                <a:latin typeface="Arial Black" panose="020B0A04020102020204" pitchFamily="34" charset="0"/>
              </a:rPr>
              <a:t>AC to DC Power Conversion in a Power Supply Unit (PSU)</a:t>
            </a:r>
          </a:p>
          <a:p>
            <a:endParaRPr lang="en-PH" sz="5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PH" dirty="0"/>
              <a:t>AC to DC conversion is one of the most important functions of a Power Supply Unit (PSU).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PH" dirty="0"/>
              <a:t>The electricity coming from the wall outlet is AC (Alternating Current), while most electronic circuits and computer components require DC (Direct Current).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PH" sz="500" dirty="0"/>
          </a:p>
          <a:p>
            <a:r>
              <a:rPr lang="en-PH" sz="1800" b="1" dirty="0">
                <a:latin typeface="Arial Black" panose="020B0A04020102020204" pitchFamily="34" charset="0"/>
              </a:rPr>
              <a:t>Three Basic Processes in AC-to-DC Conversion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PH" sz="500" dirty="0"/>
          </a:p>
          <a:p>
            <a:pPr marL="342900" indent="-342900">
              <a:buFont typeface="+mj-lt"/>
              <a:buAutoNum type="arabicPeriod"/>
            </a:pPr>
            <a:r>
              <a:rPr lang="en-PH" b="1" dirty="0"/>
              <a:t>Rectification </a:t>
            </a:r>
            <a:r>
              <a:rPr lang="en-PH" i="1" dirty="0"/>
              <a:t>(AC to Pulsating DC)</a:t>
            </a:r>
          </a:p>
          <a:p>
            <a:pPr marL="342900" indent="-342900">
              <a:buFont typeface="+mj-lt"/>
              <a:buAutoNum type="arabicPeriod"/>
            </a:pPr>
            <a:endParaRPr lang="en-PH" sz="500" i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PH" dirty="0"/>
              <a:t>A rectifier converts AC into pulsating DC. Diodes are used because they allow current to flow primarily in one direction.</a:t>
            </a:r>
          </a:p>
          <a:p>
            <a:pPr lvl="1"/>
            <a:r>
              <a:rPr lang="en-PH" i="1" dirty="0"/>
              <a:t>Main component: </a:t>
            </a:r>
            <a:r>
              <a:rPr lang="en-PH" dirty="0"/>
              <a:t>Diode - Perform the rectification</a:t>
            </a:r>
          </a:p>
          <a:p>
            <a:endParaRPr lang="en-PH" dirty="0"/>
          </a:p>
          <a:p>
            <a:r>
              <a:rPr lang="en-PH" b="1" dirty="0"/>
              <a:t>2. Filtering </a:t>
            </a:r>
            <a:r>
              <a:rPr lang="en-PH" i="1" dirty="0"/>
              <a:t>(Pulsating DC to Smoother DC)</a:t>
            </a:r>
          </a:p>
          <a:p>
            <a:endParaRPr lang="en-PH" sz="500" i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PH" dirty="0"/>
              <a:t>After rectification, the DC still contains fluctuations called ripple. A filter reduces these fluctuations and produces a smoother DC voltage.</a:t>
            </a:r>
          </a:p>
          <a:p>
            <a:r>
              <a:rPr lang="en-PH" i="1" dirty="0"/>
              <a:t>Main component: </a:t>
            </a:r>
            <a:r>
              <a:rPr lang="en-PH" dirty="0"/>
              <a:t>Capacitor - Stores and releases electrical energy to reduce ripple</a:t>
            </a:r>
          </a:p>
          <a:p>
            <a:endParaRPr lang="en-PH" dirty="0"/>
          </a:p>
          <a:p>
            <a:r>
              <a:rPr lang="en-PH" b="1" dirty="0"/>
              <a:t>3. Regulation – Smoother DC → Stable DC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PH" dirty="0"/>
              <a:t>Even after filtering, the voltage can still vary. A voltage regulator keeps the output voltage at the desired level.</a:t>
            </a:r>
          </a:p>
          <a:p>
            <a:r>
              <a:rPr lang="en-PH" i="1" dirty="0"/>
              <a:t>Main component: </a:t>
            </a:r>
            <a:r>
              <a:rPr lang="en-PH" dirty="0"/>
              <a:t>Voltage Regulator IC - Maintains a relatively constant output voltage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25604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>
          <a:extLst>
            <a:ext uri="{FF2B5EF4-FFF2-40B4-BE49-F238E27FC236}">
              <a16:creationId xmlns:a16="http://schemas.microsoft.com/office/drawing/2014/main" id="{61FB5FD3-9B2C-A6D5-3561-C66999E28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417D8E-3CF9-1983-96EB-424F1C7BB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625098"/>
              </p:ext>
            </p:extLst>
          </p:nvPr>
        </p:nvGraphicFramePr>
        <p:xfrm>
          <a:off x="690956" y="465210"/>
          <a:ext cx="7988969" cy="4041583"/>
        </p:xfrm>
        <a:graphic>
          <a:graphicData uri="http://schemas.openxmlformats.org/drawingml/2006/table">
            <a:tbl>
              <a:tblPr>
                <a:tableStyleId>{93EC2C83-4F27-46E9-AB52-EA9CB43B9D6F}</a:tableStyleId>
              </a:tblPr>
              <a:tblGrid>
                <a:gridCol w="2028184">
                  <a:extLst>
                    <a:ext uri="{9D8B030D-6E8A-4147-A177-3AD203B41FA5}">
                      <a16:colId xmlns:a16="http://schemas.microsoft.com/office/drawing/2014/main" val="3887905617"/>
                    </a:ext>
                  </a:extLst>
                </a:gridCol>
                <a:gridCol w="3350578">
                  <a:extLst>
                    <a:ext uri="{9D8B030D-6E8A-4147-A177-3AD203B41FA5}">
                      <a16:colId xmlns:a16="http://schemas.microsoft.com/office/drawing/2014/main" val="283365630"/>
                    </a:ext>
                  </a:extLst>
                </a:gridCol>
                <a:gridCol w="2610207">
                  <a:extLst>
                    <a:ext uri="{9D8B030D-6E8A-4147-A177-3AD203B41FA5}">
                      <a16:colId xmlns:a16="http://schemas.microsoft.com/office/drawing/2014/main" val="2274586135"/>
                    </a:ext>
                  </a:extLst>
                </a:gridCol>
              </a:tblGrid>
              <a:tr h="26943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PH" sz="1400" b="1" dirty="0">
                          <a:latin typeface="Arial Black" panose="020B0A04020102020204" pitchFamily="34" charset="0"/>
                        </a:rPr>
                        <a:t> Main Components of a </a:t>
                      </a:r>
                      <a:r>
                        <a:rPr lang="en-PH" sz="1400" dirty="0">
                          <a:latin typeface="Arial Black" panose="020B0A04020102020204" pitchFamily="34" charset="0"/>
                        </a:rPr>
                        <a:t>Power Supply Unit (PSU)</a:t>
                      </a:r>
                    </a:p>
                  </a:txBody>
                  <a:tcPr marL="47546" marR="47546" marT="23773" marB="2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PH" sz="1400" b="1" dirty="0"/>
                    </a:p>
                  </a:txBody>
                  <a:tcPr marL="47546" marR="47546" marT="23773" marB="23773"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PH" sz="1400" b="1" dirty="0"/>
                    </a:p>
                  </a:txBody>
                  <a:tcPr marL="47546" marR="47546" marT="23773" marB="23773" anchor="ctr"/>
                </a:tc>
                <a:extLst>
                  <a:ext uri="{0D108BD9-81ED-4DB2-BD59-A6C34878D82A}">
                    <a16:rowId xmlns:a16="http://schemas.microsoft.com/office/drawing/2014/main" val="124162794"/>
                  </a:ext>
                </a:extLst>
              </a:tr>
              <a:tr h="2694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400" b="1" dirty="0"/>
                        <a:t>Main Component / Section</a:t>
                      </a:r>
                    </a:p>
                  </a:txBody>
                  <a:tcPr marL="47546" marR="47546" marT="23773" marB="2377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400" b="1" dirty="0"/>
                        <a:t>Common Components Used</a:t>
                      </a:r>
                    </a:p>
                  </a:txBody>
                  <a:tcPr marL="47546" marR="47546" marT="23773" marB="2377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1400" b="1" dirty="0"/>
                        <a:t>Main Function</a:t>
                      </a:r>
                    </a:p>
                  </a:txBody>
                  <a:tcPr marL="47546" marR="47546" marT="23773" marB="2377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24797650"/>
                  </a:ext>
                </a:extLst>
              </a:tr>
              <a:tr h="380372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PH" sz="1400" b="1" dirty="0"/>
                        <a:t>Transformer</a:t>
                      </a:r>
                    </a:p>
                  </a:txBody>
                  <a:tcPr marL="47546" marR="47546" marT="23773" marB="23773" anchor="ctr"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400" dirty="0"/>
                        <a:t>Transformer, ferrite core, primary and secondary windings</a:t>
                      </a:r>
                    </a:p>
                  </a:txBody>
                  <a:tcPr marL="47546" marR="47546" marT="23773" marB="23773" anchor="ctr"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400"/>
                        <a:t>Changes the voltage level and provides isolation.</a:t>
                      </a:r>
                    </a:p>
                  </a:txBody>
                  <a:tcPr marL="47546" marR="47546" marT="23773" marB="23773" anchor="ctr"/>
                </a:tc>
                <a:extLst>
                  <a:ext uri="{0D108BD9-81ED-4DB2-BD59-A6C34878D82A}">
                    <a16:rowId xmlns:a16="http://schemas.microsoft.com/office/drawing/2014/main" val="3826469357"/>
                  </a:ext>
                </a:extLst>
              </a:tr>
              <a:tr h="26943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2"/>
                      </a:pPr>
                      <a:r>
                        <a:rPr lang="en-PH" sz="1400" b="1" dirty="0"/>
                        <a:t>Rectifier</a:t>
                      </a:r>
                    </a:p>
                  </a:txBody>
                  <a:tcPr marL="47546" marR="47546" marT="23773" marB="23773" anchor="ctr"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400"/>
                        <a:t>Diodes, bridge rectifier</a:t>
                      </a:r>
                    </a:p>
                  </a:txBody>
                  <a:tcPr marL="47546" marR="47546" marT="23773" marB="23773" anchor="ctr"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400"/>
                        <a:t>Converts AC into pulsating DC.</a:t>
                      </a:r>
                    </a:p>
                  </a:txBody>
                  <a:tcPr marL="47546" marR="47546" marT="23773" marB="23773" anchor="ctr"/>
                </a:tc>
                <a:extLst>
                  <a:ext uri="{0D108BD9-81ED-4DB2-BD59-A6C34878D82A}">
                    <a16:rowId xmlns:a16="http://schemas.microsoft.com/office/drawing/2014/main" val="1866288797"/>
                  </a:ext>
                </a:extLst>
              </a:tr>
              <a:tr h="380372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3"/>
                      </a:pPr>
                      <a:r>
                        <a:rPr lang="en-PH" sz="1400" b="1" dirty="0"/>
                        <a:t>Filter</a:t>
                      </a:r>
                    </a:p>
                  </a:txBody>
                  <a:tcPr marL="47546" marR="47546" marT="23773" marB="23773" anchor="ctr"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400" dirty="0"/>
                        <a:t>Capacitors, inductors/chokes, resistors</a:t>
                      </a:r>
                    </a:p>
                  </a:txBody>
                  <a:tcPr marL="47546" marR="47546" marT="23773" marB="23773" anchor="ctr"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400"/>
                        <a:t>Smooths DC and reduces ripple.</a:t>
                      </a:r>
                    </a:p>
                  </a:txBody>
                  <a:tcPr marL="47546" marR="47546" marT="23773" marB="23773" anchor="ctr"/>
                </a:tc>
                <a:extLst>
                  <a:ext uri="{0D108BD9-81ED-4DB2-BD59-A6C34878D82A}">
                    <a16:rowId xmlns:a16="http://schemas.microsoft.com/office/drawing/2014/main" val="3281895041"/>
                  </a:ext>
                </a:extLst>
              </a:tr>
              <a:tr h="491314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4"/>
                      </a:pPr>
                      <a:r>
                        <a:rPr lang="en-PH" sz="1400" b="1" dirty="0"/>
                        <a:t>Switching Circuit</a:t>
                      </a:r>
                    </a:p>
                  </a:txBody>
                  <a:tcPr marL="47546" marR="47546" marT="23773" marB="23773" anchor="ctr"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400" dirty="0"/>
                        <a:t>Power MOSFETs/transistors, resistors, capacitors</a:t>
                      </a:r>
                    </a:p>
                  </a:txBody>
                  <a:tcPr marL="47546" marR="47546" marT="23773" marB="23773" anchor="ctr"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400"/>
                        <a:t>Switches power at high frequency for efficient power conversion.</a:t>
                      </a:r>
                    </a:p>
                  </a:txBody>
                  <a:tcPr marL="47546" marR="47546" marT="23773" marB="23773" anchor="ctr"/>
                </a:tc>
                <a:extLst>
                  <a:ext uri="{0D108BD9-81ED-4DB2-BD59-A6C34878D82A}">
                    <a16:rowId xmlns:a16="http://schemas.microsoft.com/office/drawing/2014/main" val="792639592"/>
                  </a:ext>
                </a:extLst>
              </a:tr>
              <a:tr h="713197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5"/>
                      </a:pPr>
                      <a:r>
                        <a:rPr lang="en-PH" sz="1400" b="1" dirty="0"/>
                        <a:t>Voltage Regulation Circuit</a:t>
                      </a:r>
                    </a:p>
                  </a:txBody>
                  <a:tcPr marL="47546" marR="47546" marT="23773" marB="23773" anchor="ctr"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400" dirty="0"/>
                        <a:t>Voltage-reference IC/Zener diode, resistors, capacitors</a:t>
                      </a:r>
                    </a:p>
                  </a:txBody>
                  <a:tcPr marL="47546" marR="47546" marT="23773" marB="23773" anchor="ctr"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400"/>
                        <a:t>Keeps the output voltage stable.</a:t>
                      </a:r>
                    </a:p>
                  </a:txBody>
                  <a:tcPr marL="47546" marR="47546" marT="23773" marB="23773" anchor="ctr"/>
                </a:tc>
                <a:extLst>
                  <a:ext uri="{0D108BD9-81ED-4DB2-BD59-A6C34878D82A}">
                    <a16:rowId xmlns:a16="http://schemas.microsoft.com/office/drawing/2014/main" val="4236238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6"/>
                      </a:pPr>
                      <a:r>
                        <a:rPr lang="en-PH" sz="1400" b="1" dirty="0"/>
                        <a:t>Cooling System</a:t>
                      </a:r>
                    </a:p>
                  </a:txBody>
                  <a:tcPr marL="47546" marR="47546" marT="23773" marB="23773" anchor="ctr"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400" dirty="0"/>
                        <a:t>Cooling fan, heatsink</a:t>
                      </a:r>
                    </a:p>
                  </a:txBody>
                  <a:tcPr marL="47546" marR="47546" marT="23773" marB="23773" anchor="ctr"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PH" sz="1400" dirty="0"/>
                        <a:t>Removes heat and prevents overheating.</a:t>
                      </a:r>
                    </a:p>
                  </a:txBody>
                  <a:tcPr marL="47546" marR="47546" marT="23773" marB="23773" anchor="ctr"/>
                </a:tc>
                <a:extLst>
                  <a:ext uri="{0D108BD9-81ED-4DB2-BD59-A6C34878D82A}">
                    <a16:rowId xmlns:a16="http://schemas.microsoft.com/office/drawing/2014/main" val="3220470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594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>
          <a:extLst>
            <a:ext uri="{FF2B5EF4-FFF2-40B4-BE49-F238E27FC236}">
              <a16:creationId xmlns:a16="http://schemas.microsoft.com/office/drawing/2014/main" id="{059B1B1F-B1DB-453A-1C19-27D6E364C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FA65470-FE76-77E8-2632-31155A8D8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25" y="1072272"/>
            <a:ext cx="7502550" cy="22572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7138F4-5755-0023-E705-470A698E5210}"/>
              </a:ext>
            </a:extLst>
          </p:cNvPr>
          <p:cNvSpPr txBox="1"/>
          <p:nvPr/>
        </p:nvSpPr>
        <p:spPr>
          <a:xfrm>
            <a:off x="735646" y="364386"/>
            <a:ext cx="78170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>
                <a:latin typeface="Arial Black" panose="020B0A04020102020204" pitchFamily="34" charset="0"/>
              </a:rPr>
              <a:t>Basic Power Supply Assembly</a:t>
            </a:r>
          </a:p>
          <a:p>
            <a:endParaRPr lang="en-PH" sz="2000" b="1" dirty="0"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02F17C-5AFE-1608-028C-14F3F72EF4FE}"/>
              </a:ext>
            </a:extLst>
          </p:cNvPr>
          <p:cNvSpPr txBox="1"/>
          <p:nvPr/>
        </p:nvSpPr>
        <p:spPr>
          <a:xfrm>
            <a:off x="976277" y="2571750"/>
            <a:ext cx="10450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220V AC</a:t>
            </a:r>
            <a:endParaRPr lang="en-PH" sz="9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FB6615-5F90-A557-5FE1-A45B36C1D029}"/>
              </a:ext>
            </a:extLst>
          </p:cNvPr>
          <p:cNvSpPr txBox="1"/>
          <p:nvPr/>
        </p:nvSpPr>
        <p:spPr>
          <a:xfrm>
            <a:off x="7652083" y="2468192"/>
            <a:ext cx="10450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12V DC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D1A44B-0DCE-F1BA-8E17-BC95170E9E9D}"/>
              </a:ext>
            </a:extLst>
          </p:cNvPr>
          <p:cNvSpPr txBox="1"/>
          <p:nvPr/>
        </p:nvSpPr>
        <p:spPr>
          <a:xfrm>
            <a:off x="3270871" y="2468192"/>
            <a:ext cx="1301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900" b="1" dirty="0"/>
              <a:t>12-0-12 V Step-Down Transformer</a:t>
            </a:r>
          </a:p>
        </p:txBody>
      </p:sp>
    </p:spTree>
    <p:extLst>
      <p:ext uri="{BB962C8B-B14F-4D97-AF65-F5344CB8AC3E}">
        <p14:creationId xmlns:p14="http://schemas.microsoft.com/office/powerpoint/2010/main" val="3811561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>
          <a:extLst>
            <a:ext uri="{FF2B5EF4-FFF2-40B4-BE49-F238E27FC236}">
              <a16:creationId xmlns:a16="http://schemas.microsoft.com/office/drawing/2014/main" id="{37C5CD2B-3025-A68C-0379-1EFD9BF26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9054D9-0D08-E3AF-BA81-7F66192A3816}"/>
              </a:ext>
            </a:extLst>
          </p:cNvPr>
          <p:cNvSpPr txBox="1"/>
          <p:nvPr/>
        </p:nvSpPr>
        <p:spPr>
          <a:xfrm>
            <a:off x="783772" y="543140"/>
            <a:ext cx="788584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PH" sz="2000" b="1" dirty="0">
                <a:latin typeface="Arial Black" panose="020B0A04020102020204" pitchFamily="34" charset="0"/>
              </a:rPr>
              <a:t>Role of Power Supply Units (PSUs) in IT Infrastructure</a:t>
            </a:r>
          </a:p>
          <a:p>
            <a:pPr algn="just"/>
            <a:endParaRPr lang="en-PH" sz="2000" b="1" dirty="0">
              <a:latin typeface="Arial Black" panose="020B0A04020102020204" pitchFamily="34" charset="0"/>
            </a:endParaRPr>
          </a:p>
          <a:p>
            <a:pPr algn="just"/>
            <a:endParaRPr lang="en-PH" dirty="0"/>
          </a:p>
          <a:p>
            <a:pPr marL="342900" indent="-342900" algn="just">
              <a:buFont typeface="+mj-lt"/>
              <a:buAutoNum type="arabicPeriod"/>
            </a:pPr>
            <a:r>
              <a:rPr lang="en-PH" b="1" dirty="0"/>
              <a:t>Converts Electrical Power </a:t>
            </a:r>
            <a:r>
              <a:rPr lang="en-PH" dirty="0"/>
              <a:t>-</a:t>
            </a:r>
            <a:r>
              <a:rPr lang="en-PH" b="1" dirty="0"/>
              <a:t> </a:t>
            </a:r>
            <a:r>
              <a:rPr lang="en-PH" dirty="0"/>
              <a:t>Converts the available AC power from the electrical outlet into the required DC voltages used by electronic components.</a:t>
            </a:r>
          </a:p>
          <a:p>
            <a:pPr marL="342900" indent="-342900" algn="just">
              <a:buFont typeface="+mj-lt"/>
              <a:buAutoNum type="arabicPeriod"/>
            </a:pPr>
            <a:endParaRPr lang="en-PH" dirty="0"/>
          </a:p>
          <a:p>
            <a:pPr marL="342900" indent="-342900" algn="just">
              <a:buFont typeface="+mj-lt"/>
              <a:buAutoNum type="arabicPeriod"/>
            </a:pPr>
            <a:r>
              <a:rPr lang="en-PH" b="1" dirty="0"/>
              <a:t>Regulates Voltage </a:t>
            </a:r>
            <a:r>
              <a:rPr lang="en-PH" dirty="0"/>
              <a:t>- Maintains the output voltage at a proper and stable level to prevent damage caused by excessive or insufficient voltage.</a:t>
            </a:r>
          </a:p>
          <a:p>
            <a:pPr marL="342900" indent="-342900" algn="just">
              <a:buFont typeface="+mj-lt"/>
              <a:buAutoNum type="arabicPeriod"/>
            </a:pPr>
            <a:endParaRPr lang="en-PH" dirty="0"/>
          </a:p>
          <a:p>
            <a:pPr marL="342900" indent="-342900" algn="just">
              <a:buFont typeface="+mj-lt"/>
              <a:buAutoNum type="arabicPeriod"/>
            </a:pPr>
            <a:r>
              <a:rPr lang="en-PH" b="1" dirty="0"/>
              <a:t>Protects Equipment </a:t>
            </a:r>
            <a:r>
              <a:rPr lang="en-PH" dirty="0"/>
              <a:t>- Helps protect electronic components from electrical problems such as overvoltage, overcurrent, short circuits, and overheating.</a:t>
            </a:r>
          </a:p>
          <a:p>
            <a:pPr marL="342900" indent="-342900" algn="just">
              <a:buFont typeface="+mj-lt"/>
              <a:buAutoNum type="arabicPeriod"/>
            </a:pPr>
            <a:endParaRPr lang="en-PH" dirty="0"/>
          </a:p>
          <a:p>
            <a:pPr marL="342900" indent="-342900" algn="just">
              <a:buFont typeface="+mj-lt"/>
              <a:buAutoNum type="arabicPeriod"/>
            </a:pPr>
            <a:r>
              <a:rPr lang="en-PH" b="1" dirty="0"/>
              <a:t>Supports Different Components </a:t>
            </a:r>
            <a:r>
              <a:rPr lang="en-PH" dirty="0"/>
              <a:t>- Provides different voltage levels required by various components, such as the CPU, motherboard, storage devices, fans, and other peripherals.</a:t>
            </a:r>
          </a:p>
          <a:p>
            <a:pPr algn="just"/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536537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2">
                <a:lumMod val="60000"/>
                <a:lumOff val="40000"/>
              </a:schemeClr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315C2E-0F93-112A-F013-D28DCA2AB808}"/>
              </a:ext>
            </a:extLst>
          </p:cNvPr>
          <p:cNvSpPr txBox="1"/>
          <p:nvPr/>
        </p:nvSpPr>
        <p:spPr>
          <a:xfrm>
            <a:off x="1215537" y="1547680"/>
            <a:ext cx="671292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5500" b="1" dirty="0">
                <a:solidFill>
                  <a:schemeClr val="accent2">
                    <a:lumMod val="50000"/>
                  </a:schemeClr>
                </a:solidFill>
                <a:latin typeface="Bodoni MT Black" panose="02070A03080606020203" pitchFamily="18" charset="0"/>
              </a:rPr>
              <a:t>END OF WEEK 3 LESSON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auphin template">
  <a:themeElements>
    <a:clrScheme name="Custom 347">
      <a:dk1>
        <a:srgbClr val="210635"/>
      </a:dk1>
      <a:lt1>
        <a:srgbClr val="FFFFFF"/>
      </a:lt1>
      <a:dk2>
        <a:srgbClr val="89828F"/>
      </a:dk2>
      <a:lt2>
        <a:srgbClr val="F4F3F8"/>
      </a:lt2>
      <a:accent1>
        <a:srgbClr val="725DCF"/>
      </a:accent1>
      <a:accent2>
        <a:srgbClr val="BD6DE0"/>
      </a:accent2>
      <a:accent3>
        <a:srgbClr val="F07249"/>
      </a:accent3>
      <a:accent4>
        <a:srgbClr val="FFB200"/>
      </a:accent4>
      <a:accent5>
        <a:srgbClr val="9D91EE"/>
      </a:accent5>
      <a:accent6>
        <a:srgbClr val="3691E0"/>
      </a:accent6>
      <a:hlink>
        <a:srgbClr val="6A5DC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1735</TotalTime>
  <Words>648</Words>
  <Application>Microsoft Office PowerPoint</Application>
  <PresentationFormat>On-screen Show (16:9)</PresentationFormat>
  <Paragraphs>84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Wingdings</vt:lpstr>
      <vt:lpstr>Bodoni MT Black</vt:lpstr>
      <vt:lpstr>Calibri</vt:lpstr>
      <vt:lpstr>Catamaran</vt:lpstr>
      <vt:lpstr>Arial</vt:lpstr>
      <vt:lpstr>Arial Black</vt:lpstr>
      <vt:lpstr>Catamaran Thin</vt:lpstr>
      <vt:lpstr>Dauphin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Edgar</dc:creator>
  <cp:lastModifiedBy>Edgar Venus</cp:lastModifiedBy>
  <cp:revision>19</cp:revision>
  <dcterms:modified xsi:type="dcterms:W3CDTF">2026-08-31T06:31:26Z</dcterms:modified>
</cp:coreProperties>
</file>