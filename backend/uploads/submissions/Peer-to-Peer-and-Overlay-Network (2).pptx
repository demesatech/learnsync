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Canva Sans Bold" panose="020B0604020202020204" charset="0"/>
      <p:regular r:id="rId36"/>
    </p:embeddedFont>
    <p:embeddedFont>
      <p:font typeface="Fredoka" panose="020B0604020202020204" charset="0"/>
      <p:regular r:id="rId37"/>
    </p:embeddedFont>
    <p:embeddedFont>
      <p:font typeface="Quicksand" panose="020B0604020202020204" charset="0"/>
      <p:regular r:id="rId38"/>
    </p:embeddedFont>
    <p:embeddedFont>
      <p:font typeface="Quicksand Bold"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52" d="100"/>
          <a:sy n="52" d="100"/>
        </p:scale>
        <p:origin x="8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www.geeksforgeeks.org/system-design/what-is-content-delivery-networkcdn-in-system-design/"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https://www.geeksforgeeks.org/system-design/what-is-content-delivery-networkcdn-in-system-design/"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system-design/peer-to-peer-p2p-architecture/?fbclid=IwY2xjawRQkzhleHRuA2FlbQIxMABicmlkETFMNHF6NGRKZlJ2ZXhYa0tDc3J0YwZhcHBfaWQQMjIyMDM5MTc4ODIwMDg5MgABHuPi2swBc_nv9upM6xZYWra6sI9ELHQGgabFsPZkkeisBBIb6VnooScCpf7m_aem_6vB9L2-KjTyMWRpx9ssjlA" TargetMode="External"/><Relationship Id="rId2" Type="http://schemas.openxmlformats.org/officeDocument/2006/relationships/hyperlink" Target="https://www.geeksforgeeks.org/computer-networks/what-is-p2p-peer-to-peer-process/" TargetMode="External"/><Relationship Id="rId1" Type="http://schemas.openxmlformats.org/officeDocument/2006/relationships/slideLayout" Target="../slideLayouts/slideLayout7.xml"/><Relationship Id="rId4" Type="http://schemas.openxmlformats.org/officeDocument/2006/relationships/hyperlink" Target="https://www.geeksforgeeks.org/system-design/network-overlays-in-distributed-syste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05478"/>
            <a:chOff x="0" y="0"/>
            <a:chExt cx="4274726" cy="212142"/>
          </a:xfrm>
        </p:grpSpPr>
        <p:sp>
          <p:nvSpPr>
            <p:cNvPr id="3" name="Freeform 3"/>
            <p:cNvSpPr/>
            <p:nvPr/>
          </p:nvSpPr>
          <p:spPr>
            <a:xfrm>
              <a:off x="0" y="0"/>
              <a:ext cx="4274726" cy="212142"/>
            </a:xfrm>
            <a:custGeom>
              <a:avLst/>
              <a:gdLst/>
              <a:ahLst/>
              <a:cxnLst/>
              <a:rect l="l" t="t" r="r" b="b"/>
              <a:pathLst>
                <a:path w="4274726" h="212142">
                  <a:moveTo>
                    <a:pt x="0" y="0"/>
                  </a:moveTo>
                  <a:lnTo>
                    <a:pt x="4274726" y="0"/>
                  </a:lnTo>
                  <a:lnTo>
                    <a:pt x="4274726" y="212142"/>
                  </a:lnTo>
                  <a:lnTo>
                    <a:pt x="0" y="212142"/>
                  </a:lnTo>
                  <a:close/>
                </a:path>
              </a:pathLst>
            </a:custGeom>
            <a:solidFill>
              <a:srgbClr val="FFFFFF"/>
            </a:solidFill>
          </p:spPr>
        </p:sp>
        <p:sp>
          <p:nvSpPr>
            <p:cNvPr id="4" name="TextBox 4"/>
            <p:cNvSpPr txBox="1"/>
            <p:nvPr/>
          </p:nvSpPr>
          <p:spPr>
            <a:xfrm>
              <a:off x="0" y="-38100"/>
              <a:ext cx="4274726" cy="25024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50699" y="3619500"/>
            <a:ext cx="15808917" cy="4448175"/>
          </a:xfrm>
          <a:prstGeom prst="rect">
            <a:avLst/>
          </a:prstGeom>
        </p:spPr>
        <p:txBody>
          <a:bodyPr lIns="0" tIns="0" rIns="0" bIns="0" rtlCol="0" anchor="t">
            <a:spAutoFit/>
          </a:bodyPr>
          <a:lstStyle/>
          <a:p>
            <a:pPr algn="l">
              <a:lnSpc>
                <a:spcPts val="7499"/>
              </a:lnSpc>
            </a:pPr>
            <a:r>
              <a:rPr lang="en-US" sz="7499" dirty="0">
                <a:solidFill>
                  <a:srgbClr val="FFFFFF"/>
                </a:solidFill>
                <a:latin typeface="Fredoka"/>
                <a:ea typeface="Fredoka"/>
                <a:cs typeface="Fredoka"/>
                <a:sym typeface="Fredoka"/>
              </a:rPr>
              <a:t>LESSON 4 </a:t>
            </a:r>
          </a:p>
          <a:p>
            <a:pPr algn="l">
              <a:lnSpc>
                <a:spcPts val="7499"/>
              </a:lnSpc>
            </a:pPr>
            <a:r>
              <a:rPr lang="en-US" sz="7499" dirty="0">
                <a:solidFill>
                  <a:srgbClr val="FFFFFF"/>
                </a:solidFill>
                <a:latin typeface="Fredoka"/>
                <a:ea typeface="Fredoka"/>
                <a:cs typeface="Fredoka"/>
                <a:sym typeface="Fredoka"/>
              </a:rPr>
              <a:t>PEER-TO-PEER AND </a:t>
            </a:r>
          </a:p>
          <a:p>
            <a:pPr algn="l">
              <a:lnSpc>
                <a:spcPts val="7499"/>
              </a:lnSpc>
            </a:pPr>
            <a:r>
              <a:rPr lang="en-US" sz="7499" dirty="0">
                <a:solidFill>
                  <a:srgbClr val="FFFFFF"/>
                </a:solidFill>
                <a:latin typeface="Fredoka"/>
                <a:ea typeface="Fredoka"/>
                <a:cs typeface="Fredoka"/>
                <a:sym typeface="Fredoka"/>
              </a:rPr>
              <a:t>OVERLAY NETWORKS</a:t>
            </a:r>
          </a:p>
          <a:p>
            <a:pPr algn="l">
              <a:lnSpc>
                <a:spcPts val="12000"/>
              </a:lnSpc>
            </a:pPr>
            <a:endParaRPr lang="en-US" sz="7499" dirty="0">
              <a:solidFill>
                <a:srgbClr val="FFFFFF"/>
              </a:solidFill>
              <a:latin typeface="Fredoka"/>
              <a:ea typeface="Fredoka"/>
              <a:cs typeface="Fredoka"/>
              <a:sym typeface="Fredoka"/>
            </a:endParaRPr>
          </a:p>
        </p:txBody>
      </p:sp>
      <p:sp>
        <p:nvSpPr>
          <p:cNvPr id="6" name="Freeform 6"/>
          <p:cNvSpPr/>
          <p:nvPr/>
        </p:nvSpPr>
        <p:spPr>
          <a:xfrm rot="-2700000">
            <a:off x="10908772" y="3978227"/>
            <a:ext cx="10707063" cy="8458580"/>
          </a:xfrm>
          <a:custGeom>
            <a:avLst/>
            <a:gdLst/>
            <a:ahLst/>
            <a:cxnLst/>
            <a:rect l="l" t="t" r="r" b="b"/>
            <a:pathLst>
              <a:path w="10707063" h="8458580">
                <a:moveTo>
                  <a:pt x="0" y="0"/>
                </a:moveTo>
                <a:lnTo>
                  <a:pt x="10707063" y="0"/>
                </a:lnTo>
                <a:lnTo>
                  <a:pt x="10707063" y="8458580"/>
                </a:lnTo>
                <a:lnTo>
                  <a:pt x="0" y="8458580"/>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1292864" y="1137116"/>
            <a:ext cx="5524500" cy="50292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IT 112 NETWORKING 2</a:t>
            </a:r>
          </a:p>
        </p:txBody>
      </p:sp>
      <p:grpSp>
        <p:nvGrpSpPr>
          <p:cNvPr id="8" name="Group 8"/>
          <p:cNvGrpSpPr/>
          <p:nvPr/>
        </p:nvGrpSpPr>
        <p:grpSpPr>
          <a:xfrm>
            <a:off x="1050699" y="7269333"/>
            <a:ext cx="4670941" cy="1988967"/>
            <a:chOff x="0" y="0"/>
            <a:chExt cx="1230207" cy="523843"/>
          </a:xfrm>
        </p:grpSpPr>
        <p:sp>
          <p:nvSpPr>
            <p:cNvPr id="9" name="Freeform 9"/>
            <p:cNvSpPr/>
            <p:nvPr/>
          </p:nvSpPr>
          <p:spPr>
            <a:xfrm>
              <a:off x="0" y="0"/>
              <a:ext cx="1230207" cy="523843"/>
            </a:xfrm>
            <a:custGeom>
              <a:avLst/>
              <a:gdLst/>
              <a:ahLst/>
              <a:cxnLst/>
              <a:rect l="l" t="t" r="r" b="b"/>
              <a:pathLst>
                <a:path w="1230207" h="523843">
                  <a:moveTo>
                    <a:pt x="0" y="0"/>
                  </a:moveTo>
                  <a:lnTo>
                    <a:pt x="1230207" y="0"/>
                  </a:lnTo>
                  <a:lnTo>
                    <a:pt x="1230207" y="523843"/>
                  </a:lnTo>
                  <a:lnTo>
                    <a:pt x="0" y="523843"/>
                  </a:lnTo>
                  <a:close/>
                </a:path>
              </a:pathLst>
            </a:custGeom>
            <a:solidFill>
              <a:srgbClr val="FFFFFF"/>
            </a:solidFill>
          </p:spPr>
        </p:sp>
        <p:sp>
          <p:nvSpPr>
            <p:cNvPr id="10" name="TextBox 10"/>
            <p:cNvSpPr txBox="1"/>
            <p:nvPr/>
          </p:nvSpPr>
          <p:spPr>
            <a:xfrm>
              <a:off x="0" y="-38100"/>
              <a:ext cx="1230207" cy="561943"/>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292864" y="7358886"/>
            <a:ext cx="2782372" cy="2032159"/>
          </a:xfrm>
          <a:prstGeom prst="rect">
            <a:avLst/>
          </a:prstGeom>
        </p:spPr>
        <p:txBody>
          <a:bodyPr lIns="0" tIns="0" rIns="0" bIns="0" rtlCol="0" anchor="t">
            <a:spAutoFit/>
          </a:bodyPr>
          <a:lstStyle/>
          <a:p>
            <a:pPr algn="l">
              <a:lnSpc>
                <a:spcPts val="2022"/>
              </a:lnSpc>
              <a:spcBef>
                <a:spcPct val="0"/>
              </a:spcBef>
            </a:pPr>
            <a:r>
              <a:rPr lang="en-US" sz="1444" b="1" dirty="0">
                <a:solidFill>
                  <a:srgbClr val="000000"/>
                </a:solidFill>
                <a:latin typeface="Quicksand Bold"/>
                <a:ea typeface="Quicksand Bold"/>
                <a:cs typeface="Quicksand Bold"/>
                <a:sym typeface="Quicksand Bold"/>
              </a:rPr>
              <a:t>MEMBERS:</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BUENAVENTURA, RUSTAN IVAN</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CAMAING, LEA JEAN C </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DE MESA, MOHAMMAD HASSAN </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ARCAYA, JUSPER </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CA-AMUD, KEVIN </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BIÑAN, JV</a:t>
            </a:r>
          </a:p>
          <a:p>
            <a:pPr algn="l">
              <a:lnSpc>
                <a:spcPts val="2022"/>
              </a:lnSpc>
              <a:spcBef>
                <a:spcPct val="0"/>
              </a:spcBef>
            </a:pPr>
            <a:r>
              <a:rPr lang="en-US" sz="1444" b="1" dirty="0">
                <a:solidFill>
                  <a:srgbClr val="000000"/>
                </a:solidFill>
                <a:latin typeface="Quicksand Bold"/>
                <a:ea typeface="Quicksand Bold"/>
                <a:cs typeface="Quicksand Bold"/>
                <a:sym typeface="Quicksand 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404938" y="914400"/>
            <a:ext cx="15478125" cy="1085215"/>
          </a:xfrm>
          <a:prstGeom prst="rect">
            <a:avLst/>
          </a:prstGeom>
        </p:spPr>
        <p:txBody>
          <a:bodyPr lIns="0" tIns="0" rIns="0" bIns="0" rtlCol="0" anchor="t">
            <a:spAutoFit/>
          </a:bodyPr>
          <a:lstStyle/>
          <a:p>
            <a:pPr algn="ctr">
              <a:lnSpc>
                <a:spcPts val="8959"/>
              </a:lnSpc>
            </a:pPr>
            <a:r>
              <a:rPr lang="en-US" sz="6399">
                <a:solidFill>
                  <a:srgbClr val="FFFFFF"/>
                </a:solidFill>
                <a:latin typeface="Fredoka"/>
                <a:ea typeface="Fredoka"/>
                <a:cs typeface="Fredoka"/>
                <a:sym typeface="Fredoka"/>
              </a:rPr>
              <a:t>LEARNING OBJECTIVES</a:t>
            </a:r>
          </a:p>
        </p:txBody>
      </p:sp>
      <p:grpSp>
        <p:nvGrpSpPr>
          <p:cNvPr id="3" name="Group 3"/>
          <p:cNvGrpSpPr/>
          <p:nvPr/>
        </p:nvGrpSpPr>
        <p:grpSpPr>
          <a:xfrm>
            <a:off x="1028700" y="2621480"/>
            <a:ext cx="16230600" cy="1666875"/>
            <a:chOff x="0" y="0"/>
            <a:chExt cx="4274726" cy="439012"/>
          </a:xfrm>
        </p:grpSpPr>
        <p:sp>
          <p:nvSpPr>
            <p:cNvPr id="4" name="Freeform 4"/>
            <p:cNvSpPr/>
            <p:nvPr/>
          </p:nvSpPr>
          <p:spPr>
            <a:xfrm>
              <a:off x="0" y="0"/>
              <a:ext cx="4274726" cy="439012"/>
            </a:xfrm>
            <a:custGeom>
              <a:avLst/>
              <a:gdLst/>
              <a:ahLst/>
              <a:cxnLst/>
              <a:rect l="l" t="t" r="r" b="b"/>
              <a:pathLst>
                <a:path w="4274726" h="439012">
                  <a:moveTo>
                    <a:pt x="0" y="0"/>
                  </a:moveTo>
                  <a:lnTo>
                    <a:pt x="4274726" y="0"/>
                  </a:lnTo>
                  <a:lnTo>
                    <a:pt x="4274726" y="439012"/>
                  </a:lnTo>
                  <a:lnTo>
                    <a:pt x="0" y="439012"/>
                  </a:lnTo>
                  <a:close/>
                </a:path>
              </a:pathLst>
            </a:custGeom>
            <a:solidFill>
              <a:srgbClr val="FFFFFF"/>
            </a:solidFill>
          </p:spPr>
        </p:sp>
        <p:sp>
          <p:nvSpPr>
            <p:cNvPr id="5" name="TextBox 5"/>
            <p:cNvSpPr txBox="1"/>
            <p:nvPr/>
          </p:nvSpPr>
          <p:spPr>
            <a:xfrm>
              <a:off x="0" y="-38100"/>
              <a:ext cx="4274726" cy="477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404937" y="3085348"/>
            <a:ext cx="15478125" cy="643890"/>
          </a:xfrm>
          <a:prstGeom prst="rect">
            <a:avLst/>
          </a:prstGeom>
        </p:spPr>
        <p:txBody>
          <a:bodyPr lIns="0" tIns="0" rIns="0" bIns="0" rtlCol="0" anchor="t">
            <a:spAutoFit/>
          </a:bodyPr>
          <a:lstStyle/>
          <a:p>
            <a:pPr marL="0" lvl="0" indent="0" algn="ctr">
              <a:lnSpc>
                <a:spcPts val="5400"/>
              </a:lnSpc>
              <a:spcBef>
                <a:spcPct val="0"/>
              </a:spcBef>
            </a:pPr>
            <a:r>
              <a:rPr lang="en-US" sz="3600" dirty="0">
                <a:solidFill>
                  <a:srgbClr val="000000"/>
                </a:solidFill>
                <a:latin typeface="Quicksand"/>
                <a:ea typeface="Quicksand"/>
                <a:cs typeface="Quicksand"/>
                <a:sym typeface="Quicksand"/>
              </a:rPr>
              <a:t> 4.1 Understanding Peer-to-Peer (P2P) Concepts </a:t>
            </a:r>
          </a:p>
        </p:txBody>
      </p:sp>
      <p:grpSp>
        <p:nvGrpSpPr>
          <p:cNvPr id="7" name="Group 7"/>
          <p:cNvGrpSpPr/>
          <p:nvPr/>
        </p:nvGrpSpPr>
        <p:grpSpPr>
          <a:xfrm>
            <a:off x="1028700" y="5106453"/>
            <a:ext cx="16230600" cy="1666875"/>
            <a:chOff x="0" y="0"/>
            <a:chExt cx="4274726" cy="439012"/>
          </a:xfrm>
        </p:grpSpPr>
        <p:sp>
          <p:nvSpPr>
            <p:cNvPr id="8" name="Freeform 8"/>
            <p:cNvSpPr/>
            <p:nvPr/>
          </p:nvSpPr>
          <p:spPr>
            <a:xfrm>
              <a:off x="0" y="0"/>
              <a:ext cx="4274726" cy="439012"/>
            </a:xfrm>
            <a:custGeom>
              <a:avLst/>
              <a:gdLst/>
              <a:ahLst/>
              <a:cxnLst/>
              <a:rect l="l" t="t" r="r" b="b"/>
              <a:pathLst>
                <a:path w="4274726" h="439012">
                  <a:moveTo>
                    <a:pt x="0" y="0"/>
                  </a:moveTo>
                  <a:lnTo>
                    <a:pt x="4274726" y="0"/>
                  </a:lnTo>
                  <a:lnTo>
                    <a:pt x="4274726" y="439012"/>
                  </a:lnTo>
                  <a:lnTo>
                    <a:pt x="0" y="439012"/>
                  </a:lnTo>
                  <a:close/>
                </a:path>
              </a:pathLst>
            </a:custGeom>
            <a:solidFill>
              <a:srgbClr val="FFFFFF"/>
            </a:solidFill>
          </p:spPr>
        </p:sp>
        <p:sp>
          <p:nvSpPr>
            <p:cNvPr id="9" name="TextBox 9"/>
            <p:cNvSpPr txBox="1"/>
            <p:nvPr/>
          </p:nvSpPr>
          <p:spPr>
            <a:xfrm>
              <a:off x="0" y="-38100"/>
              <a:ext cx="4274726" cy="477112"/>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404938" y="5570320"/>
            <a:ext cx="15478125" cy="1329690"/>
          </a:xfrm>
          <a:prstGeom prst="rect">
            <a:avLst/>
          </a:prstGeom>
        </p:spPr>
        <p:txBody>
          <a:bodyPr lIns="0" tIns="0" rIns="0" bIns="0" rtlCol="0" anchor="t">
            <a:spAutoFit/>
          </a:bodyPr>
          <a:lstStyle/>
          <a:p>
            <a:pPr algn="ctr">
              <a:lnSpc>
                <a:spcPts val="5400"/>
              </a:lnSpc>
            </a:pPr>
            <a:r>
              <a:rPr lang="en-US" sz="3600">
                <a:solidFill>
                  <a:srgbClr val="000000"/>
                </a:solidFill>
                <a:latin typeface="Quicksand"/>
                <a:ea typeface="Quicksand"/>
                <a:cs typeface="Quicksand"/>
                <a:sym typeface="Quicksand"/>
              </a:rPr>
              <a:t>4.2 P2P Network Architectures and Application </a:t>
            </a:r>
          </a:p>
          <a:p>
            <a:pPr marL="0" lvl="0" indent="0" algn="ctr">
              <a:lnSpc>
                <a:spcPts val="5400"/>
              </a:lnSpc>
              <a:spcBef>
                <a:spcPct val="0"/>
              </a:spcBef>
            </a:pPr>
            <a:endParaRPr lang="en-US" sz="3600">
              <a:solidFill>
                <a:srgbClr val="000000"/>
              </a:solidFill>
              <a:latin typeface="Quicksand"/>
              <a:ea typeface="Quicksand"/>
              <a:cs typeface="Quicksand"/>
              <a:sym typeface="Quicksand"/>
            </a:endParaRPr>
          </a:p>
        </p:txBody>
      </p:sp>
      <p:grpSp>
        <p:nvGrpSpPr>
          <p:cNvPr id="11" name="Group 11"/>
          <p:cNvGrpSpPr/>
          <p:nvPr/>
        </p:nvGrpSpPr>
        <p:grpSpPr>
          <a:xfrm>
            <a:off x="1028700" y="7591425"/>
            <a:ext cx="16230600" cy="1666875"/>
            <a:chOff x="0" y="0"/>
            <a:chExt cx="4274726" cy="439012"/>
          </a:xfrm>
        </p:grpSpPr>
        <p:sp>
          <p:nvSpPr>
            <p:cNvPr id="12" name="Freeform 12"/>
            <p:cNvSpPr/>
            <p:nvPr/>
          </p:nvSpPr>
          <p:spPr>
            <a:xfrm>
              <a:off x="0" y="0"/>
              <a:ext cx="4274726" cy="439012"/>
            </a:xfrm>
            <a:custGeom>
              <a:avLst/>
              <a:gdLst/>
              <a:ahLst/>
              <a:cxnLst/>
              <a:rect l="l" t="t" r="r" b="b"/>
              <a:pathLst>
                <a:path w="4274726" h="439012">
                  <a:moveTo>
                    <a:pt x="0" y="0"/>
                  </a:moveTo>
                  <a:lnTo>
                    <a:pt x="4274726" y="0"/>
                  </a:lnTo>
                  <a:lnTo>
                    <a:pt x="4274726" y="439012"/>
                  </a:lnTo>
                  <a:lnTo>
                    <a:pt x="0" y="439012"/>
                  </a:lnTo>
                  <a:close/>
                </a:path>
              </a:pathLst>
            </a:custGeom>
            <a:solidFill>
              <a:srgbClr val="FFFFFF"/>
            </a:solidFill>
          </p:spPr>
        </p:sp>
        <p:sp>
          <p:nvSpPr>
            <p:cNvPr id="13" name="TextBox 13"/>
            <p:cNvSpPr txBox="1"/>
            <p:nvPr/>
          </p:nvSpPr>
          <p:spPr>
            <a:xfrm>
              <a:off x="0" y="-38100"/>
              <a:ext cx="4274726" cy="47711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404937" y="8055293"/>
            <a:ext cx="15478125" cy="1329690"/>
          </a:xfrm>
          <a:prstGeom prst="rect">
            <a:avLst/>
          </a:prstGeom>
        </p:spPr>
        <p:txBody>
          <a:bodyPr lIns="0" tIns="0" rIns="0" bIns="0" rtlCol="0" anchor="t">
            <a:spAutoFit/>
          </a:bodyPr>
          <a:lstStyle/>
          <a:p>
            <a:pPr algn="ctr">
              <a:lnSpc>
                <a:spcPts val="5400"/>
              </a:lnSpc>
            </a:pPr>
            <a:r>
              <a:rPr lang="en-US" sz="3600">
                <a:solidFill>
                  <a:srgbClr val="000000"/>
                </a:solidFill>
                <a:latin typeface="Quicksand"/>
                <a:ea typeface="Quicksand"/>
                <a:cs typeface="Quicksand"/>
                <a:sym typeface="Quicksand"/>
              </a:rPr>
              <a:t>4.3 Overlay Network Protocols and Algorithms</a:t>
            </a:r>
          </a:p>
          <a:p>
            <a:pPr marL="0" lvl="0" indent="0" algn="ctr">
              <a:lnSpc>
                <a:spcPts val="5400"/>
              </a:lnSpc>
              <a:spcBef>
                <a:spcPct val="0"/>
              </a:spcBef>
            </a:pPr>
            <a:endParaRPr lang="en-US" sz="3600">
              <a:solidFill>
                <a:srgbClr val="000000"/>
              </a:solidFill>
              <a:latin typeface="Quicksand"/>
              <a:ea typeface="Quicksand"/>
              <a:cs typeface="Quicksand"/>
              <a:sym typeface="Quicksand"/>
            </a:endParaRP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7420726" y="1028700"/>
            <a:ext cx="9843648" cy="8229600"/>
            <a:chOff x="0" y="0"/>
            <a:chExt cx="2592566" cy="2167467"/>
          </a:xfrm>
        </p:grpSpPr>
        <p:sp>
          <p:nvSpPr>
            <p:cNvPr id="3" name="Freeform 3"/>
            <p:cNvSpPr/>
            <p:nvPr/>
          </p:nvSpPr>
          <p:spPr>
            <a:xfrm>
              <a:off x="0" y="0"/>
              <a:ext cx="2592566" cy="2167467"/>
            </a:xfrm>
            <a:custGeom>
              <a:avLst/>
              <a:gdLst/>
              <a:ahLst/>
              <a:cxnLst/>
              <a:rect l="l" t="t" r="r" b="b"/>
              <a:pathLst>
                <a:path w="2592566" h="2167467">
                  <a:moveTo>
                    <a:pt x="0" y="0"/>
                  </a:moveTo>
                  <a:lnTo>
                    <a:pt x="2592566" y="0"/>
                  </a:lnTo>
                  <a:lnTo>
                    <a:pt x="2592566" y="2167467"/>
                  </a:lnTo>
                  <a:lnTo>
                    <a:pt x="0" y="2167467"/>
                  </a:lnTo>
                  <a:close/>
                </a:path>
              </a:pathLst>
            </a:custGeom>
            <a:solidFill>
              <a:srgbClr val="FFFFFF"/>
            </a:solidFill>
          </p:spPr>
        </p:sp>
        <p:sp>
          <p:nvSpPr>
            <p:cNvPr id="4" name="TextBox 4"/>
            <p:cNvSpPr txBox="1"/>
            <p:nvPr/>
          </p:nvSpPr>
          <p:spPr>
            <a:xfrm>
              <a:off x="0" y="-38100"/>
              <a:ext cx="2592566" cy="220556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984460" y="2991050"/>
            <a:ext cx="4716180" cy="3771382"/>
          </a:xfrm>
          <a:custGeom>
            <a:avLst/>
            <a:gdLst/>
            <a:ahLst/>
            <a:cxnLst/>
            <a:rect l="l" t="t" r="r" b="b"/>
            <a:pathLst>
              <a:path w="4716180" h="3771382">
                <a:moveTo>
                  <a:pt x="0" y="0"/>
                </a:moveTo>
                <a:lnTo>
                  <a:pt x="4716179" y="0"/>
                </a:lnTo>
                <a:lnTo>
                  <a:pt x="4716179" y="3771383"/>
                </a:lnTo>
                <a:lnTo>
                  <a:pt x="0" y="3771383"/>
                </a:lnTo>
                <a:lnTo>
                  <a:pt x="0" y="0"/>
                </a:lnTo>
                <a:close/>
              </a:path>
            </a:pathLst>
          </a:custGeom>
          <a:blipFill>
            <a:blip r:embed="rId2"/>
            <a:stretch>
              <a:fillRect/>
            </a:stretch>
          </a:blipFill>
        </p:spPr>
      </p:sp>
      <p:sp>
        <p:nvSpPr>
          <p:cNvPr id="6" name="TextBox 6"/>
          <p:cNvSpPr txBox="1"/>
          <p:nvPr/>
        </p:nvSpPr>
        <p:spPr>
          <a:xfrm>
            <a:off x="1028700" y="3410267"/>
            <a:ext cx="6272461" cy="3352165"/>
          </a:xfrm>
          <a:prstGeom prst="rect">
            <a:avLst/>
          </a:prstGeom>
        </p:spPr>
        <p:txBody>
          <a:bodyPr lIns="0" tIns="0" rIns="0" bIns="0" rtlCol="0" anchor="t">
            <a:spAutoFit/>
          </a:bodyPr>
          <a:lstStyle/>
          <a:p>
            <a:pPr algn="l">
              <a:lnSpc>
                <a:spcPts val="8959"/>
              </a:lnSpc>
            </a:pPr>
            <a:r>
              <a:rPr lang="en-US" sz="6399">
                <a:solidFill>
                  <a:srgbClr val="FFFFFF"/>
                </a:solidFill>
                <a:latin typeface="Fredoka"/>
                <a:ea typeface="Fredoka"/>
                <a:cs typeface="Fredoka"/>
                <a:sym typeface="Fredoka"/>
              </a:rPr>
              <a:t>WHAT IS PEER-TO-PEER?</a:t>
            </a:r>
          </a:p>
          <a:p>
            <a:pPr algn="r">
              <a:lnSpc>
                <a:spcPts val="8959"/>
              </a:lnSpc>
            </a:pPr>
            <a:endParaRPr lang="en-US" sz="6399">
              <a:solidFill>
                <a:srgbClr val="FFFFFF"/>
              </a:solidFill>
              <a:latin typeface="Fredoka"/>
              <a:ea typeface="Fredoka"/>
              <a:cs typeface="Fredoka"/>
              <a:sym typeface="Fredoka"/>
            </a:endParaRPr>
          </a:p>
        </p:txBody>
      </p:sp>
      <p:sp>
        <p:nvSpPr>
          <p:cNvPr id="7" name="TextBox 7"/>
          <p:cNvSpPr txBox="1"/>
          <p:nvPr/>
        </p:nvSpPr>
        <p:spPr>
          <a:xfrm>
            <a:off x="7793061" y="1379008"/>
            <a:ext cx="9098977" cy="1400175"/>
          </a:xfrm>
          <a:prstGeom prst="rect">
            <a:avLst/>
          </a:prstGeom>
        </p:spPr>
        <p:txBody>
          <a:bodyPr lIns="0" tIns="0" rIns="0" bIns="0" rtlCol="0" anchor="t">
            <a:spAutoFit/>
          </a:bodyPr>
          <a:lstStyle/>
          <a:p>
            <a:pPr marL="0" lvl="0" indent="0" algn="just">
              <a:lnSpc>
                <a:spcPts val="3750"/>
              </a:lnSpc>
              <a:spcBef>
                <a:spcPct val="0"/>
              </a:spcBef>
            </a:pPr>
            <a:r>
              <a:rPr lang="en-US" sz="2500" dirty="0">
                <a:solidFill>
                  <a:srgbClr val="000000"/>
                </a:solidFill>
                <a:latin typeface="Quicksand"/>
                <a:ea typeface="Quicksand"/>
                <a:cs typeface="Quicksand"/>
                <a:sym typeface="Quicksand"/>
              </a:rPr>
              <a:t>The P2P process deals with a network structure where any participant in the network known as a node act as both a client and a server. </a:t>
            </a:r>
          </a:p>
        </p:txBody>
      </p:sp>
      <p:sp>
        <p:nvSpPr>
          <p:cNvPr id="8" name="TextBox 8"/>
          <p:cNvSpPr txBox="1"/>
          <p:nvPr/>
        </p:nvSpPr>
        <p:spPr>
          <a:xfrm>
            <a:off x="7793061" y="6905308"/>
            <a:ext cx="9098977" cy="3781425"/>
          </a:xfrm>
          <a:prstGeom prst="rect">
            <a:avLst/>
          </a:prstGeom>
        </p:spPr>
        <p:txBody>
          <a:bodyPr lIns="0" tIns="0" rIns="0" bIns="0" rtlCol="0" anchor="t">
            <a:spAutoFit/>
          </a:bodyPr>
          <a:lstStyle/>
          <a:p>
            <a:pPr algn="just">
              <a:lnSpc>
                <a:spcPts val="3750"/>
              </a:lnSpc>
            </a:pPr>
            <a:r>
              <a:rPr lang="en-US" sz="2500">
                <a:solidFill>
                  <a:srgbClr val="000000"/>
                </a:solidFill>
                <a:latin typeface="Quicksand"/>
                <a:ea typeface="Quicksand"/>
                <a:cs typeface="Quicksand"/>
                <a:sym typeface="Quicksand"/>
              </a:rPr>
              <a:t>This means that, rather than relying on a basis server to supply resources or services, everybody from the network of nodes can trade resources and services with one another. </a:t>
            </a:r>
          </a:p>
          <a:p>
            <a:pPr marL="0" lvl="0" indent="0" algn="l">
              <a:lnSpc>
                <a:spcPts val="3750"/>
              </a:lnSpc>
              <a:spcBef>
                <a:spcPct val="0"/>
              </a:spcBef>
            </a:pPr>
            <a:endParaRPr lang="en-US" sz="2500">
              <a:solidFill>
                <a:srgbClr val="000000"/>
              </a:solidFill>
              <a:latin typeface="Quicksand"/>
              <a:ea typeface="Quicksand"/>
              <a:cs typeface="Quicksand"/>
              <a:sym typeface="Quicksand"/>
            </a:endParaRPr>
          </a:p>
          <a:p>
            <a:pPr marL="0" lvl="0" indent="0" algn="l">
              <a:lnSpc>
                <a:spcPts val="3750"/>
              </a:lnSpc>
              <a:spcBef>
                <a:spcPct val="0"/>
              </a:spcBef>
            </a:pPr>
            <a:endParaRPr lang="en-US" sz="2500">
              <a:solidFill>
                <a:srgbClr val="000000"/>
              </a:solidFill>
              <a:latin typeface="Quicksand"/>
              <a:ea typeface="Quicksand"/>
              <a:cs typeface="Quicksand"/>
              <a:sym typeface="Quicksand"/>
            </a:endParaRPr>
          </a:p>
          <a:p>
            <a:pPr marL="0" lvl="0" indent="0" algn="l">
              <a:lnSpc>
                <a:spcPts val="3750"/>
              </a:lnSpc>
              <a:spcBef>
                <a:spcPct val="0"/>
              </a:spcBef>
            </a:pPr>
            <a:endParaRPr lang="en-US" sz="2500">
              <a:solidFill>
                <a:srgbClr val="000000"/>
              </a:solidFill>
              <a:latin typeface="Quicksand"/>
              <a:ea typeface="Quicksand"/>
              <a:cs typeface="Quicksand"/>
              <a:sym typeface="Quicksand"/>
            </a:endParaRPr>
          </a:p>
          <a:p>
            <a:pPr marL="0" lvl="0" indent="0" algn="l">
              <a:lnSpc>
                <a:spcPts val="3750"/>
              </a:lnSpc>
              <a:spcBef>
                <a:spcPct val="0"/>
              </a:spcBef>
            </a:pPr>
            <a:endParaRPr lang="en-US" sz="2500">
              <a:solidFill>
                <a:srgbClr val="000000"/>
              </a:solidFill>
              <a:latin typeface="Quicksand"/>
              <a:ea typeface="Quicksand"/>
              <a:cs typeface="Quicksand"/>
              <a:sym typeface="Quicksand"/>
            </a:endParaRPr>
          </a:p>
          <a:p>
            <a:pPr marL="0" lvl="0" indent="0" algn="l">
              <a:lnSpc>
                <a:spcPts val="3750"/>
              </a:lnSpc>
              <a:spcBef>
                <a:spcPct val="0"/>
              </a:spcBef>
            </a:pPr>
            <a:endParaRPr lang="en-US" sz="2500">
              <a:solidFill>
                <a:srgbClr val="000000"/>
              </a:solidFill>
              <a:latin typeface="Quicksand"/>
              <a:ea typeface="Quicksand"/>
              <a:cs typeface="Quicksand"/>
              <a:sym typeface="Quicksand"/>
            </a:endParaRPr>
          </a:p>
        </p:txBody>
      </p:sp>
      <p:grpSp>
        <p:nvGrpSpPr>
          <p:cNvPr id="11" name="Group 11">
            <a:extLst>
              <a:ext uri="{FF2B5EF4-FFF2-40B4-BE49-F238E27FC236}">
                <a16:creationId xmlns:a16="http://schemas.microsoft.com/office/drawing/2014/main" id="{891C8BE9-FDA8-6D1A-F60A-F40DE0395150}"/>
              </a:ext>
            </a:extLst>
          </p:cNvPr>
          <p:cNvGrpSpPr/>
          <p:nvPr/>
        </p:nvGrpSpPr>
        <p:grpSpPr>
          <a:xfrm>
            <a:off x="421360" y="203195"/>
            <a:ext cx="5903240" cy="520705"/>
            <a:chOff x="0" y="0"/>
            <a:chExt cx="4274726" cy="439012"/>
          </a:xfrm>
        </p:grpSpPr>
        <p:sp>
          <p:nvSpPr>
            <p:cNvPr id="12" name="Freeform 12">
              <a:extLst>
                <a:ext uri="{FF2B5EF4-FFF2-40B4-BE49-F238E27FC236}">
                  <a16:creationId xmlns:a16="http://schemas.microsoft.com/office/drawing/2014/main" id="{D8A04B90-5DD5-B064-47D9-2EA19A97F5C4}"/>
                </a:ext>
              </a:extLst>
            </p:cNvPr>
            <p:cNvSpPr/>
            <p:nvPr/>
          </p:nvSpPr>
          <p:spPr>
            <a:xfrm>
              <a:off x="0" y="0"/>
              <a:ext cx="4274726" cy="439012"/>
            </a:xfrm>
            <a:custGeom>
              <a:avLst/>
              <a:gdLst/>
              <a:ahLst/>
              <a:cxnLst/>
              <a:rect l="l" t="t" r="r" b="b"/>
              <a:pathLst>
                <a:path w="4274726" h="439012">
                  <a:moveTo>
                    <a:pt x="0" y="0"/>
                  </a:moveTo>
                  <a:lnTo>
                    <a:pt x="4274726" y="0"/>
                  </a:lnTo>
                  <a:lnTo>
                    <a:pt x="4274726" y="439012"/>
                  </a:lnTo>
                  <a:lnTo>
                    <a:pt x="0" y="439012"/>
                  </a:lnTo>
                  <a:close/>
                </a:path>
              </a:pathLst>
            </a:custGeom>
            <a:solidFill>
              <a:srgbClr val="FFFFFF"/>
            </a:solidFill>
          </p:spPr>
        </p:sp>
        <p:sp>
          <p:nvSpPr>
            <p:cNvPr id="13" name="TextBox 13">
              <a:extLst>
                <a:ext uri="{FF2B5EF4-FFF2-40B4-BE49-F238E27FC236}">
                  <a16:creationId xmlns:a16="http://schemas.microsoft.com/office/drawing/2014/main" id="{EC089434-14E2-16F3-7CC4-9138DDF6D71D}"/>
                </a:ext>
              </a:extLst>
            </p:cNvPr>
            <p:cNvSpPr txBox="1"/>
            <p:nvPr/>
          </p:nvSpPr>
          <p:spPr>
            <a:xfrm>
              <a:off x="0" y="-38100"/>
              <a:ext cx="4274726" cy="477112"/>
            </a:xfrm>
            <a:prstGeom prst="rect">
              <a:avLst/>
            </a:prstGeom>
          </p:spPr>
          <p:txBody>
            <a:bodyPr lIns="50800" tIns="50800" rIns="50800" bIns="50800" rtlCol="0" anchor="ctr"/>
            <a:lstStyle/>
            <a:p>
              <a:pPr algn="ctr">
                <a:lnSpc>
                  <a:spcPts val="2659"/>
                </a:lnSpc>
              </a:pPr>
              <a:endParaRPr/>
            </a:p>
          </p:txBody>
        </p:sp>
      </p:grpSp>
      <p:sp>
        <p:nvSpPr>
          <p:cNvPr id="14" name="TextBox 13">
            <a:extLst>
              <a:ext uri="{FF2B5EF4-FFF2-40B4-BE49-F238E27FC236}">
                <a16:creationId xmlns:a16="http://schemas.microsoft.com/office/drawing/2014/main" id="{728AC17B-C5A2-FACB-CE20-A9CA22DA32CE}"/>
              </a:ext>
            </a:extLst>
          </p:cNvPr>
          <p:cNvSpPr txBox="1"/>
          <p:nvPr/>
        </p:nvSpPr>
        <p:spPr>
          <a:xfrm>
            <a:off x="-1350939" y="-8672"/>
            <a:ext cx="9144000" cy="667106"/>
          </a:xfrm>
          <a:prstGeom prst="rect">
            <a:avLst/>
          </a:prstGeom>
          <a:noFill/>
        </p:spPr>
        <p:txBody>
          <a:bodyPr wrap="square">
            <a:spAutoFit/>
          </a:bodyPr>
          <a:lstStyle/>
          <a:p>
            <a:pPr marL="0" lvl="0" indent="0" algn="ctr">
              <a:lnSpc>
                <a:spcPts val="5400"/>
              </a:lnSpc>
              <a:spcBef>
                <a:spcPct val="0"/>
              </a:spcBef>
            </a:pPr>
            <a:r>
              <a:rPr lang="en-US" sz="1800" dirty="0">
                <a:solidFill>
                  <a:srgbClr val="000000"/>
                </a:solidFill>
                <a:latin typeface="Quicksand"/>
                <a:ea typeface="Quicksand"/>
                <a:cs typeface="Quicksand"/>
                <a:sym typeface="Quicksand"/>
              </a:rPr>
              <a:t> 4.1 Understanding Peer-to-Peer (P2P) Concepts </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0715625" cy="8229600"/>
            <a:chOff x="0" y="0"/>
            <a:chExt cx="2822222" cy="2167467"/>
          </a:xfrm>
        </p:grpSpPr>
        <p:sp>
          <p:nvSpPr>
            <p:cNvPr id="3" name="Freeform 3"/>
            <p:cNvSpPr/>
            <p:nvPr/>
          </p:nvSpPr>
          <p:spPr>
            <a:xfrm>
              <a:off x="0" y="0"/>
              <a:ext cx="2822222" cy="2167467"/>
            </a:xfrm>
            <a:custGeom>
              <a:avLst/>
              <a:gdLst/>
              <a:ahLst/>
              <a:cxnLst/>
              <a:rect l="l" t="t" r="r" b="b"/>
              <a:pathLst>
                <a:path w="2822222" h="2167467">
                  <a:moveTo>
                    <a:pt x="0" y="0"/>
                  </a:moveTo>
                  <a:lnTo>
                    <a:pt x="2822222" y="0"/>
                  </a:lnTo>
                  <a:lnTo>
                    <a:pt x="2822222" y="2167467"/>
                  </a:lnTo>
                  <a:lnTo>
                    <a:pt x="0" y="2167467"/>
                  </a:lnTo>
                  <a:close/>
                </a:path>
              </a:pathLst>
            </a:custGeom>
            <a:solidFill>
              <a:srgbClr val="FFFFFF"/>
            </a:solidFill>
          </p:spPr>
        </p:sp>
        <p:sp>
          <p:nvSpPr>
            <p:cNvPr id="4" name="TextBox 4"/>
            <p:cNvSpPr txBox="1"/>
            <p:nvPr/>
          </p:nvSpPr>
          <p:spPr>
            <a:xfrm>
              <a:off x="0" y="-38100"/>
              <a:ext cx="2822222" cy="22055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1972925" y="2435706"/>
            <a:ext cx="5713776" cy="5619115"/>
          </a:xfrm>
          <a:prstGeom prst="rect">
            <a:avLst/>
          </a:prstGeom>
        </p:spPr>
        <p:txBody>
          <a:bodyPr lIns="0" tIns="0" rIns="0" bIns="0" rtlCol="0" anchor="t">
            <a:spAutoFit/>
          </a:bodyPr>
          <a:lstStyle/>
          <a:p>
            <a:pPr algn="l">
              <a:lnSpc>
                <a:spcPts val="8959"/>
              </a:lnSpc>
            </a:pPr>
            <a:r>
              <a:rPr lang="en-US" sz="6399">
                <a:solidFill>
                  <a:srgbClr val="FFFFFF"/>
                </a:solidFill>
                <a:latin typeface="Fredoka"/>
                <a:ea typeface="Fredoka"/>
                <a:cs typeface="Fredoka"/>
                <a:sym typeface="Fredoka"/>
              </a:rPr>
              <a:t>WHAT IS A PEER-TO-PEER (P2P) SERVICE?</a:t>
            </a:r>
          </a:p>
          <a:p>
            <a:pPr algn="l">
              <a:lnSpc>
                <a:spcPts val="8959"/>
              </a:lnSpc>
            </a:pPr>
            <a:endParaRPr lang="en-US" sz="6399">
              <a:solidFill>
                <a:srgbClr val="FFFFFF"/>
              </a:solidFill>
              <a:latin typeface="Fredoka"/>
              <a:ea typeface="Fredoka"/>
              <a:cs typeface="Fredoka"/>
              <a:sym typeface="Fredoka"/>
            </a:endParaRPr>
          </a:p>
        </p:txBody>
      </p:sp>
      <p:sp>
        <p:nvSpPr>
          <p:cNvPr id="6" name="TextBox 6"/>
          <p:cNvSpPr txBox="1"/>
          <p:nvPr/>
        </p:nvSpPr>
        <p:spPr>
          <a:xfrm>
            <a:off x="1566754" y="3174529"/>
            <a:ext cx="9904989" cy="4170045"/>
          </a:xfrm>
          <a:prstGeom prst="rect">
            <a:avLst/>
          </a:prstGeom>
        </p:spPr>
        <p:txBody>
          <a:bodyPr lIns="0" tIns="0" rIns="0" bIns="0" rtlCol="0" anchor="t">
            <a:spAutoFit/>
          </a:bodyPr>
          <a:lstStyle/>
          <a:p>
            <a:pPr algn="just">
              <a:lnSpc>
                <a:spcPts val="4199"/>
              </a:lnSpc>
            </a:pPr>
            <a:r>
              <a:rPr lang="en-US" sz="2799">
                <a:solidFill>
                  <a:srgbClr val="000000"/>
                </a:solidFill>
                <a:latin typeface="Quicksand"/>
                <a:ea typeface="Quicksand"/>
                <a:cs typeface="Quicksand"/>
                <a:sym typeface="Quicksand"/>
              </a:rPr>
              <a:t>A peer-to-peer network is a simple network of computers. It first came into existence in the late 1970s. Here each computer acts as a node for file sharing within the formed network. Here each node acts as a server and thus there is no central server in the network.</a:t>
            </a:r>
          </a:p>
          <a:p>
            <a:pPr algn="just">
              <a:lnSpc>
                <a:spcPts val="4199"/>
              </a:lnSpc>
            </a:pPr>
            <a:endParaRPr lang="en-US" sz="2799">
              <a:solidFill>
                <a:srgbClr val="000000"/>
              </a:solidFill>
              <a:latin typeface="Quicksand"/>
              <a:ea typeface="Quicksand"/>
              <a:cs typeface="Quicksand"/>
              <a:sym typeface="Quicksand"/>
            </a:endParaRPr>
          </a:p>
          <a:p>
            <a:pPr algn="l">
              <a:lnSpc>
                <a:spcPts val="4199"/>
              </a:lnSpc>
            </a:pPr>
            <a:endParaRPr lang="en-US" sz="2799">
              <a:solidFill>
                <a:srgbClr val="000000"/>
              </a:solidFill>
              <a:latin typeface="Quicksand"/>
              <a:ea typeface="Quicksand"/>
              <a:cs typeface="Quicksand"/>
              <a:sym typeface="Quicksand"/>
            </a:endParaRP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0715625" cy="8229600"/>
            <a:chOff x="0" y="0"/>
            <a:chExt cx="2822222" cy="2167467"/>
          </a:xfrm>
        </p:grpSpPr>
        <p:sp>
          <p:nvSpPr>
            <p:cNvPr id="3" name="Freeform 3"/>
            <p:cNvSpPr/>
            <p:nvPr/>
          </p:nvSpPr>
          <p:spPr>
            <a:xfrm>
              <a:off x="0" y="0"/>
              <a:ext cx="2822222" cy="2167467"/>
            </a:xfrm>
            <a:custGeom>
              <a:avLst/>
              <a:gdLst/>
              <a:ahLst/>
              <a:cxnLst/>
              <a:rect l="l" t="t" r="r" b="b"/>
              <a:pathLst>
                <a:path w="2822222" h="2167467">
                  <a:moveTo>
                    <a:pt x="0" y="0"/>
                  </a:moveTo>
                  <a:lnTo>
                    <a:pt x="2822222" y="0"/>
                  </a:lnTo>
                  <a:lnTo>
                    <a:pt x="2822222" y="2167467"/>
                  </a:lnTo>
                  <a:lnTo>
                    <a:pt x="0" y="2167467"/>
                  </a:lnTo>
                  <a:close/>
                </a:path>
              </a:pathLst>
            </a:custGeom>
            <a:solidFill>
              <a:srgbClr val="FFFFFF"/>
            </a:solidFill>
          </p:spPr>
        </p:sp>
        <p:sp>
          <p:nvSpPr>
            <p:cNvPr id="4" name="TextBox 4"/>
            <p:cNvSpPr txBox="1"/>
            <p:nvPr/>
          </p:nvSpPr>
          <p:spPr>
            <a:xfrm>
              <a:off x="0" y="-38100"/>
              <a:ext cx="2822222" cy="22055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1972925" y="2435706"/>
            <a:ext cx="5713776" cy="5619115"/>
          </a:xfrm>
          <a:prstGeom prst="rect">
            <a:avLst/>
          </a:prstGeom>
        </p:spPr>
        <p:txBody>
          <a:bodyPr lIns="0" tIns="0" rIns="0" bIns="0" rtlCol="0" anchor="t">
            <a:spAutoFit/>
          </a:bodyPr>
          <a:lstStyle/>
          <a:p>
            <a:pPr algn="l">
              <a:lnSpc>
                <a:spcPts val="8959"/>
              </a:lnSpc>
            </a:pPr>
            <a:r>
              <a:rPr lang="en-US" sz="6399">
                <a:solidFill>
                  <a:srgbClr val="FFFFFF"/>
                </a:solidFill>
                <a:latin typeface="Fredoka"/>
                <a:ea typeface="Fredoka"/>
                <a:cs typeface="Fredoka"/>
                <a:sym typeface="Fredoka"/>
              </a:rPr>
              <a:t>WHAT IS A PEER-TO-PEER (P2P) SERVICE?</a:t>
            </a:r>
          </a:p>
          <a:p>
            <a:pPr algn="l">
              <a:lnSpc>
                <a:spcPts val="8959"/>
              </a:lnSpc>
            </a:pPr>
            <a:endParaRPr lang="en-US" sz="6399">
              <a:solidFill>
                <a:srgbClr val="FFFFFF"/>
              </a:solidFill>
              <a:latin typeface="Fredoka"/>
              <a:ea typeface="Fredoka"/>
              <a:cs typeface="Fredoka"/>
              <a:sym typeface="Fredoka"/>
            </a:endParaRPr>
          </a:p>
        </p:txBody>
      </p:sp>
      <p:sp>
        <p:nvSpPr>
          <p:cNvPr id="6" name="TextBox 6"/>
          <p:cNvSpPr txBox="1"/>
          <p:nvPr/>
        </p:nvSpPr>
        <p:spPr>
          <a:xfrm>
            <a:off x="1434018" y="2464281"/>
            <a:ext cx="9904989" cy="4693920"/>
          </a:xfrm>
          <a:prstGeom prst="rect">
            <a:avLst/>
          </a:prstGeom>
        </p:spPr>
        <p:txBody>
          <a:bodyPr lIns="0" tIns="0" rIns="0" bIns="0" rtlCol="0" anchor="t">
            <a:spAutoFit/>
          </a:bodyPr>
          <a:lstStyle/>
          <a:p>
            <a:pPr algn="just">
              <a:lnSpc>
                <a:spcPts val="4199"/>
              </a:lnSpc>
            </a:pPr>
            <a:endParaRPr/>
          </a:p>
          <a:p>
            <a:pPr algn="just">
              <a:lnSpc>
                <a:spcPts val="4199"/>
              </a:lnSpc>
            </a:pPr>
            <a:r>
              <a:rPr lang="en-US" sz="2799">
                <a:solidFill>
                  <a:srgbClr val="000000"/>
                </a:solidFill>
                <a:latin typeface="Quicksand"/>
                <a:ea typeface="Quicksand"/>
                <a:cs typeface="Quicksand"/>
                <a:sym typeface="Quicksand"/>
              </a:rPr>
              <a:t>This allows the sharing of a huge amount of data. The tasks are equally divided amongst the nodes. Each node connected in the network shares an equal workload. For the network to stop working, all the nodes need to individually stop working. This is because each node works independently. </a:t>
            </a:r>
          </a:p>
          <a:p>
            <a:pPr algn="l">
              <a:lnSpc>
                <a:spcPts val="4199"/>
              </a:lnSpc>
            </a:pPr>
            <a:endParaRPr lang="en-US" sz="2799">
              <a:solidFill>
                <a:srgbClr val="000000"/>
              </a:solidFill>
              <a:latin typeface="Quicksand"/>
              <a:ea typeface="Quicksand"/>
              <a:cs typeface="Quicksand"/>
              <a:sym typeface="Quicksand"/>
            </a:endParaRP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16230600" cy="1711239"/>
            <a:chOff x="0" y="0"/>
            <a:chExt cx="4274726" cy="450697"/>
          </a:xfrm>
        </p:grpSpPr>
        <p:sp>
          <p:nvSpPr>
            <p:cNvPr id="3" name="Freeform 3"/>
            <p:cNvSpPr/>
            <p:nvPr/>
          </p:nvSpPr>
          <p:spPr>
            <a:xfrm>
              <a:off x="0" y="0"/>
              <a:ext cx="4274726" cy="450697"/>
            </a:xfrm>
            <a:custGeom>
              <a:avLst/>
              <a:gdLst/>
              <a:ahLst/>
              <a:cxnLst/>
              <a:rect l="l" t="t" r="r" b="b"/>
              <a:pathLst>
                <a:path w="4274726" h="450697">
                  <a:moveTo>
                    <a:pt x="0" y="0"/>
                  </a:moveTo>
                  <a:lnTo>
                    <a:pt x="4274726" y="0"/>
                  </a:lnTo>
                  <a:lnTo>
                    <a:pt x="4274726" y="450697"/>
                  </a:lnTo>
                  <a:lnTo>
                    <a:pt x="0" y="450697"/>
                  </a:lnTo>
                  <a:close/>
                </a:path>
              </a:pathLst>
            </a:custGeom>
            <a:solidFill>
              <a:srgbClr val="FFFFFF"/>
            </a:solidFill>
          </p:spPr>
        </p:sp>
        <p:sp>
          <p:nvSpPr>
            <p:cNvPr id="4" name="TextBox 4"/>
            <p:cNvSpPr txBox="1"/>
            <p:nvPr/>
          </p:nvSpPr>
          <p:spPr>
            <a:xfrm>
              <a:off x="0" y="-38100"/>
              <a:ext cx="4274726" cy="4887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5540512"/>
            <a:ext cx="7203946" cy="3530293"/>
            <a:chOff x="0" y="0"/>
            <a:chExt cx="1897336" cy="929789"/>
          </a:xfrm>
        </p:grpSpPr>
        <p:sp>
          <p:nvSpPr>
            <p:cNvPr id="6" name="Freeform 6"/>
            <p:cNvSpPr/>
            <p:nvPr/>
          </p:nvSpPr>
          <p:spPr>
            <a:xfrm>
              <a:off x="0" y="0"/>
              <a:ext cx="1897336" cy="929789"/>
            </a:xfrm>
            <a:custGeom>
              <a:avLst/>
              <a:gdLst/>
              <a:ahLst/>
              <a:cxnLst/>
              <a:rect l="l" t="t" r="r" b="b"/>
              <a:pathLst>
                <a:path w="1897336" h="929789">
                  <a:moveTo>
                    <a:pt x="0" y="0"/>
                  </a:moveTo>
                  <a:lnTo>
                    <a:pt x="1897336" y="0"/>
                  </a:lnTo>
                  <a:lnTo>
                    <a:pt x="1897336" y="929789"/>
                  </a:lnTo>
                  <a:lnTo>
                    <a:pt x="0" y="929789"/>
                  </a:lnTo>
                  <a:close/>
                </a:path>
              </a:pathLst>
            </a:custGeom>
            <a:solidFill>
              <a:srgbClr val="FFFFFF"/>
            </a:solidFill>
          </p:spPr>
        </p:sp>
        <p:sp>
          <p:nvSpPr>
            <p:cNvPr id="7" name="TextBox 7"/>
            <p:cNvSpPr txBox="1"/>
            <p:nvPr/>
          </p:nvSpPr>
          <p:spPr>
            <a:xfrm>
              <a:off x="0" y="-38100"/>
              <a:ext cx="1897336" cy="96788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608105" y="5540512"/>
            <a:ext cx="6651195" cy="3530293"/>
            <a:chOff x="0" y="0"/>
            <a:chExt cx="1751755" cy="929789"/>
          </a:xfrm>
        </p:grpSpPr>
        <p:sp>
          <p:nvSpPr>
            <p:cNvPr id="9" name="Freeform 9"/>
            <p:cNvSpPr/>
            <p:nvPr/>
          </p:nvSpPr>
          <p:spPr>
            <a:xfrm>
              <a:off x="0" y="0"/>
              <a:ext cx="1751755" cy="929789"/>
            </a:xfrm>
            <a:custGeom>
              <a:avLst/>
              <a:gdLst/>
              <a:ahLst/>
              <a:cxnLst/>
              <a:rect l="l" t="t" r="r" b="b"/>
              <a:pathLst>
                <a:path w="1751755" h="929789">
                  <a:moveTo>
                    <a:pt x="0" y="0"/>
                  </a:moveTo>
                  <a:lnTo>
                    <a:pt x="1751755" y="0"/>
                  </a:lnTo>
                  <a:lnTo>
                    <a:pt x="1751755" y="929789"/>
                  </a:lnTo>
                  <a:lnTo>
                    <a:pt x="0" y="929789"/>
                  </a:lnTo>
                  <a:close/>
                </a:path>
              </a:pathLst>
            </a:custGeom>
            <a:solidFill>
              <a:srgbClr val="FFFFFF"/>
            </a:solidFill>
          </p:spPr>
        </p:sp>
        <p:sp>
          <p:nvSpPr>
            <p:cNvPr id="10" name="TextBox 10"/>
            <p:cNvSpPr txBox="1"/>
            <p:nvPr/>
          </p:nvSpPr>
          <p:spPr>
            <a:xfrm>
              <a:off x="0" y="-38100"/>
              <a:ext cx="1751755" cy="96788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404938" y="914400"/>
            <a:ext cx="15478125" cy="2218690"/>
          </a:xfrm>
          <a:prstGeom prst="rect">
            <a:avLst/>
          </a:prstGeom>
        </p:spPr>
        <p:txBody>
          <a:bodyPr lIns="0" tIns="0" rIns="0" bIns="0" rtlCol="0" anchor="t">
            <a:spAutoFit/>
          </a:bodyPr>
          <a:lstStyle/>
          <a:p>
            <a:pPr algn="ctr">
              <a:lnSpc>
                <a:spcPts val="8959"/>
              </a:lnSpc>
            </a:pPr>
            <a:r>
              <a:rPr lang="en-US" sz="6399">
                <a:solidFill>
                  <a:srgbClr val="FFFFFF"/>
                </a:solidFill>
                <a:latin typeface="Fredoka"/>
                <a:ea typeface="Fredoka"/>
                <a:cs typeface="Fredoka"/>
                <a:sym typeface="Fredoka"/>
              </a:rPr>
              <a:t>HISTORY OF P2P NETWORKS</a:t>
            </a:r>
          </a:p>
          <a:p>
            <a:pPr algn="ctr">
              <a:lnSpc>
                <a:spcPts val="8959"/>
              </a:lnSpc>
            </a:pPr>
            <a:endParaRPr lang="en-US" sz="6399">
              <a:solidFill>
                <a:srgbClr val="FFFFFF"/>
              </a:solidFill>
              <a:latin typeface="Fredoka"/>
              <a:ea typeface="Fredoka"/>
              <a:cs typeface="Fredoka"/>
              <a:sym typeface="Fredoka"/>
            </a:endParaRPr>
          </a:p>
        </p:txBody>
      </p:sp>
      <p:sp>
        <p:nvSpPr>
          <p:cNvPr id="12" name="TextBox 12"/>
          <p:cNvSpPr txBox="1"/>
          <p:nvPr/>
        </p:nvSpPr>
        <p:spPr>
          <a:xfrm>
            <a:off x="1404938" y="2692188"/>
            <a:ext cx="15633581" cy="1803817"/>
          </a:xfrm>
          <a:prstGeom prst="rect">
            <a:avLst/>
          </a:prstGeom>
        </p:spPr>
        <p:txBody>
          <a:bodyPr lIns="0" tIns="0" rIns="0" bIns="0" rtlCol="0" anchor="t">
            <a:spAutoFit/>
          </a:bodyPr>
          <a:lstStyle/>
          <a:p>
            <a:pPr algn="just">
              <a:lnSpc>
                <a:spcPts val="3608"/>
              </a:lnSpc>
            </a:pPr>
            <a:r>
              <a:rPr lang="en-US" sz="2405" dirty="0">
                <a:solidFill>
                  <a:srgbClr val="000000"/>
                </a:solidFill>
                <a:latin typeface="Quicksand"/>
                <a:ea typeface="Quicksand"/>
                <a:cs typeface="Quicksand"/>
                <a:sym typeface="Quicksand"/>
              </a:rPr>
              <a:t> Before the development of P2P, USENET came into existence in 1979. The network enabled the users to read and post messages. Unlike the forums we use today, it did not have a central server. It is used to copy the new messages to all the servers of the node. </a:t>
            </a:r>
          </a:p>
          <a:p>
            <a:pPr marL="0" lvl="0" indent="0" algn="just">
              <a:lnSpc>
                <a:spcPts val="3608"/>
              </a:lnSpc>
              <a:spcBef>
                <a:spcPct val="0"/>
              </a:spcBef>
            </a:pPr>
            <a:endParaRPr lang="en-US" sz="2405" dirty="0">
              <a:solidFill>
                <a:srgbClr val="000000"/>
              </a:solidFill>
              <a:latin typeface="Quicksand"/>
              <a:ea typeface="Quicksand"/>
              <a:cs typeface="Quicksand"/>
              <a:sym typeface="Quicksand"/>
            </a:endParaRPr>
          </a:p>
        </p:txBody>
      </p:sp>
      <p:sp>
        <p:nvSpPr>
          <p:cNvPr id="13" name="TextBox 13"/>
          <p:cNvSpPr txBox="1"/>
          <p:nvPr/>
        </p:nvSpPr>
        <p:spPr>
          <a:xfrm>
            <a:off x="2289229" y="6965616"/>
            <a:ext cx="4682887" cy="1133475"/>
          </a:xfrm>
          <a:prstGeom prst="rect">
            <a:avLst/>
          </a:prstGeom>
        </p:spPr>
        <p:txBody>
          <a:bodyPr lIns="0" tIns="0" rIns="0" bIns="0" rtlCol="0" anchor="t">
            <a:spAutoFit/>
          </a:bodyPr>
          <a:lstStyle/>
          <a:p>
            <a:pPr marL="0" lvl="0" indent="0" algn="l">
              <a:lnSpc>
                <a:spcPts val="3000"/>
              </a:lnSpc>
              <a:spcBef>
                <a:spcPct val="0"/>
              </a:spcBef>
            </a:pPr>
            <a:r>
              <a:rPr lang="en-US" sz="2400" dirty="0">
                <a:solidFill>
                  <a:srgbClr val="000000"/>
                </a:solidFill>
                <a:latin typeface="Quicksand"/>
                <a:ea typeface="Quicksand"/>
                <a:cs typeface="Quicksand"/>
                <a:sym typeface="Quicksand"/>
              </a:rPr>
              <a:t>the first use of P2P networks occurred after personal computers were introduced.</a:t>
            </a:r>
          </a:p>
        </p:txBody>
      </p:sp>
      <p:sp>
        <p:nvSpPr>
          <p:cNvPr id="14" name="TextBox 14"/>
          <p:cNvSpPr txBox="1"/>
          <p:nvPr/>
        </p:nvSpPr>
        <p:spPr>
          <a:xfrm>
            <a:off x="2709542" y="6155039"/>
            <a:ext cx="2478558" cy="603885"/>
          </a:xfrm>
          <a:prstGeom prst="rect">
            <a:avLst/>
          </a:prstGeom>
        </p:spPr>
        <p:txBody>
          <a:bodyPr lIns="0" tIns="0" rIns="0" bIns="0" rtlCol="0" anchor="t">
            <a:spAutoFit/>
          </a:bodyPr>
          <a:lstStyle/>
          <a:p>
            <a:pPr algn="ctr">
              <a:lnSpc>
                <a:spcPts val="5040"/>
              </a:lnSpc>
            </a:pPr>
            <a:r>
              <a:rPr lang="en-US" sz="3600" b="1">
                <a:solidFill>
                  <a:srgbClr val="000000"/>
                </a:solidFill>
                <a:latin typeface="Quicksand Bold"/>
                <a:ea typeface="Quicksand Bold"/>
                <a:cs typeface="Quicksand Bold"/>
                <a:sym typeface="Quicksand Bold"/>
              </a:rPr>
              <a:t>1980s</a:t>
            </a:r>
          </a:p>
        </p:txBody>
      </p:sp>
      <p:sp>
        <p:nvSpPr>
          <p:cNvPr id="15" name="TextBox 15"/>
          <p:cNvSpPr txBox="1"/>
          <p:nvPr/>
        </p:nvSpPr>
        <p:spPr>
          <a:xfrm>
            <a:off x="11846530" y="6965616"/>
            <a:ext cx="4096665" cy="1895475"/>
          </a:xfrm>
          <a:prstGeom prst="rect">
            <a:avLst/>
          </a:prstGeom>
        </p:spPr>
        <p:txBody>
          <a:bodyPr lIns="0" tIns="0" rIns="0" bIns="0" rtlCol="0" anchor="t">
            <a:spAutoFit/>
          </a:bodyPr>
          <a:lstStyle/>
          <a:p>
            <a:pPr algn="l">
              <a:lnSpc>
                <a:spcPts val="3000"/>
              </a:lnSpc>
              <a:spcBef>
                <a:spcPct val="0"/>
              </a:spcBef>
            </a:pPr>
            <a:r>
              <a:rPr lang="en-US" sz="2400" dirty="0">
                <a:solidFill>
                  <a:srgbClr val="000000"/>
                </a:solidFill>
                <a:latin typeface="Quicksand"/>
                <a:ea typeface="Quicksand"/>
                <a:cs typeface="Quicksand"/>
                <a:sym typeface="Quicksand"/>
              </a:rPr>
              <a:t>the internet relay chat was the first P2P network built to share text and chat.</a:t>
            </a:r>
          </a:p>
          <a:p>
            <a:pPr marL="0" lvl="0" indent="0" algn="l">
              <a:lnSpc>
                <a:spcPts val="3000"/>
              </a:lnSpc>
              <a:spcBef>
                <a:spcPct val="0"/>
              </a:spcBef>
            </a:pPr>
            <a:endParaRPr lang="en-US" sz="2400" dirty="0">
              <a:solidFill>
                <a:srgbClr val="000000"/>
              </a:solidFill>
              <a:latin typeface="Quicksand"/>
              <a:ea typeface="Quicksand"/>
              <a:cs typeface="Quicksand"/>
              <a:sym typeface="Quicksand"/>
            </a:endParaRPr>
          </a:p>
          <a:p>
            <a:pPr marL="0" lvl="0" indent="0" algn="l">
              <a:lnSpc>
                <a:spcPts val="3000"/>
              </a:lnSpc>
              <a:spcBef>
                <a:spcPct val="0"/>
              </a:spcBef>
            </a:pPr>
            <a:endParaRPr lang="en-US" sz="2400" dirty="0">
              <a:solidFill>
                <a:srgbClr val="000000"/>
              </a:solidFill>
              <a:latin typeface="Quicksand"/>
              <a:ea typeface="Quicksand"/>
              <a:cs typeface="Quicksand"/>
              <a:sym typeface="Quicksand"/>
            </a:endParaRPr>
          </a:p>
        </p:txBody>
      </p:sp>
      <p:sp>
        <p:nvSpPr>
          <p:cNvPr id="16" name="TextBox 16"/>
          <p:cNvSpPr txBox="1"/>
          <p:nvPr/>
        </p:nvSpPr>
        <p:spPr>
          <a:xfrm>
            <a:off x="12517442" y="6155039"/>
            <a:ext cx="2832521" cy="603885"/>
          </a:xfrm>
          <a:prstGeom prst="rect">
            <a:avLst/>
          </a:prstGeom>
        </p:spPr>
        <p:txBody>
          <a:bodyPr lIns="0" tIns="0" rIns="0" bIns="0" rtlCol="0" anchor="t">
            <a:spAutoFit/>
          </a:bodyPr>
          <a:lstStyle/>
          <a:p>
            <a:pPr algn="ctr">
              <a:lnSpc>
                <a:spcPts val="5040"/>
              </a:lnSpc>
            </a:pPr>
            <a:r>
              <a:rPr lang="en-US" sz="3600" b="1">
                <a:solidFill>
                  <a:srgbClr val="000000"/>
                </a:solidFill>
                <a:latin typeface="Quicksand Bold"/>
                <a:ea typeface="Quicksand Bold"/>
                <a:cs typeface="Quicksand Bold"/>
                <a:sym typeface="Quicksand Bold"/>
              </a:rPr>
              <a:t>August 1988</a:t>
            </a: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969801"/>
            <a:ext cx="7203946" cy="5101005"/>
            <a:chOff x="0" y="0"/>
            <a:chExt cx="1897336" cy="1343474"/>
          </a:xfrm>
        </p:grpSpPr>
        <p:sp>
          <p:nvSpPr>
            <p:cNvPr id="3" name="Freeform 3"/>
            <p:cNvSpPr/>
            <p:nvPr/>
          </p:nvSpPr>
          <p:spPr>
            <a:xfrm>
              <a:off x="0" y="0"/>
              <a:ext cx="1897336" cy="1343474"/>
            </a:xfrm>
            <a:custGeom>
              <a:avLst/>
              <a:gdLst/>
              <a:ahLst/>
              <a:cxnLst/>
              <a:rect l="l" t="t" r="r" b="b"/>
              <a:pathLst>
                <a:path w="1897336" h="1343474">
                  <a:moveTo>
                    <a:pt x="0" y="0"/>
                  </a:moveTo>
                  <a:lnTo>
                    <a:pt x="1897336" y="0"/>
                  </a:lnTo>
                  <a:lnTo>
                    <a:pt x="1897336" y="1343474"/>
                  </a:lnTo>
                  <a:lnTo>
                    <a:pt x="0" y="1343474"/>
                  </a:lnTo>
                  <a:close/>
                </a:path>
              </a:pathLst>
            </a:custGeom>
            <a:solidFill>
              <a:srgbClr val="FFFFFF"/>
            </a:solidFill>
          </p:spPr>
        </p:sp>
        <p:sp>
          <p:nvSpPr>
            <p:cNvPr id="4" name="TextBox 4"/>
            <p:cNvSpPr txBox="1"/>
            <p:nvPr/>
          </p:nvSpPr>
          <p:spPr>
            <a:xfrm>
              <a:off x="0" y="-38100"/>
              <a:ext cx="1897336" cy="138157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364755" y="3969801"/>
            <a:ext cx="6894545" cy="5101005"/>
            <a:chOff x="0" y="0"/>
            <a:chExt cx="1815847" cy="1343474"/>
          </a:xfrm>
        </p:grpSpPr>
        <p:sp>
          <p:nvSpPr>
            <p:cNvPr id="6" name="Freeform 6"/>
            <p:cNvSpPr/>
            <p:nvPr/>
          </p:nvSpPr>
          <p:spPr>
            <a:xfrm>
              <a:off x="0" y="0"/>
              <a:ext cx="1815847" cy="1343474"/>
            </a:xfrm>
            <a:custGeom>
              <a:avLst/>
              <a:gdLst/>
              <a:ahLst/>
              <a:cxnLst/>
              <a:rect l="l" t="t" r="r" b="b"/>
              <a:pathLst>
                <a:path w="1815847" h="1343474">
                  <a:moveTo>
                    <a:pt x="0" y="0"/>
                  </a:moveTo>
                  <a:lnTo>
                    <a:pt x="1815847" y="0"/>
                  </a:lnTo>
                  <a:lnTo>
                    <a:pt x="1815847" y="1343474"/>
                  </a:lnTo>
                  <a:lnTo>
                    <a:pt x="0" y="1343474"/>
                  </a:lnTo>
                  <a:close/>
                </a:path>
              </a:pathLst>
            </a:custGeom>
            <a:solidFill>
              <a:srgbClr val="FFFFFF"/>
            </a:solidFill>
          </p:spPr>
        </p:sp>
        <p:sp>
          <p:nvSpPr>
            <p:cNvPr id="7" name="TextBox 7"/>
            <p:cNvSpPr txBox="1"/>
            <p:nvPr/>
          </p:nvSpPr>
          <p:spPr>
            <a:xfrm>
              <a:off x="0" y="-38100"/>
              <a:ext cx="1815847" cy="138157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404938" y="914400"/>
            <a:ext cx="15478125" cy="2218690"/>
          </a:xfrm>
          <a:prstGeom prst="rect">
            <a:avLst/>
          </a:prstGeom>
        </p:spPr>
        <p:txBody>
          <a:bodyPr lIns="0" tIns="0" rIns="0" bIns="0" rtlCol="0" anchor="t">
            <a:spAutoFit/>
          </a:bodyPr>
          <a:lstStyle/>
          <a:p>
            <a:pPr algn="ctr">
              <a:lnSpc>
                <a:spcPts val="8959"/>
              </a:lnSpc>
            </a:pPr>
            <a:r>
              <a:rPr lang="en-US" sz="6399" dirty="0">
                <a:solidFill>
                  <a:srgbClr val="FFFFFF"/>
                </a:solidFill>
                <a:latin typeface="Fredoka"/>
                <a:ea typeface="Fredoka"/>
                <a:cs typeface="Fredoka"/>
                <a:sym typeface="Fredoka"/>
              </a:rPr>
              <a:t>HISTORY OF P2P NETWORKS</a:t>
            </a:r>
          </a:p>
          <a:p>
            <a:pPr algn="ctr">
              <a:lnSpc>
                <a:spcPts val="8959"/>
              </a:lnSpc>
            </a:pPr>
            <a:endParaRPr lang="en-US" sz="6399" dirty="0">
              <a:solidFill>
                <a:srgbClr val="FFFFFF"/>
              </a:solidFill>
              <a:latin typeface="Fredoka"/>
              <a:ea typeface="Fredoka"/>
              <a:cs typeface="Fredoka"/>
              <a:sym typeface="Fredoka"/>
            </a:endParaRPr>
          </a:p>
        </p:txBody>
      </p:sp>
      <p:sp>
        <p:nvSpPr>
          <p:cNvPr id="9" name="TextBox 9"/>
          <p:cNvSpPr txBox="1"/>
          <p:nvPr/>
        </p:nvSpPr>
        <p:spPr>
          <a:xfrm>
            <a:off x="1404938" y="5612114"/>
            <a:ext cx="6466418" cy="2359749"/>
          </a:xfrm>
          <a:prstGeom prst="rect">
            <a:avLst/>
          </a:prstGeom>
        </p:spPr>
        <p:txBody>
          <a:bodyPr lIns="0" tIns="0" rIns="0" bIns="0" rtlCol="0" anchor="t">
            <a:spAutoFit/>
          </a:bodyPr>
          <a:lstStyle/>
          <a:p>
            <a:pPr marL="0" lvl="0" indent="0" algn="just">
              <a:lnSpc>
                <a:spcPts val="3124"/>
              </a:lnSpc>
              <a:spcBef>
                <a:spcPct val="0"/>
              </a:spcBef>
            </a:pPr>
            <a:r>
              <a:rPr lang="en-US" sz="2400" dirty="0">
                <a:solidFill>
                  <a:srgbClr val="000000"/>
                </a:solidFill>
                <a:latin typeface="Quicksand"/>
                <a:ea typeface="Quicksand"/>
                <a:cs typeface="Quicksand"/>
                <a:sym typeface="Quicksand"/>
              </a:rPr>
              <a:t>Napster was developed which was a file-sharing P2P software. It could be used to share audio files as well. This software was shut down due to the illegal sharing of files. But the concept of network sharing </a:t>
            </a:r>
            <a:r>
              <a:rPr lang="en-US" sz="2400" dirty="0" err="1">
                <a:solidFill>
                  <a:srgbClr val="000000"/>
                </a:solidFill>
                <a:latin typeface="Quicksand"/>
                <a:ea typeface="Quicksand"/>
                <a:cs typeface="Quicksand"/>
                <a:sym typeface="Quicksand"/>
              </a:rPr>
              <a:t>i.e</a:t>
            </a:r>
            <a:r>
              <a:rPr lang="en-US" sz="2400" dirty="0">
                <a:solidFill>
                  <a:srgbClr val="000000"/>
                </a:solidFill>
                <a:latin typeface="Quicksand"/>
                <a:ea typeface="Quicksand"/>
                <a:cs typeface="Quicksand"/>
                <a:sym typeface="Quicksand"/>
              </a:rPr>
              <a:t> P2P became popular. </a:t>
            </a:r>
          </a:p>
        </p:txBody>
      </p:sp>
      <p:sp>
        <p:nvSpPr>
          <p:cNvPr id="10" name="TextBox 10"/>
          <p:cNvSpPr txBox="1"/>
          <p:nvPr/>
        </p:nvSpPr>
        <p:spPr>
          <a:xfrm>
            <a:off x="3107750" y="4539615"/>
            <a:ext cx="2478558" cy="603885"/>
          </a:xfrm>
          <a:prstGeom prst="rect">
            <a:avLst/>
          </a:prstGeom>
        </p:spPr>
        <p:txBody>
          <a:bodyPr lIns="0" tIns="0" rIns="0" bIns="0" rtlCol="0" anchor="t">
            <a:spAutoFit/>
          </a:bodyPr>
          <a:lstStyle/>
          <a:p>
            <a:pPr algn="ctr">
              <a:lnSpc>
                <a:spcPts val="5040"/>
              </a:lnSpc>
            </a:pPr>
            <a:r>
              <a:rPr lang="en-US" sz="3600" b="1">
                <a:solidFill>
                  <a:srgbClr val="000000"/>
                </a:solidFill>
                <a:latin typeface="Quicksand Bold"/>
                <a:ea typeface="Quicksand Bold"/>
                <a:cs typeface="Quicksand Bold"/>
                <a:sym typeface="Quicksand Bold"/>
              </a:rPr>
              <a:t>June 1999</a:t>
            </a:r>
          </a:p>
        </p:txBody>
      </p:sp>
      <p:sp>
        <p:nvSpPr>
          <p:cNvPr id="11" name="TextBox 11"/>
          <p:cNvSpPr txBox="1"/>
          <p:nvPr/>
        </p:nvSpPr>
        <p:spPr>
          <a:xfrm>
            <a:off x="10934094" y="5612114"/>
            <a:ext cx="5948968" cy="1516569"/>
          </a:xfrm>
          <a:prstGeom prst="rect">
            <a:avLst/>
          </a:prstGeom>
        </p:spPr>
        <p:txBody>
          <a:bodyPr lIns="0" tIns="0" rIns="0" bIns="0" rtlCol="0" anchor="t">
            <a:spAutoFit/>
          </a:bodyPr>
          <a:lstStyle/>
          <a:p>
            <a:pPr algn="l">
              <a:lnSpc>
                <a:spcPts val="3000"/>
              </a:lnSpc>
              <a:spcBef>
                <a:spcPct val="0"/>
              </a:spcBef>
            </a:pPr>
            <a:r>
              <a:rPr lang="en-US" sz="2400" dirty="0">
                <a:solidFill>
                  <a:srgbClr val="000000"/>
                </a:solidFill>
                <a:latin typeface="Quicksand"/>
                <a:ea typeface="Quicksand"/>
                <a:cs typeface="Quicksand"/>
                <a:sym typeface="Quicksand"/>
              </a:rPr>
              <a:t>Gnutella was the first decentralized P2P file sharing network. This allowed users to access files on other users' computers via a designated folder.</a:t>
            </a:r>
          </a:p>
        </p:txBody>
      </p:sp>
      <p:sp>
        <p:nvSpPr>
          <p:cNvPr id="12" name="TextBox 12"/>
          <p:cNvSpPr txBox="1"/>
          <p:nvPr/>
        </p:nvSpPr>
        <p:spPr>
          <a:xfrm>
            <a:off x="12716546" y="4539615"/>
            <a:ext cx="2832521" cy="603885"/>
          </a:xfrm>
          <a:prstGeom prst="rect">
            <a:avLst/>
          </a:prstGeom>
        </p:spPr>
        <p:txBody>
          <a:bodyPr lIns="0" tIns="0" rIns="0" bIns="0" rtlCol="0" anchor="t">
            <a:spAutoFit/>
          </a:bodyPr>
          <a:lstStyle/>
          <a:p>
            <a:pPr algn="ctr">
              <a:lnSpc>
                <a:spcPts val="5040"/>
              </a:lnSpc>
            </a:pPr>
            <a:r>
              <a:rPr lang="en-US" sz="3600" b="1">
                <a:solidFill>
                  <a:srgbClr val="000000"/>
                </a:solidFill>
                <a:latin typeface="Quicksand Bold"/>
                <a:ea typeface="Quicksand Bold"/>
                <a:cs typeface="Quicksand Bold"/>
                <a:sym typeface="Quicksand Bold"/>
              </a:rPr>
              <a:t>August 1988</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404938" y="914400"/>
            <a:ext cx="15478125" cy="1085215"/>
          </a:xfrm>
          <a:prstGeom prst="rect">
            <a:avLst/>
          </a:prstGeom>
        </p:spPr>
        <p:txBody>
          <a:bodyPr lIns="0" tIns="0" rIns="0" bIns="0" rtlCol="0" anchor="t">
            <a:spAutoFit/>
          </a:bodyPr>
          <a:lstStyle/>
          <a:p>
            <a:pPr algn="ctr">
              <a:lnSpc>
                <a:spcPts val="8959"/>
              </a:lnSpc>
            </a:pPr>
            <a:r>
              <a:rPr lang="en-US" sz="6399" dirty="0">
                <a:solidFill>
                  <a:srgbClr val="FFFFFF"/>
                </a:solidFill>
                <a:latin typeface="Fredoka"/>
                <a:ea typeface="Fredoka"/>
                <a:cs typeface="Fredoka"/>
                <a:sym typeface="Fredoka"/>
              </a:rPr>
              <a:t>CONCEPT OF P2P</a:t>
            </a:r>
          </a:p>
        </p:txBody>
      </p:sp>
      <p:grpSp>
        <p:nvGrpSpPr>
          <p:cNvPr id="3" name="Group 3"/>
          <p:cNvGrpSpPr/>
          <p:nvPr/>
        </p:nvGrpSpPr>
        <p:grpSpPr>
          <a:xfrm>
            <a:off x="9725067" y="3061464"/>
            <a:ext cx="6953165" cy="2969958"/>
            <a:chOff x="0" y="0"/>
            <a:chExt cx="1831286" cy="782211"/>
          </a:xfrm>
        </p:grpSpPr>
        <p:sp>
          <p:nvSpPr>
            <p:cNvPr id="4" name="Freeform 4"/>
            <p:cNvSpPr/>
            <p:nvPr/>
          </p:nvSpPr>
          <p:spPr>
            <a:xfrm>
              <a:off x="0" y="0"/>
              <a:ext cx="1831286" cy="782211"/>
            </a:xfrm>
            <a:custGeom>
              <a:avLst/>
              <a:gdLst/>
              <a:ahLst/>
              <a:cxnLst/>
              <a:rect l="l" t="t" r="r" b="b"/>
              <a:pathLst>
                <a:path w="1831286" h="782211">
                  <a:moveTo>
                    <a:pt x="0" y="0"/>
                  </a:moveTo>
                  <a:lnTo>
                    <a:pt x="1831286" y="0"/>
                  </a:lnTo>
                  <a:lnTo>
                    <a:pt x="1831286" y="782211"/>
                  </a:lnTo>
                  <a:lnTo>
                    <a:pt x="0" y="782211"/>
                  </a:lnTo>
                  <a:close/>
                </a:path>
              </a:pathLst>
            </a:custGeom>
            <a:solidFill>
              <a:srgbClr val="FFFFFF"/>
            </a:solidFill>
          </p:spPr>
        </p:sp>
        <p:sp>
          <p:nvSpPr>
            <p:cNvPr id="5" name="TextBox 5"/>
            <p:cNvSpPr txBox="1"/>
            <p:nvPr/>
          </p:nvSpPr>
          <p:spPr>
            <a:xfrm>
              <a:off x="0" y="-38100"/>
              <a:ext cx="1831286" cy="82031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725067" y="6443200"/>
            <a:ext cx="6953165" cy="2815100"/>
            <a:chOff x="0" y="0"/>
            <a:chExt cx="1831286" cy="741425"/>
          </a:xfrm>
        </p:grpSpPr>
        <p:sp>
          <p:nvSpPr>
            <p:cNvPr id="7" name="Freeform 7"/>
            <p:cNvSpPr/>
            <p:nvPr/>
          </p:nvSpPr>
          <p:spPr>
            <a:xfrm>
              <a:off x="0" y="0"/>
              <a:ext cx="1831286" cy="741425"/>
            </a:xfrm>
            <a:custGeom>
              <a:avLst/>
              <a:gdLst/>
              <a:ahLst/>
              <a:cxnLst/>
              <a:rect l="l" t="t" r="r" b="b"/>
              <a:pathLst>
                <a:path w="1831286" h="741425">
                  <a:moveTo>
                    <a:pt x="0" y="0"/>
                  </a:moveTo>
                  <a:lnTo>
                    <a:pt x="1831286" y="0"/>
                  </a:lnTo>
                  <a:lnTo>
                    <a:pt x="1831286" y="741425"/>
                  </a:lnTo>
                  <a:lnTo>
                    <a:pt x="0" y="741425"/>
                  </a:lnTo>
                  <a:close/>
                </a:path>
              </a:pathLst>
            </a:custGeom>
            <a:solidFill>
              <a:srgbClr val="FFFFFF"/>
            </a:solidFill>
          </p:spPr>
        </p:sp>
        <p:sp>
          <p:nvSpPr>
            <p:cNvPr id="8" name="TextBox 8"/>
            <p:cNvSpPr txBox="1"/>
            <p:nvPr/>
          </p:nvSpPr>
          <p:spPr>
            <a:xfrm>
              <a:off x="0" y="-38100"/>
              <a:ext cx="1831286" cy="7795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609767" y="3061464"/>
            <a:ext cx="6736320" cy="2969958"/>
            <a:chOff x="0" y="0"/>
            <a:chExt cx="1774175" cy="782211"/>
          </a:xfrm>
        </p:grpSpPr>
        <p:sp>
          <p:nvSpPr>
            <p:cNvPr id="10" name="Freeform 10"/>
            <p:cNvSpPr/>
            <p:nvPr/>
          </p:nvSpPr>
          <p:spPr>
            <a:xfrm>
              <a:off x="0" y="0"/>
              <a:ext cx="1774175" cy="782211"/>
            </a:xfrm>
            <a:custGeom>
              <a:avLst/>
              <a:gdLst/>
              <a:ahLst/>
              <a:cxnLst/>
              <a:rect l="l" t="t" r="r" b="b"/>
              <a:pathLst>
                <a:path w="1774175" h="782211">
                  <a:moveTo>
                    <a:pt x="0" y="0"/>
                  </a:moveTo>
                  <a:lnTo>
                    <a:pt x="1774175" y="0"/>
                  </a:lnTo>
                  <a:lnTo>
                    <a:pt x="1774175" y="782211"/>
                  </a:lnTo>
                  <a:lnTo>
                    <a:pt x="0" y="782211"/>
                  </a:lnTo>
                  <a:close/>
                </a:path>
              </a:pathLst>
            </a:custGeom>
            <a:solidFill>
              <a:srgbClr val="FFFFFF"/>
            </a:solidFill>
          </p:spPr>
        </p:sp>
        <p:sp>
          <p:nvSpPr>
            <p:cNvPr id="11" name="TextBox 11"/>
            <p:cNvSpPr txBox="1"/>
            <p:nvPr/>
          </p:nvSpPr>
          <p:spPr>
            <a:xfrm>
              <a:off x="0" y="-38100"/>
              <a:ext cx="1774175" cy="82031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09767" y="6443200"/>
            <a:ext cx="6736320" cy="2815100"/>
            <a:chOff x="0" y="0"/>
            <a:chExt cx="1774175" cy="741425"/>
          </a:xfrm>
        </p:grpSpPr>
        <p:sp>
          <p:nvSpPr>
            <p:cNvPr id="13" name="Freeform 13"/>
            <p:cNvSpPr/>
            <p:nvPr/>
          </p:nvSpPr>
          <p:spPr>
            <a:xfrm>
              <a:off x="0" y="0"/>
              <a:ext cx="1774175" cy="741425"/>
            </a:xfrm>
            <a:custGeom>
              <a:avLst/>
              <a:gdLst/>
              <a:ahLst/>
              <a:cxnLst/>
              <a:rect l="l" t="t" r="r" b="b"/>
              <a:pathLst>
                <a:path w="1774175" h="741425">
                  <a:moveTo>
                    <a:pt x="0" y="0"/>
                  </a:moveTo>
                  <a:lnTo>
                    <a:pt x="1774175" y="0"/>
                  </a:lnTo>
                  <a:lnTo>
                    <a:pt x="1774175" y="741425"/>
                  </a:lnTo>
                  <a:lnTo>
                    <a:pt x="0" y="741425"/>
                  </a:lnTo>
                  <a:close/>
                </a:path>
              </a:pathLst>
            </a:custGeom>
            <a:solidFill>
              <a:srgbClr val="FFFFFF"/>
            </a:solidFill>
          </p:spPr>
        </p:sp>
        <p:sp>
          <p:nvSpPr>
            <p:cNvPr id="14" name="TextBox 14"/>
            <p:cNvSpPr txBox="1"/>
            <p:nvPr/>
          </p:nvSpPr>
          <p:spPr>
            <a:xfrm>
              <a:off x="0" y="-38100"/>
              <a:ext cx="1774175" cy="77952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721427" y="4004396"/>
            <a:ext cx="6445196" cy="1466850"/>
          </a:xfrm>
          <a:prstGeom prst="rect">
            <a:avLst/>
          </a:prstGeom>
        </p:spPr>
        <p:txBody>
          <a:bodyPr lIns="0" tIns="0" rIns="0" bIns="0" rtlCol="0" anchor="t">
            <a:spAutoFit/>
          </a:bodyPr>
          <a:lstStyle/>
          <a:p>
            <a:pPr marL="0" lvl="0" indent="0" algn="just">
              <a:lnSpc>
                <a:spcPts val="2999"/>
              </a:lnSpc>
              <a:spcBef>
                <a:spcPct val="0"/>
              </a:spcBef>
            </a:pPr>
            <a:r>
              <a:rPr lang="en-US" sz="1999">
                <a:solidFill>
                  <a:srgbClr val="000000"/>
                </a:solidFill>
                <a:latin typeface="Quicksand"/>
                <a:ea typeface="Quicksand"/>
                <a:cs typeface="Quicksand"/>
                <a:sym typeface="Quicksand"/>
              </a:rPr>
              <a:t>Unlike traditional client-server systems, P2P networks have no central server. Each peer can initiate or respond to requests, making the system more democratic and resilient.</a:t>
            </a:r>
          </a:p>
        </p:txBody>
      </p:sp>
      <p:sp>
        <p:nvSpPr>
          <p:cNvPr id="16" name="TextBox 16"/>
          <p:cNvSpPr txBox="1"/>
          <p:nvPr/>
        </p:nvSpPr>
        <p:spPr>
          <a:xfrm>
            <a:off x="1721427" y="7585343"/>
            <a:ext cx="6445196" cy="1095375"/>
          </a:xfrm>
          <a:prstGeom prst="rect">
            <a:avLst/>
          </a:prstGeom>
        </p:spPr>
        <p:txBody>
          <a:bodyPr lIns="0" tIns="0" rIns="0" bIns="0" rtlCol="0" anchor="t">
            <a:spAutoFit/>
          </a:bodyPr>
          <a:lstStyle/>
          <a:p>
            <a:pPr marL="0" lvl="0" indent="0" algn="l">
              <a:lnSpc>
                <a:spcPts val="2999"/>
              </a:lnSpc>
              <a:spcBef>
                <a:spcPct val="0"/>
              </a:spcBef>
            </a:pPr>
            <a:r>
              <a:rPr lang="en-US" sz="1999">
                <a:solidFill>
                  <a:srgbClr val="000000"/>
                </a:solidFill>
                <a:latin typeface="Quicksand"/>
                <a:ea typeface="Quicksand"/>
                <a:cs typeface="Quicksand"/>
                <a:sym typeface="Quicksand"/>
              </a:rPr>
              <a:t>Every node (computer) in the network has equal status. A peer can download files, upload files, or provide services to others simultaneously.</a:t>
            </a:r>
          </a:p>
        </p:txBody>
      </p:sp>
      <p:sp>
        <p:nvSpPr>
          <p:cNvPr id="17" name="TextBox 17"/>
          <p:cNvSpPr txBox="1"/>
          <p:nvPr/>
        </p:nvSpPr>
        <p:spPr>
          <a:xfrm>
            <a:off x="9965082" y="4048125"/>
            <a:ext cx="6445196" cy="1095375"/>
          </a:xfrm>
          <a:prstGeom prst="rect">
            <a:avLst/>
          </a:prstGeom>
        </p:spPr>
        <p:txBody>
          <a:bodyPr lIns="0" tIns="0" rIns="0" bIns="0" rtlCol="0" anchor="t">
            <a:spAutoFit/>
          </a:bodyPr>
          <a:lstStyle/>
          <a:p>
            <a:pPr marL="0" lvl="0" indent="0" algn="l">
              <a:lnSpc>
                <a:spcPts val="2999"/>
              </a:lnSpc>
              <a:spcBef>
                <a:spcPct val="0"/>
              </a:spcBef>
            </a:pPr>
            <a:r>
              <a:rPr lang="en-US" sz="1999">
                <a:solidFill>
                  <a:srgbClr val="000000"/>
                </a:solidFill>
                <a:latin typeface="Quicksand"/>
                <a:ea typeface="Quicksand"/>
                <a:cs typeface="Quicksand"/>
                <a:sym typeface="Quicksand"/>
              </a:rPr>
              <a:t>Peers share files, bandwidth, or even computing power directly with one another. This makes P2P efficient for large-scale data distribution.</a:t>
            </a:r>
          </a:p>
        </p:txBody>
      </p:sp>
      <p:sp>
        <p:nvSpPr>
          <p:cNvPr id="18" name="TextBox 18"/>
          <p:cNvSpPr txBox="1"/>
          <p:nvPr/>
        </p:nvSpPr>
        <p:spPr>
          <a:xfrm>
            <a:off x="9900904" y="7480780"/>
            <a:ext cx="6601491" cy="1095375"/>
          </a:xfrm>
          <a:prstGeom prst="rect">
            <a:avLst/>
          </a:prstGeom>
        </p:spPr>
        <p:txBody>
          <a:bodyPr lIns="0" tIns="0" rIns="0" bIns="0" rtlCol="0" anchor="t">
            <a:spAutoFit/>
          </a:bodyPr>
          <a:lstStyle/>
          <a:p>
            <a:pPr marL="0" lvl="0" indent="0" algn="l">
              <a:lnSpc>
                <a:spcPts val="2999"/>
              </a:lnSpc>
              <a:spcBef>
                <a:spcPct val="0"/>
              </a:spcBef>
            </a:pPr>
            <a:r>
              <a:rPr lang="en-US" sz="1999">
                <a:solidFill>
                  <a:srgbClr val="000000"/>
                </a:solidFill>
                <a:latin typeface="Quicksand"/>
                <a:ea typeface="Quicksand"/>
                <a:cs typeface="Quicksand"/>
                <a:sym typeface="Quicksand"/>
              </a:rPr>
              <a:t>As more peers join, the network becomes stronger and more capable of handling larger workloads without bottlenecks.</a:t>
            </a:r>
          </a:p>
        </p:txBody>
      </p:sp>
      <p:sp>
        <p:nvSpPr>
          <p:cNvPr id="19" name="TextBox 19"/>
          <p:cNvSpPr txBox="1"/>
          <p:nvPr/>
        </p:nvSpPr>
        <p:spPr>
          <a:xfrm>
            <a:off x="1721427" y="3288660"/>
            <a:ext cx="2850573" cy="463937"/>
          </a:xfrm>
          <a:prstGeom prst="rect">
            <a:avLst/>
          </a:prstGeom>
        </p:spPr>
        <p:txBody>
          <a:bodyPr wrap="square" lIns="0" tIns="0" rIns="0" bIns="0" rtlCol="0" anchor="t">
            <a:spAutoFit/>
          </a:bodyPr>
          <a:lstStyle/>
          <a:p>
            <a:pPr algn="ctr">
              <a:lnSpc>
                <a:spcPts val="3828"/>
              </a:lnSpc>
            </a:pPr>
            <a:r>
              <a:rPr lang="en-US" sz="2734" b="1" dirty="0">
                <a:solidFill>
                  <a:srgbClr val="000000"/>
                </a:solidFill>
                <a:latin typeface="Canva Sans Bold"/>
                <a:ea typeface="Canva Sans Bold"/>
                <a:cs typeface="Canva Sans Bold"/>
                <a:sym typeface="Canva Sans Bold"/>
              </a:rPr>
              <a:t>Decentralization</a:t>
            </a:r>
          </a:p>
        </p:txBody>
      </p:sp>
      <p:sp>
        <p:nvSpPr>
          <p:cNvPr id="20" name="TextBox 20"/>
          <p:cNvSpPr txBox="1"/>
          <p:nvPr/>
        </p:nvSpPr>
        <p:spPr>
          <a:xfrm>
            <a:off x="1721426" y="6613389"/>
            <a:ext cx="2393373" cy="456022"/>
          </a:xfrm>
          <a:prstGeom prst="rect">
            <a:avLst/>
          </a:prstGeom>
        </p:spPr>
        <p:txBody>
          <a:bodyPr wrap="square" lIns="0" tIns="0" rIns="0" bIns="0" rtlCol="0" anchor="t">
            <a:spAutoFit/>
          </a:bodyPr>
          <a:lstStyle/>
          <a:p>
            <a:pPr algn="ctr">
              <a:lnSpc>
                <a:spcPts val="3828"/>
              </a:lnSpc>
            </a:pPr>
            <a:r>
              <a:rPr lang="en-US" sz="2734" b="1" dirty="0">
                <a:solidFill>
                  <a:srgbClr val="000000"/>
                </a:solidFill>
                <a:latin typeface="Canva Sans Bold"/>
                <a:ea typeface="Canva Sans Bold"/>
                <a:cs typeface="Canva Sans Bold"/>
                <a:sym typeface="Canva Sans Bold"/>
              </a:rPr>
              <a:t>Equal Roles</a:t>
            </a:r>
          </a:p>
        </p:txBody>
      </p:sp>
      <p:sp>
        <p:nvSpPr>
          <p:cNvPr id="21" name="TextBox 21"/>
          <p:cNvSpPr txBox="1"/>
          <p:nvPr/>
        </p:nvSpPr>
        <p:spPr>
          <a:xfrm>
            <a:off x="9965082" y="3288660"/>
            <a:ext cx="3217518" cy="463937"/>
          </a:xfrm>
          <a:prstGeom prst="rect">
            <a:avLst/>
          </a:prstGeom>
        </p:spPr>
        <p:txBody>
          <a:bodyPr wrap="square" lIns="0" tIns="0" rIns="0" bIns="0" rtlCol="0" anchor="t">
            <a:spAutoFit/>
          </a:bodyPr>
          <a:lstStyle/>
          <a:p>
            <a:pPr algn="ctr">
              <a:lnSpc>
                <a:spcPts val="3828"/>
              </a:lnSpc>
            </a:pPr>
            <a:r>
              <a:rPr lang="en-US" sz="2734" b="1" dirty="0">
                <a:solidFill>
                  <a:srgbClr val="000000"/>
                </a:solidFill>
                <a:latin typeface="Canva Sans Bold"/>
                <a:ea typeface="Canva Sans Bold"/>
                <a:cs typeface="Canva Sans Bold"/>
                <a:sym typeface="Canva Sans Bold"/>
              </a:rPr>
              <a:t>Resource Sharing</a:t>
            </a:r>
          </a:p>
        </p:txBody>
      </p:sp>
      <p:sp>
        <p:nvSpPr>
          <p:cNvPr id="22" name="TextBox 22"/>
          <p:cNvSpPr txBox="1"/>
          <p:nvPr/>
        </p:nvSpPr>
        <p:spPr>
          <a:xfrm>
            <a:off x="10097818" y="6531067"/>
            <a:ext cx="1786652" cy="463937"/>
          </a:xfrm>
          <a:prstGeom prst="rect">
            <a:avLst/>
          </a:prstGeom>
        </p:spPr>
        <p:txBody>
          <a:bodyPr lIns="0" tIns="0" rIns="0" bIns="0" rtlCol="0" anchor="t">
            <a:spAutoFit/>
          </a:bodyPr>
          <a:lstStyle/>
          <a:p>
            <a:pPr algn="ctr">
              <a:lnSpc>
                <a:spcPts val="3828"/>
              </a:lnSpc>
            </a:pPr>
            <a:r>
              <a:rPr lang="en-US" sz="2734" b="1">
                <a:solidFill>
                  <a:srgbClr val="000000"/>
                </a:solidFill>
                <a:latin typeface="Canva Sans Bold"/>
                <a:ea typeface="Canva Sans Bold"/>
                <a:cs typeface="Canva Sans Bold"/>
                <a:sym typeface="Canva Sans Bold"/>
              </a:rPr>
              <a:t>Scalability</a:t>
            </a: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829748" y="2392410"/>
            <a:ext cx="5511299" cy="4485640"/>
          </a:xfrm>
          <a:prstGeom prst="rect">
            <a:avLst/>
          </a:prstGeom>
        </p:spPr>
        <p:txBody>
          <a:bodyPr lIns="0" tIns="0" rIns="0" bIns="0" rtlCol="0" anchor="t">
            <a:spAutoFit/>
          </a:bodyPr>
          <a:lstStyle/>
          <a:p>
            <a:pPr algn="l">
              <a:lnSpc>
                <a:spcPts val="8959"/>
              </a:lnSpc>
            </a:pPr>
            <a:r>
              <a:rPr lang="en-US" sz="6399">
                <a:solidFill>
                  <a:srgbClr val="FFFFFF"/>
                </a:solidFill>
                <a:latin typeface="Fredoka"/>
                <a:ea typeface="Fredoka"/>
                <a:cs typeface="Fredoka"/>
                <a:sym typeface="Fredoka"/>
              </a:rPr>
              <a:t>FEATURES OF P2P NETWORK </a:t>
            </a:r>
          </a:p>
          <a:p>
            <a:pPr algn="l">
              <a:lnSpc>
                <a:spcPts val="8959"/>
              </a:lnSpc>
            </a:pPr>
            <a:endParaRPr lang="en-US" sz="6399">
              <a:solidFill>
                <a:srgbClr val="FFFFFF"/>
              </a:solidFill>
              <a:latin typeface="Fredoka"/>
              <a:ea typeface="Fredoka"/>
              <a:cs typeface="Fredoka"/>
              <a:sym typeface="Fredoka"/>
            </a:endParaRPr>
          </a:p>
        </p:txBody>
      </p:sp>
      <p:grpSp>
        <p:nvGrpSpPr>
          <p:cNvPr id="3" name="Group 3"/>
          <p:cNvGrpSpPr/>
          <p:nvPr/>
        </p:nvGrpSpPr>
        <p:grpSpPr>
          <a:xfrm>
            <a:off x="6781800" y="1028700"/>
            <a:ext cx="10477500" cy="8229600"/>
            <a:chOff x="0" y="0"/>
            <a:chExt cx="2759506" cy="2167467"/>
          </a:xfrm>
        </p:grpSpPr>
        <p:sp>
          <p:nvSpPr>
            <p:cNvPr id="4" name="Freeform 4"/>
            <p:cNvSpPr/>
            <p:nvPr/>
          </p:nvSpPr>
          <p:spPr>
            <a:xfrm>
              <a:off x="0" y="0"/>
              <a:ext cx="2759506" cy="2167467"/>
            </a:xfrm>
            <a:custGeom>
              <a:avLst/>
              <a:gdLst/>
              <a:ahLst/>
              <a:cxnLst/>
              <a:rect l="l" t="t" r="r" b="b"/>
              <a:pathLst>
                <a:path w="2759506" h="2167467">
                  <a:moveTo>
                    <a:pt x="0" y="0"/>
                  </a:moveTo>
                  <a:lnTo>
                    <a:pt x="2759506" y="0"/>
                  </a:lnTo>
                  <a:lnTo>
                    <a:pt x="2759506" y="2167467"/>
                  </a:lnTo>
                  <a:lnTo>
                    <a:pt x="0" y="2167467"/>
                  </a:lnTo>
                  <a:close/>
                </a:path>
              </a:pathLst>
            </a:custGeom>
            <a:solidFill>
              <a:srgbClr val="FFFFFF"/>
            </a:solidFill>
          </p:spPr>
        </p:sp>
        <p:sp>
          <p:nvSpPr>
            <p:cNvPr id="5" name="TextBox 5"/>
            <p:cNvSpPr txBox="1"/>
            <p:nvPr/>
          </p:nvSpPr>
          <p:spPr>
            <a:xfrm>
              <a:off x="0" y="-38100"/>
              <a:ext cx="2759506" cy="220556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7337060" y="1675647"/>
            <a:ext cx="9366979" cy="1595451"/>
          </a:xfrm>
          <a:prstGeom prst="rect">
            <a:avLst/>
          </a:prstGeom>
        </p:spPr>
        <p:txBody>
          <a:bodyPr lIns="0" tIns="0" rIns="0" bIns="0" rtlCol="0" anchor="t">
            <a:spAutoFit/>
          </a:bodyPr>
          <a:lstStyle/>
          <a:p>
            <a:pPr marL="464685" lvl="1" indent="-232342" algn="l">
              <a:lnSpc>
                <a:spcPts val="3228"/>
              </a:lnSpc>
              <a:buFont typeface="Arial"/>
              <a:buChar char="•"/>
            </a:pPr>
            <a:r>
              <a:rPr lang="en-US" sz="2152">
                <a:solidFill>
                  <a:srgbClr val="000000"/>
                </a:solidFill>
                <a:latin typeface="Quicksand"/>
                <a:ea typeface="Quicksand"/>
                <a:cs typeface="Quicksand"/>
                <a:sym typeface="Quicksand"/>
              </a:rPr>
              <a:t>These networks do not involve a large number of nodes, usually less than 12. All the computers in the network store their own data but this data is accessible by the group. </a:t>
            </a:r>
          </a:p>
          <a:p>
            <a:pPr marL="0" lvl="0" indent="0" algn="l">
              <a:lnSpc>
                <a:spcPts val="3228"/>
              </a:lnSpc>
              <a:spcBef>
                <a:spcPct val="0"/>
              </a:spcBef>
            </a:pPr>
            <a:endParaRPr lang="en-US" sz="2152">
              <a:solidFill>
                <a:srgbClr val="000000"/>
              </a:solidFill>
              <a:latin typeface="Quicksand"/>
              <a:ea typeface="Quicksand"/>
              <a:cs typeface="Quicksand"/>
              <a:sym typeface="Quicksand"/>
            </a:endParaRPr>
          </a:p>
        </p:txBody>
      </p:sp>
      <p:sp>
        <p:nvSpPr>
          <p:cNvPr id="7" name="TextBox 7"/>
          <p:cNvSpPr txBox="1"/>
          <p:nvPr/>
        </p:nvSpPr>
        <p:spPr>
          <a:xfrm>
            <a:off x="7337060" y="3230094"/>
            <a:ext cx="9366979" cy="1998146"/>
          </a:xfrm>
          <a:prstGeom prst="rect">
            <a:avLst/>
          </a:prstGeom>
        </p:spPr>
        <p:txBody>
          <a:bodyPr lIns="0" tIns="0" rIns="0" bIns="0" rtlCol="0" anchor="t">
            <a:spAutoFit/>
          </a:bodyPr>
          <a:lstStyle/>
          <a:p>
            <a:pPr marL="464685" lvl="1" indent="-232342" algn="l">
              <a:lnSpc>
                <a:spcPts val="3228"/>
              </a:lnSpc>
              <a:buFont typeface="Arial"/>
              <a:buChar char="•"/>
            </a:pPr>
            <a:r>
              <a:rPr lang="en-US" sz="2152">
                <a:solidFill>
                  <a:srgbClr val="000000"/>
                </a:solidFill>
                <a:latin typeface="Quicksand"/>
                <a:ea typeface="Quicksand"/>
                <a:cs typeface="Quicksand"/>
                <a:sym typeface="Quicksand"/>
              </a:rPr>
              <a:t>Unlike client-server networks, P2P uses resources and also provides them. This results in additional resources if the number of nodes increases. It requires specialized software. It allows resource sharing among the network. </a:t>
            </a:r>
          </a:p>
          <a:p>
            <a:pPr marL="0" lvl="0" indent="0" algn="l">
              <a:lnSpc>
                <a:spcPts val="3228"/>
              </a:lnSpc>
              <a:spcBef>
                <a:spcPct val="0"/>
              </a:spcBef>
            </a:pPr>
            <a:endParaRPr lang="en-US" sz="2152">
              <a:solidFill>
                <a:srgbClr val="000000"/>
              </a:solidFill>
              <a:latin typeface="Quicksand"/>
              <a:ea typeface="Quicksand"/>
              <a:cs typeface="Quicksand"/>
              <a:sym typeface="Quicksand"/>
            </a:endParaRPr>
          </a:p>
        </p:txBody>
      </p:sp>
      <p:sp>
        <p:nvSpPr>
          <p:cNvPr id="8" name="TextBox 8"/>
          <p:cNvSpPr txBox="1"/>
          <p:nvPr/>
        </p:nvSpPr>
        <p:spPr>
          <a:xfrm>
            <a:off x="7337060" y="5356847"/>
            <a:ext cx="9366979" cy="1192756"/>
          </a:xfrm>
          <a:prstGeom prst="rect">
            <a:avLst/>
          </a:prstGeom>
        </p:spPr>
        <p:txBody>
          <a:bodyPr lIns="0" tIns="0" rIns="0" bIns="0" rtlCol="0" anchor="t">
            <a:spAutoFit/>
          </a:bodyPr>
          <a:lstStyle/>
          <a:p>
            <a:pPr marL="464685" lvl="1" indent="-232342" algn="l">
              <a:lnSpc>
                <a:spcPts val="3228"/>
              </a:lnSpc>
              <a:buFont typeface="Arial"/>
              <a:buChar char="•"/>
            </a:pPr>
            <a:r>
              <a:rPr lang="en-US" sz="2152">
                <a:solidFill>
                  <a:srgbClr val="000000"/>
                </a:solidFill>
                <a:latin typeface="Quicksand"/>
                <a:ea typeface="Quicksand"/>
                <a:cs typeface="Quicksand"/>
                <a:sym typeface="Quicksand"/>
              </a:rPr>
              <a:t>Since the nodes act as clients and servers, there is a constant threat of attack. </a:t>
            </a:r>
          </a:p>
          <a:p>
            <a:pPr marL="0" lvl="0" indent="0" algn="l">
              <a:lnSpc>
                <a:spcPts val="3228"/>
              </a:lnSpc>
              <a:spcBef>
                <a:spcPct val="0"/>
              </a:spcBef>
            </a:pPr>
            <a:endParaRPr lang="en-US" sz="2152">
              <a:solidFill>
                <a:srgbClr val="000000"/>
              </a:solidFill>
              <a:latin typeface="Quicksand"/>
              <a:ea typeface="Quicksand"/>
              <a:cs typeface="Quicksand"/>
              <a:sym typeface="Quicksand"/>
            </a:endParaRPr>
          </a:p>
        </p:txBody>
      </p:sp>
      <p:sp>
        <p:nvSpPr>
          <p:cNvPr id="9" name="TextBox 9"/>
          <p:cNvSpPr txBox="1"/>
          <p:nvPr/>
        </p:nvSpPr>
        <p:spPr>
          <a:xfrm>
            <a:off x="7337060" y="6511503"/>
            <a:ext cx="9366979" cy="790061"/>
          </a:xfrm>
          <a:prstGeom prst="rect">
            <a:avLst/>
          </a:prstGeom>
        </p:spPr>
        <p:txBody>
          <a:bodyPr lIns="0" tIns="0" rIns="0" bIns="0" rtlCol="0" anchor="t">
            <a:spAutoFit/>
          </a:bodyPr>
          <a:lstStyle/>
          <a:p>
            <a:pPr marL="464685" lvl="1" indent="-232342" algn="l">
              <a:lnSpc>
                <a:spcPts val="3228"/>
              </a:lnSpc>
              <a:buFont typeface="Arial"/>
              <a:buChar char="•"/>
            </a:pPr>
            <a:r>
              <a:rPr lang="en-US" sz="2152">
                <a:solidFill>
                  <a:srgbClr val="000000"/>
                </a:solidFill>
                <a:latin typeface="Quicksand"/>
                <a:ea typeface="Quicksand"/>
                <a:cs typeface="Quicksand"/>
                <a:sym typeface="Quicksand"/>
              </a:rPr>
              <a:t>Almost all OS today support P2P networks. </a:t>
            </a:r>
          </a:p>
          <a:p>
            <a:pPr marL="0" lvl="0" indent="0" algn="l">
              <a:lnSpc>
                <a:spcPts val="3228"/>
              </a:lnSpc>
              <a:spcBef>
                <a:spcPct val="0"/>
              </a:spcBef>
            </a:pPr>
            <a:endParaRPr lang="en-US" sz="2152">
              <a:solidFill>
                <a:srgbClr val="000000"/>
              </a:solidFill>
              <a:latin typeface="Quicksand"/>
              <a:ea typeface="Quicksand"/>
              <a:cs typeface="Quicksand"/>
              <a:sym typeface="Quicksand"/>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763228" y="1603890"/>
            <a:ext cx="10038462" cy="8229600"/>
            <a:chOff x="0" y="0"/>
            <a:chExt cx="2643875" cy="2167467"/>
          </a:xfrm>
        </p:grpSpPr>
        <p:sp>
          <p:nvSpPr>
            <p:cNvPr id="3" name="Freeform 3"/>
            <p:cNvSpPr/>
            <p:nvPr/>
          </p:nvSpPr>
          <p:spPr>
            <a:xfrm>
              <a:off x="0" y="0"/>
              <a:ext cx="2643875" cy="2167467"/>
            </a:xfrm>
            <a:custGeom>
              <a:avLst/>
              <a:gdLst/>
              <a:ahLst/>
              <a:cxnLst/>
              <a:rect l="l" t="t" r="r" b="b"/>
              <a:pathLst>
                <a:path w="2643875" h="2167467">
                  <a:moveTo>
                    <a:pt x="0" y="0"/>
                  </a:moveTo>
                  <a:lnTo>
                    <a:pt x="2643875" y="0"/>
                  </a:lnTo>
                  <a:lnTo>
                    <a:pt x="2643875" y="2167467"/>
                  </a:lnTo>
                  <a:lnTo>
                    <a:pt x="0" y="2167467"/>
                  </a:lnTo>
                  <a:close/>
                </a:path>
              </a:pathLst>
            </a:custGeom>
            <a:solidFill>
              <a:srgbClr val="FFFFFF"/>
            </a:solidFill>
          </p:spPr>
        </p:sp>
        <p:sp>
          <p:nvSpPr>
            <p:cNvPr id="4" name="TextBox 4"/>
            <p:cNvSpPr txBox="1"/>
            <p:nvPr/>
          </p:nvSpPr>
          <p:spPr>
            <a:xfrm>
              <a:off x="0" y="-38100"/>
              <a:ext cx="2643875" cy="220556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228" y="474562"/>
            <a:ext cx="16230600" cy="805478"/>
            <a:chOff x="0" y="0"/>
            <a:chExt cx="4274726" cy="212142"/>
          </a:xfrm>
        </p:grpSpPr>
        <p:sp>
          <p:nvSpPr>
            <p:cNvPr id="6" name="Freeform 6"/>
            <p:cNvSpPr/>
            <p:nvPr/>
          </p:nvSpPr>
          <p:spPr>
            <a:xfrm>
              <a:off x="0" y="0"/>
              <a:ext cx="4274726" cy="212142"/>
            </a:xfrm>
            <a:custGeom>
              <a:avLst/>
              <a:gdLst/>
              <a:ahLst/>
              <a:cxnLst/>
              <a:rect l="l" t="t" r="r" b="b"/>
              <a:pathLst>
                <a:path w="4274726" h="212142">
                  <a:moveTo>
                    <a:pt x="0" y="0"/>
                  </a:moveTo>
                  <a:lnTo>
                    <a:pt x="4274726" y="0"/>
                  </a:lnTo>
                  <a:lnTo>
                    <a:pt x="4274726" y="212142"/>
                  </a:lnTo>
                  <a:lnTo>
                    <a:pt x="0" y="212142"/>
                  </a:lnTo>
                  <a:close/>
                </a:path>
              </a:pathLst>
            </a:custGeom>
            <a:solidFill>
              <a:srgbClr val="FFFFFF"/>
            </a:solidFill>
          </p:spPr>
        </p:sp>
        <p:sp>
          <p:nvSpPr>
            <p:cNvPr id="7" name="TextBox 7"/>
            <p:cNvSpPr txBox="1"/>
            <p:nvPr/>
          </p:nvSpPr>
          <p:spPr>
            <a:xfrm>
              <a:off x="0" y="-38100"/>
              <a:ext cx="4274726" cy="250242"/>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208526" y="3853911"/>
            <a:ext cx="6196539" cy="2889136"/>
          </a:xfrm>
          <a:custGeom>
            <a:avLst/>
            <a:gdLst/>
            <a:ahLst/>
            <a:cxnLst/>
            <a:rect l="l" t="t" r="r" b="b"/>
            <a:pathLst>
              <a:path w="6196539" h="2889136">
                <a:moveTo>
                  <a:pt x="0" y="0"/>
                </a:moveTo>
                <a:lnTo>
                  <a:pt x="6196539" y="0"/>
                </a:lnTo>
                <a:lnTo>
                  <a:pt x="6196539" y="2889137"/>
                </a:lnTo>
                <a:lnTo>
                  <a:pt x="0" y="2889137"/>
                </a:lnTo>
                <a:lnTo>
                  <a:pt x="0" y="0"/>
                </a:lnTo>
                <a:close/>
              </a:path>
            </a:pathLst>
          </a:custGeom>
          <a:blipFill>
            <a:blip r:embed="rId2"/>
            <a:stretch>
              <a:fillRect/>
            </a:stretch>
          </a:blipFill>
        </p:spPr>
      </p:sp>
      <p:sp>
        <p:nvSpPr>
          <p:cNvPr id="9" name="TextBox 9"/>
          <p:cNvSpPr txBox="1"/>
          <p:nvPr/>
        </p:nvSpPr>
        <p:spPr>
          <a:xfrm>
            <a:off x="11076376" y="3126780"/>
            <a:ext cx="6343528" cy="4229100"/>
          </a:xfrm>
          <a:prstGeom prst="rect">
            <a:avLst/>
          </a:prstGeom>
        </p:spPr>
        <p:txBody>
          <a:bodyPr lIns="0" tIns="0" rIns="0" bIns="0" rtlCol="0" anchor="t">
            <a:spAutoFit/>
          </a:bodyPr>
          <a:lstStyle/>
          <a:p>
            <a:pPr algn="l">
              <a:lnSpc>
                <a:spcPts val="8400"/>
              </a:lnSpc>
            </a:pPr>
            <a:r>
              <a:rPr lang="en-US" sz="6000">
                <a:solidFill>
                  <a:srgbClr val="FFFFFF"/>
                </a:solidFill>
                <a:latin typeface="Fredoka"/>
                <a:ea typeface="Fredoka"/>
                <a:cs typeface="Fredoka"/>
                <a:sym typeface="Fredoka"/>
              </a:rPr>
              <a:t>PEER-TO-PEER (P2P) ARCHITECTURE</a:t>
            </a:r>
          </a:p>
          <a:p>
            <a:pPr algn="l">
              <a:lnSpc>
                <a:spcPts val="8400"/>
              </a:lnSpc>
            </a:pPr>
            <a:endParaRPr lang="en-US" sz="6000">
              <a:solidFill>
                <a:srgbClr val="FFFFFF"/>
              </a:solidFill>
              <a:latin typeface="Fredoka"/>
              <a:ea typeface="Fredoka"/>
              <a:cs typeface="Fredoka"/>
              <a:sym typeface="Fredoka"/>
            </a:endParaRPr>
          </a:p>
        </p:txBody>
      </p:sp>
      <p:sp>
        <p:nvSpPr>
          <p:cNvPr id="10" name="TextBox 10"/>
          <p:cNvSpPr txBox="1"/>
          <p:nvPr/>
        </p:nvSpPr>
        <p:spPr>
          <a:xfrm>
            <a:off x="1190367" y="1968308"/>
            <a:ext cx="9351742" cy="1370190"/>
          </a:xfrm>
          <a:prstGeom prst="rect">
            <a:avLst/>
          </a:prstGeom>
        </p:spPr>
        <p:txBody>
          <a:bodyPr lIns="0" tIns="0" rIns="0" bIns="0" rtlCol="0" anchor="t">
            <a:spAutoFit/>
          </a:bodyPr>
          <a:lstStyle/>
          <a:p>
            <a:pPr marL="0" lvl="0" indent="0" algn="l">
              <a:lnSpc>
                <a:spcPts val="3665"/>
              </a:lnSpc>
              <a:spcBef>
                <a:spcPct val="0"/>
              </a:spcBef>
            </a:pPr>
            <a:r>
              <a:rPr lang="en-US" sz="2443">
                <a:solidFill>
                  <a:srgbClr val="000000"/>
                </a:solidFill>
                <a:latin typeface="Quicksand"/>
                <a:ea typeface="Quicksand"/>
                <a:cs typeface="Quicksand"/>
                <a:sym typeface="Quicksand"/>
              </a:rPr>
              <a:t>Peer-to-peer (P2P) architecture is a a decentralized computing model where network participants share resources directly with each other without the need for a centralized server. </a:t>
            </a:r>
          </a:p>
        </p:txBody>
      </p:sp>
      <p:sp>
        <p:nvSpPr>
          <p:cNvPr id="11" name="TextBox 11"/>
          <p:cNvSpPr txBox="1"/>
          <p:nvPr/>
        </p:nvSpPr>
        <p:spPr>
          <a:xfrm>
            <a:off x="1095509" y="7190723"/>
            <a:ext cx="9184183" cy="2352675"/>
          </a:xfrm>
          <a:prstGeom prst="rect">
            <a:avLst/>
          </a:prstGeom>
        </p:spPr>
        <p:txBody>
          <a:bodyPr lIns="0" tIns="0" rIns="0" bIns="0" rtlCol="0" anchor="t">
            <a:spAutoFit/>
          </a:bodyPr>
          <a:lstStyle/>
          <a:p>
            <a:pPr algn="l">
              <a:lnSpc>
                <a:spcPts val="3750"/>
              </a:lnSpc>
            </a:pPr>
            <a:r>
              <a:rPr lang="en-US" sz="2500">
                <a:solidFill>
                  <a:srgbClr val="000000"/>
                </a:solidFill>
                <a:latin typeface="Quicksand"/>
                <a:ea typeface="Quicksand"/>
                <a:cs typeface="Quicksand"/>
                <a:sym typeface="Quicksand"/>
              </a:rPr>
              <a:t>This article provides a comprehensive overview of the P2P architecture, including its characteristics, benefits, types, key components, bootstrapping process, data management, routing algorithms, challenges, security techniques, and applications.</a:t>
            </a:r>
          </a:p>
        </p:txBody>
      </p:sp>
      <p:sp>
        <p:nvSpPr>
          <p:cNvPr id="12" name="TextBox 12"/>
          <p:cNvSpPr txBox="1"/>
          <p:nvPr/>
        </p:nvSpPr>
        <p:spPr>
          <a:xfrm>
            <a:off x="1095509" y="582978"/>
            <a:ext cx="8422573" cy="1026795"/>
          </a:xfrm>
          <a:prstGeom prst="rect">
            <a:avLst/>
          </a:prstGeom>
        </p:spPr>
        <p:txBody>
          <a:bodyPr lIns="0" tIns="0" rIns="0" bIns="0" rtlCol="0" anchor="t">
            <a:spAutoFit/>
          </a:bodyPr>
          <a:lstStyle/>
          <a:p>
            <a:pPr algn="l">
              <a:lnSpc>
                <a:spcPts val="4199"/>
              </a:lnSpc>
            </a:pPr>
            <a:r>
              <a:rPr lang="en-US" sz="2799">
                <a:solidFill>
                  <a:srgbClr val="000000"/>
                </a:solidFill>
                <a:latin typeface="Quicksand"/>
                <a:ea typeface="Quicksand"/>
                <a:cs typeface="Quicksand"/>
                <a:sym typeface="Quicksand"/>
              </a:rPr>
              <a:t>4.2 P2P Network Architectures and Application </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240812"/>
            <a:ext cx="5124450" cy="5017488"/>
            <a:chOff x="0" y="0"/>
            <a:chExt cx="1349649" cy="1321478"/>
          </a:xfrm>
        </p:grpSpPr>
        <p:sp>
          <p:nvSpPr>
            <p:cNvPr id="3" name="Freeform 3"/>
            <p:cNvSpPr/>
            <p:nvPr/>
          </p:nvSpPr>
          <p:spPr>
            <a:xfrm>
              <a:off x="0" y="0"/>
              <a:ext cx="1349649" cy="1321478"/>
            </a:xfrm>
            <a:custGeom>
              <a:avLst/>
              <a:gdLst/>
              <a:ahLst/>
              <a:cxnLst/>
              <a:rect l="l" t="t" r="r" b="b"/>
              <a:pathLst>
                <a:path w="1349649" h="1321478">
                  <a:moveTo>
                    <a:pt x="0" y="0"/>
                  </a:moveTo>
                  <a:lnTo>
                    <a:pt x="1349649" y="0"/>
                  </a:lnTo>
                  <a:lnTo>
                    <a:pt x="1349649" y="1321478"/>
                  </a:lnTo>
                  <a:lnTo>
                    <a:pt x="0" y="1321478"/>
                  </a:lnTo>
                  <a:close/>
                </a:path>
              </a:pathLst>
            </a:custGeom>
            <a:solidFill>
              <a:srgbClr val="FFFFFF"/>
            </a:solidFill>
          </p:spPr>
        </p:sp>
        <p:sp>
          <p:nvSpPr>
            <p:cNvPr id="4" name="TextBox 4"/>
            <p:cNvSpPr txBox="1"/>
            <p:nvPr/>
          </p:nvSpPr>
          <p:spPr>
            <a:xfrm>
              <a:off x="0" y="-38100"/>
              <a:ext cx="1349649" cy="135957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581775" y="4240812"/>
            <a:ext cx="5124450" cy="5017488"/>
            <a:chOff x="0" y="0"/>
            <a:chExt cx="1349649" cy="1321478"/>
          </a:xfrm>
        </p:grpSpPr>
        <p:sp>
          <p:nvSpPr>
            <p:cNvPr id="6" name="Freeform 6"/>
            <p:cNvSpPr/>
            <p:nvPr/>
          </p:nvSpPr>
          <p:spPr>
            <a:xfrm>
              <a:off x="0" y="0"/>
              <a:ext cx="1349649" cy="1321478"/>
            </a:xfrm>
            <a:custGeom>
              <a:avLst/>
              <a:gdLst/>
              <a:ahLst/>
              <a:cxnLst/>
              <a:rect l="l" t="t" r="r" b="b"/>
              <a:pathLst>
                <a:path w="1349649" h="1321478">
                  <a:moveTo>
                    <a:pt x="0" y="0"/>
                  </a:moveTo>
                  <a:lnTo>
                    <a:pt x="1349649" y="0"/>
                  </a:lnTo>
                  <a:lnTo>
                    <a:pt x="1349649" y="1321478"/>
                  </a:lnTo>
                  <a:lnTo>
                    <a:pt x="0" y="1321478"/>
                  </a:lnTo>
                  <a:close/>
                </a:path>
              </a:pathLst>
            </a:custGeom>
            <a:solidFill>
              <a:srgbClr val="FFFFFF"/>
            </a:solidFill>
          </p:spPr>
        </p:sp>
        <p:sp>
          <p:nvSpPr>
            <p:cNvPr id="7" name="TextBox 7"/>
            <p:cNvSpPr txBox="1"/>
            <p:nvPr/>
          </p:nvSpPr>
          <p:spPr>
            <a:xfrm>
              <a:off x="0" y="-38100"/>
              <a:ext cx="1349649" cy="135957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134850" y="4240812"/>
            <a:ext cx="5124450" cy="5017488"/>
            <a:chOff x="0" y="0"/>
            <a:chExt cx="1349649" cy="1321478"/>
          </a:xfrm>
        </p:grpSpPr>
        <p:sp>
          <p:nvSpPr>
            <p:cNvPr id="9" name="Freeform 9"/>
            <p:cNvSpPr/>
            <p:nvPr/>
          </p:nvSpPr>
          <p:spPr>
            <a:xfrm>
              <a:off x="0" y="0"/>
              <a:ext cx="1349649" cy="1321478"/>
            </a:xfrm>
            <a:custGeom>
              <a:avLst/>
              <a:gdLst/>
              <a:ahLst/>
              <a:cxnLst/>
              <a:rect l="l" t="t" r="r" b="b"/>
              <a:pathLst>
                <a:path w="1349649" h="1321478">
                  <a:moveTo>
                    <a:pt x="0" y="0"/>
                  </a:moveTo>
                  <a:lnTo>
                    <a:pt x="1349649" y="0"/>
                  </a:lnTo>
                  <a:lnTo>
                    <a:pt x="1349649" y="1321478"/>
                  </a:lnTo>
                  <a:lnTo>
                    <a:pt x="0" y="1321478"/>
                  </a:lnTo>
                  <a:close/>
                </a:path>
              </a:pathLst>
            </a:custGeom>
            <a:solidFill>
              <a:srgbClr val="FFFFFF"/>
            </a:solidFill>
          </p:spPr>
        </p:sp>
        <p:sp>
          <p:nvSpPr>
            <p:cNvPr id="10" name="TextBox 10"/>
            <p:cNvSpPr txBox="1"/>
            <p:nvPr/>
          </p:nvSpPr>
          <p:spPr>
            <a:xfrm>
              <a:off x="0" y="-38100"/>
              <a:ext cx="1349649" cy="1359578"/>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281123" y="5289433"/>
            <a:ext cx="3902035" cy="2656957"/>
          </a:xfrm>
          <a:prstGeom prst="rect">
            <a:avLst/>
          </a:prstGeom>
        </p:spPr>
        <p:txBody>
          <a:bodyPr lIns="0" tIns="0" rIns="0" bIns="0" rtlCol="0" anchor="t">
            <a:spAutoFit/>
          </a:bodyPr>
          <a:lstStyle/>
          <a:p>
            <a:pPr algn="just">
              <a:lnSpc>
                <a:spcPts val="3000"/>
              </a:lnSpc>
            </a:pPr>
            <a:r>
              <a:rPr lang="en-US" sz="2000">
                <a:solidFill>
                  <a:srgbClr val="000000"/>
                </a:solidFill>
                <a:latin typeface="Quicksand"/>
                <a:ea typeface="Quicksand"/>
                <a:cs typeface="Quicksand"/>
                <a:sym typeface="Quicksand"/>
              </a:rPr>
              <a:t>Also known as decentralized</a:t>
            </a:r>
          </a:p>
          <a:p>
            <a:pPr algn="just">
              <a:lnSpc>
                <a:spcPts val="3000"/>
              </a:lnSpc>
            </a:pPr>
            <a:r>
              <a:rPr lang="en-US" sz="2000">
                <a:solidFill>
                  <a:srgbClr val="000000"/>
                </a:solidFill>
                <a:latin typeface="Quicksand"/>
                <a:ea typeface="Quicksand"/>
                <a:cs typeface="Quicksand"/>
                <a:sym typeface="Quicksand"/>
              </a:rPr>
              <a:t>or true P2P networks, pure P2P networks operate without any central authority</a:t>
            </a:r>
          </a:p>
          <a:p>
            <a:pPr algn="just">
              <a:lnSpc>
                <a:spcPts val="3000"/>
              </a:lnSpc>
            </a:pPr>
            <a:r>
              <a:rPr lang="en-US" sz="2000">
                <a:solidFill>
                  <a:srgbClr val="000000"/>
                </a:solidFill>
                <a:latin typeface="Quicksand"/>
                <a:ea typeface="Quicksand"/>
                <a:cs typeface="Quicksand"/>
                <a:sym typeface="Quicksand"/>
              </a:rPr>
              <a:t>or dedicated infrastructure.</a:t>
            </a:r>
          </a:p>
          <a:p>
            <a:pPr marL="0" lvl="0" indent="0" algn="just">
              <a:lnSpc>
                <a:spcPts val="3000"/>
              </a:lnSpc>
              <a:spcBef>
                <a:spcPct val="0"/>
              </a:spcBef>
            </a:pPr>
            <a:endParaRPr lang="en-US" sz="2000">
              <a:solidFill>
                <a:srgbClr val="000000"/>
              </a:solidFill>
              <a:latin typeface="Quicksand"/>
              <a:ea typeface="Quicksand"/>
              <a:cs typeface="Quicksand"/>
              <a:sym typeface="Quicksand"/>
            </a:endParaRPr>
          </a:p>
          <a:p>
            <a:pPr marL="0" lvl="0" indent="0" algn="just">
              <a:lnSpc>
                <a:spcPts val="3040"/>
              </a:lnSpc>
              <a:spcBef>
                <a:spcPct val="0"/>
              </a:spcBef>
            </a:pPr>
            <a:endParaRPr lang="en-US" sz="2000">
              <a:solidFill>
                <a:srgbClr val="000000"/>
              </a:solidFill>
              <a:latin typeface="Quicksand"/>
              <a:ea typeface="Quicksand"/>
              <a:cs typeface="Quicksand"/>
              <a:sym typeface="Quicksand"/>
            </a:endParaRPr>
          </a:p>
        </p:txBody>
      </p:sp>
      <p:sp>
        <p:nvSpPr>
          <p:cNvPr id="12" name="TextBox 12"/>
          <p:cNvSpPr txBox="1"/>
          <p:nvPr/>
        </p:nvSpPr>
        <p:spPr>
          <a:xfrm>
            <a:off x="1281123" y="4634865"/>
            <a:ext cx="5086350" cy="950594"/>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1. Pure P2P Networks</a:t>
            </a:r>
          </a:p>
          <a:p>
            <a:pPr algn="l">
              <a:lnSpc>
                <a:spcPts val="3360"/>
              </a:lnSpc>
            </a:pPr>
            <a:endParaRPr lang="en-US" sz="3000" b="1">
              <a:solidFill>
                <a:srgbClr val="000000"/>
              </a:solidFill>
              <a:latin typeface="Quicksand Bold"/>
              <a:ea typeface="Quicksand Bold"/>
              <a:cs typeface="Quicksand Bold"/>
              <a:sym typeface="Quicksand Bold"/>
            </a:endParaRPr>
          </a:p>
        </p:txBody>
      </p:sp>
      <p:sp>
        <p:nvSpPr>
          <p:cNvPr id="13" name="TextBox 13"/>
          <p:cNvSpPr txBox="1"/>
          <p:nvPr/>
        </p:nvSpPr>
        <p:spPr>
          <a:xfrm>
            <a:off x="6941360" y="5289433"/>
            <a:ext cx="4619604" cy="1514475"/>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Quicksand"/>
                <a:ea typeface="Quicksand"/>
                <a:cs typeface="Quicksand"/>
                <a:sym typeface="Quicksand"/>
              </a:rPr>
              <a:t>Hybrid P2P networks combine elements of both decentralized and centralized architectures.</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
        <p:nvSpPr>
          <p:cNvPr id="14" name="TextBox 14"/>
          <p:cNvSpPr txBox="1"/>
          <p:nvPr/>
        </p:nvSpPr>
        <p:spPr>
          <a:xfrm>
            <a:off x="6834198" y="4634865"/>
            <a:ext cx="4619604" cy="1057275"/>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2. Hybrid P2P Networks</a:t>
            </a:r>
          </a:p>
          <a:p>
            <a:pPr algn="l">
              <a:lnSpc>
                <a:spcPts val="4200"/>
              </a:lnSpc>
            </a:pPr>
            <a:endParaRPr lang="en-US" sz="3000" b="1">
              <a:solidFill>
                <a:srgbClr val="000000"/>
              </a:solidFill>
              <a:latin typeface="Quicksand Bold"/>
              <a:ea typeface="Quicksand Bold"/>
              <a:cs typeface="Quicksand Bold"/>
              <a:sym typeface="Quicksand Bold"/>
            </a:endParaRPr>
          </a:p>
        </p:txBody>
      </p:sp>
      <p:sp>
        <p:nvSpPr>
          <p:cNvPr id="15" name="TextBox 15"/>
          <p:cNvSpPr txBox="1"/>
          <p:nvPr/>
        </p:nvSpPr>
        <p:spPr>
          <a:xfrm>
            <a:off x="12496800" y="5289433"/>
            <a:ext cx="4619604" cy="1514475"/>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Quicksand"/>
                <a:ea typeface="Quicksand"/>
                <a:cs typeface="Quicksand"/>
                <a:sym typeface="Quicksand"/>
              </a:rPr>
              <a:t>Overlay P2P networks create a virtual network on top of an existing infrastructure, such as the internet.</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
        <p:nvSpPr>
          <p:cNvPr id="16" name="TextBox 16"/>
          <p:cNvSpPr txBox="1"/>
          <p:nvPr/>
        </p:nvSpPr>
        <p:spPr>
          <a:xfrm>
            <a:off x="12392025" y="4583430"/>
            <a:ext cx="4867275" cy="1057275"/>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3. Overlay P2P Networks</a:t>
            </a:r>
          </a:p>
          <a:p>
            <a:pPr algn="l">
              <a:lnSpc>
                <a:spcPts val="4200"/>
              </a:lnSpc>
            </a:pPr>
            <a:endParaRPr lang="en-US" sz="3000" b="1">
              <a:solidFill>
                <a:srgbClr val="000000"/>
              </a:solidFill>
              <a:latin typeface="Quicksand Bold"/>
              <a:ea typeface="Quicksand Bold"/>
              <a:cs typeface="Quicksand Bold"/>
              <a:sym typeface="Quicksand Bold"/>
            </a:endParaRPr>
          </a:p>
        </p:txBody>
      </p:sp>
      <p:sp>
        <p:nvSpPr>
          <p:cNvPr id="17" name="TextBox 17"/>
          <p:cNvSpPr txBox="1"/>
          <p:nvPr/>
        </p:nvSpPr>
        <p:spPr>
          <a:xfrm>
            <a:off x="1404938" y="914400"/>
            <a:ext cx="15478125" cy="31623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TYPES OF PEER-TO-PEER (P2P) NETWORKS</a:t>
            </a:r>
          </a:p>
          <a:p>
            <a:pPr algn="ctr">
              <a:lnSpc>
                <a:spcPts val="8400"/>
              </a:lnSpc>
            </a:pPr>
            <a:endParaRPr lang="en-US" sz="6000">
              <a:solidFill>
                <a:srgbClr val="FFFFFF"/>
              </a:solidFill>
              <a:latin typeface="Fredoka"/>
              <a:ea typeface="Fredoka"/>
              <a:cs typeface="Fredoka"/>
              <a:sym typeface="Fredoka"/>
            </a:endParaRPr>
          </a:p>
        </p:txBody>
      </p:sp>
      <p:sp>
        <p:nvSpPr>
          <p:cNvPr id="18" name="TextBox 18"/>
          <p:cNvSpPr txBox="1"/>
          <p:nvPr/>
        </p:nvSpPr>
        <p:spPr>
          <a:xfrm>
            <a:off x="669916" y="7908289"/>
            <a:ext cx="5124450" cy="33972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latin typeface="Quicksand"/>
                <a:ea typeface="Quicksand"/>
                <a:cs typeface="Quicksand"/>
                <a:sym typeface="Quicksand"/>
              </a:rPr>
              <a:t>Examples: BitTorrent and Gnutella.</a:t>
            </a:r>
          </a:p>
        </p:txBody>
      </p:sp>
      <p:sp>
        <p:nvSpPr>
          <p:cNvPr id="19" name="TextBox 19"/>
          <p:cNvSpPr txBox="1"/>
          <p:nvPr/>
        </p:nvSpPr>
        <p:spPr>
          <a:xfrm>
            <a:off x="6941360" y="6431914"/>
            <a:ext cx="4619604" cy="1895475"/>
          </a:xfrm>
          <a:prstGeom prst="rect">
            <a:avLst/>
          </a:prstGeom>
        </p:spPr>
        <p:txBody>
          <a:bodyPr lIns="0" tIns="0" rIns="0" bIns="0" rtlCol="0" anchor="t">
            <a:spAutoFit/>
          </a:bodyPr>
          <a:lstStyle/>
          <a:p>
            <a:pPr algn="l">
              <a:lnSpc>
                <a:spcPts val="3000"/>
              </a:lnSpc>
              <a:spcBef>
                <a:spcPct val="0"/>
              </a:spcBef>
            </a:pPr>
            <a:r>
              <a:rPr lang="en-US" sz="2000">
                <a:solidFill>
                  <a:srgbClr val="000000"/>
                </a:solidFill>
                <a:latin typeface="Quicksand"/>
                <a:ea typeface="Quicksand"/>
                <a:cs typeface="Quicksand"/>
                <a:sym typeface="Quicksand"/>
              </a:rPr>
              <a:t>They typically include some central servers or super peers that coordinate network activities, manage resources, or provide additional services.</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
        <p:nvSpPr>
          <p:cNvPr id="20" name="TextBox 20"/>
          <p:cNvSpPr txBox="1"/>
          <p:nvPr/>
        </p:nvSpPr>
        <p:spPr>
          <a:xfrm>
            <a:off x="6367473" y="8416398"/>
            <a:ext cx="5124450" cy="692150"/>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latin typeface="Quicksand"/>
                <a:ea typeface="Quicksand"/>
                <a:cs typeface="Quicksand"/>
                <a:sym typeface="Quicksand"/>
              </a:rPr>
              <a:t>Examples: Skype and eDonkey.</a:t>
            </a:r>
          </a:p>
          <a:p>
            <a:pPr algn="ctr">
              <a:lnSpc>
                <a:spcPts val="2799"/>
              </a:lnSpc>
              <a:spcBef>
                <a:spcPct val="0"/>
              </a:spcBef>
            </a:pPr>
            <a:endParaRPr lang="en-US" sz="1999">
              <a:solidFill>
                <a:srgbClr val="000000"/>
              </a:solidFill>
              <a:latin typeface="Quicksand"/>
              <a:ea typeface="Quicksand"/>
              <a:cs typeface="Quicksand"/>
              <a:sym typeface="Quicksand"/>
            </a:endParaRPr>
          </a:p>
        </p:txBody>
      </p:sp>
      <p:sp>
        <p:nvSpPr>
          <p:cNvPr id="21" name="TextBox 21"/>
          <p:cNvSpPr txBox="1"/>
          <p:nvPr/>
        </p:nvSpPr>
        <p:spPr>
          <a:xfrm>
            <a:off x="12496800" y="6584573"/>
            <a:ext cx="4619604" cy="2657475"/>
          </a:xfrm>
          <a:prstGeom prst="rect">
            <a:avLst/>
          </a:prstGeom>
        </p:spPr>
        <p:txBody>
          <a:bodyPr lIns="0" tIns="0" rIns="0" bIns="0" rtlCol="0" anchor="t">
            <a:spAutoFit/>
          </a:bodyPr>
          <a:lstStyle/>
          <a:p>
            <a:pPr algn="l">
              <a:lnSpc>
                <a:spcPts val="3000"/>
              </a:lnSpc>
            </a:pPr>
            <a:r>
              <a:rPr lang="en-US" sz="2000">
                <a:solidFill>
                  <a:srgbClr val="000000"/>
                </a:solidFill>
                <a:latin typeface="Quicksand"/>
                <a:ea typeface="Quicksand"/>
                <a:cs typeface="Quicksand"/>
                <a:sym typeface="Quicksand"/>
              </a:rPr>
              <a:t>Overlay P2P networks often employ distributed hash tables (DHTs) or other routing mechanisms to locate and retrieve resources efficiently. </a:t>
            </a:r>
          </a:p>
          <a:p>
            <a:pPr algn="l">
              <a:lnSpc>
                <a:spcPts val="3000"/>
              </a:lnSpc>
            </a:pPr>
            <a:endParaRPr lang="en-US" sz="2000">
              <a:solidFill>
                <a:srgbClr val="000000"/>
              </a:solidFill>
              <a:latin typeface="Quicksand"/>
              <a:ea typeface="Quicksand"/>
              <a:cs typeface="Quicksand"/>
              <a:sym typeface="Quicksand"/>
            </a:endParaRPr>
          </a:p>
          <a:p>
            <a:pPr algn="l">
              <a:lnSpc>
                <a:spcPts val="3000"/>
              </a:lnSpc>
              <a:spcBef>
                <a:spcPct val="0"/>
              </a:spcBef>
            </a:pPr>
            <a:r>
              <a:rPr lang="en-US" sz="2000">
                <a:solidFill>
                  <a:srgbClr val="000000"/>
                </a:solidFill>
                <a:latin typeface="Quicksand"/>
                <a:ea typeface="Quicksand"/>
                <a:cs typeface="Quicksand"/>
                <a:sym typeface="Quicksand"/>
              </a:rPr>
              <a:t>Examples include Chord and Kademlia.</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2706518" y="4076700"/>
            <a:ext cx="6459830" cy="5017488"/>
            <a:chOff x="0" y="0"/>
            <a:chExt cx="1701354" cy="1321478"/>
          </a:xfrm>
        </p:grpSpPr>
        <p:sp>
          <p:nvSpPr>
            <p:cNvPr id="3" name="Freeform 3"/>
            <p:cNvSpPr/>
            <p:nvPr/>
          </p:nvSpPr>
          <p:spPr>
            <a:xfrm>
              <a:off x="0" y="0"/>
              <a:ext cx="1701354" cy="1321478"/>
            </a:xfrm>
            <a:custGeom>
              <a:avLst/>
              <a:gdLst/>
              <a:ahLst/>
              <a:cxnLst/>
              <a:rect l="l" t="t" r="r" b="b"/>
              <a:pathLst>
                <a:path w="1701354" h="1321478">
                  <a:moveTo>
                    <a:pt x="0" y="0"/>
                  </a:moveTo>
                  <a:lnTo>
                    <a:pt x="1701354" y="0"/>
                  </a:lnTo>
                  <a:lnTo>
                    <a:pt x="1701354" y="1321478"/>
                  </a:lnTo>
                  <a:lnTo>
                    <a:pt x="0" y="1321478"/>
                  </a:lnTo>
                  <a:close/>
                </a:path>
              </a:pathLst>
            </a:custGeom>
            <a:solidFill>
              <a:srgbClr val="FFFFFF"/>
            </a:solidFill>
          </p:spPr>
        </p:sp>
        <p:sp>
          <p:nvSpPr>
            <p:cNvPr id="4" name="TextBox 4"/>
            <p:cNvSpPr txBox="1"/>
            <p:nvPr/>
          </p:nvSpPr>
          <p:spPr>
            <a:xfrm>
              <a:off x="0" y="-38100"/>
              <a:ext cx="1701354" cy="135957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706668" y="4076700"/>
            <a:ext cx="6459830" cy="5017488"/>
            <a:chOff x="0" y="0"/>
            <a:chExt cx="1701354" cy="1321478"/>
          </a:xfrm>
        </p:grpSpPr>
        <p:sp>
          <p:nvSpPr>
            <p:cNvPr id="6" name="Freeform 6"/>
            <p:cNvSpPr/>
            <p:nvPr/>
          </p:nvSpPr>
          <p:spPr>
            <a:xfrm>
              <a:off x="0" y="0"/>
              <a:ext cx="1701354" cy="1321478"/>
            </a:xfrm>
            <a:custGeom>
              <a:avLst/>
              <a:gdLst/>
              <a:ahLst/>
              <a:cxnLst/>
              <a:rect l="l" t="t" r="r" b="b"/>
              <a:pathLst>
                <a:path w="1701354" h="1321478">
                  <a:moveTo>
                    <a:pt x="0" y="0"/>
                  </a:moveTo>
                  <a:lnTo>
                    <a:pt x="1701354" y="0"/>
                  </a:lnTo>
                  <a:lnTo>
                    <a:pt x="1701354" y="1321478"/>
                  </a:lnTo>
                  <a:lnTo>
                    <a:pt x="0" y="1321478"/>
                  </a:lnTo>
                  <a:close/>
                </a:path>
              </a:pathLst>
            </a:custGeom>
            <a:solidFill>
              <a:srgbClr val="FFFFFF"/>
            </a:solidFill>
          </p:spPr>
        </p:sp>
        <p:sp>
          <p:nvSpPr>
            <p:cNvPr id="7" name="TextBox 7"/>
            <p:cNvSpPr txBox="1"/>
            <p:nvPr/>
          </p:nvSpPr>
          <p:spPr>
            <a:xfrm>
              <a:off x="0" y="-38100"/>
              <a:ext cx="1701354" cy="1359578"/>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024720" y="5125320"/>
            <a:ext cx="5870142" cy="1513957"/>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Quicksand"/>
                <a:ea typeface="Quicksand"/>
                <a:cs typeface="Quicksand"/>
                <a:sym typeface="Quicksand"/>
              </a:rPr>
              <a:t>Structured P2P networks organize peers into a specific topology or structure, such as a ring, tree, or mesh.</a:t>
            </a:r>
          </a:p>
          <a:p>
            <a:pPr marL="0" lvl="0" indent="0" algn="l">
              <a:lnSpc>
                <a:spcPts val="3040"/>
              </a:lnSpc>
              <a:spcBef>
                <a:spcPct val="0"/>
              </a:spcBef>
            </a:pPr>
            <a:endParaRPr lang="en-US" sz="2000">
              <a:solidFill>
                <a:srgbClr val="000000"/>
              </a:solidFill>
              <a:latin typeface="Quicksand"/>
              <a:ea typeface="Quicksand"/>
              <a:cs typeface="Quicksand"/>
              <a:sym typeface="Quicksand"/>
            </a:endParaRPr>
          </a:p>
        </p:txBody>
      </p:sp>
      <p:sp>
        <p:nvSpPr>
          <p:cNvPr id="9" name="TextBox 9"/>
          <p:cNvSpPr txBox="1"/>
          <p:nvPr/>
        </p:nvSpPr>
        <p:spPr>
          <a:xfrm>
            <a:off x="3024720" y="4470753"/>
            <a:ext cx="6411801" cy="950594"/>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4. Structured P2P Networks</a:t>
            </a:r>
          </a:p>
          <a:p>
            <a:pPr algn="l">
              <a:lnSpc>
                <a:spcPts val="3360"/>
              </a:lnSpc>
            </a:pPr>
            <a:endParaRPr lang="en-US" sz="3000" b="1">
              <a:solidFill>
                <a:srgbClr val="000000"/>
              </a:solidFill>
              <a:latin typeface="Quicksand Bold"/>
              <a:ea typeface="Quicksand Bold"/>
              <a:cs typeface="Quicksand Bold"/>
              <a:sym typeface="Quicksand Bold"/>
            </a:endParaRPr>
          </a:p>
        </p:txBody>
      </p:sp>
      <p:sp>
        <p:nvSpPr>
          <p:cNvPr id="10" name="TextBox 10"/>
          <p:cNvSpPr txBox="1"/>
          <p:nvPr/>
        </p:nvSpPr>
        <p:spPr>
          <a:xfrm>
            <a:off x="10159957" y="5125320"/>
            <a:ext cx="5823425" cy="1514475"/>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Quicksand"/>
                <a:ea typeface="Quicksand"/>
                <a:cs typeface="Quicksand"/>
                <a:sym typeface="Quicksand"/>
              </a:rPr>
              <a:t>In contrast to structured P2P networks, unstructured P2P networks do not impose any specific topology or organization on peers.</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
        <p:nvSpPr>
          <p:cNvPr id="11" name="TextBox 11"/>
          <p:cNvSpPr txBox="1"/>
          <p:nvPr/>
        </p:nvSpPr>
        <p:spPr>
          <a:xfrm>
            <a:off x="10024870" y="4470753"/>
            <a:ext cx="5823425" cy="1057275"/>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5. Unstructured P2P Networks</a:t>
            </a:r>
          </a:p>
          <a:p>
            <a:pPr algn="l">
              <a:lnSpc>
                <a:spcPts val="4200"/>
              </a:lnSpc>
            </a:pPr>
            <a:endParaRPr lang="en-US" sz="3000" b="1">
              <a:solidFill>
                <a:srgbClr val="000000"/>
              </a:solidFill>
              <a:latin typeface="Quicksand Bold"/>
              <a:ea typeface="Quicksand Bold"/>
              <a:cs typeface="Quicksand Bold"/>
              <a:sym typeface="Quicksand Bold"/>
            </a:endParaRPr>
          </a:p>
        </p:txBody>
      </p:sp>
      <p:sp>
        <p:nvSpPr>
          <p:cNvPr id="12" name="TextBox 12"/>
          <p:cNvSpPr txBox="1"/>
          <p:nvPr/>
        </p:nvSpPr>
        <p:spPr>
          <a:xfrm>
            <a:off x="1404938" y="914400"/>
            <a:ext cx="15478125" cy="31623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TYPES OF PEER-TO-PEER (P2P) NETWORKS</a:t>
            </a:r>
          </a:p>
          <a:p>
            <a:pPr algn="ctr">
              <a:lnSpc>
                <a:spcPts val="8400"/>
              </a:lnSpc>
            </a:pPr>
            <a:endParaRPr lang="en-US" sz="6000">
              <a:solidFill>
                <a:srgbClr val="FFFFFF"/>
              </a:solidFill>
              <a:latin typeface="Fredoka"/>
              <a:ea typeface="Fredoka"/>
              <a:cs typeface="Fredoka"/>
              <a:sym typeface="Fredoka"/>
            </a:endParaRPr>
          </a:p>
        </p:txBody>
      </p:sp>
      <p:sp>
        <p:nvSpPr>
          <p:cNvPr id="13" name="TextBox 13"/>
          <p:cNvSpPr txBox="1"/>
          <p:nvPr/>
        </p:nvSpPr>
        <p:spPr>
          <a:xfrm>
            <a:off x="2729876" y="7819859"/>
            <a:ext cx="6459830" cy="692150"/>
          </a:xfrm>
          <a:prstGeom prst="rect">
            <a:avLst/>
          </a:prstGeom>
        </p:spPr>
        <p:txBody>
          <a:bodyPr lIns="0" tIns="0" rIns="0" bIns="0" rtlCol="0" anchor="t">
            <a:spAutoFit/>
          </a:bodyPr>
          <a:lstStyle/>
          <a:p>
            <a:pPr algn="l">
              <a:lnSpc>
                <a:spcPts val="2799"/>
              </a:lnSpc>
              <a:spcBef>
                <a:spcPct val="0"/>
              </a:spcBef>
            </a:pPr>
            <a:r>
              <a:rPr lang="en-US" sz="1999">
                <a:solidFill>
                  <a:srgbClr val="000000"/>
                </a:solidFill>
                <a:latin typeface="Quicksand"/>
                <a:ea typeface="Quicksand"/>
                <a:cs typeface="Quicksand"/>
                <a:sym typeface="Quicksand"/>
              </a:rPr>
              <a:t>Examples include CAN (Content Addressable Network) and Pastry.</a:t>
            </a:r>
          </a:p>
        </p:txBody>
      </p:sp>
      <p:sp>
        <p:nvSpPr>
          <p:cNvPr id="14" name="TextBox 14"/>
          <p:cNvSpPr txBox="1"/>
          <p:nvPr/>
        </p:nvSpPr>
        <p:spPr>
          <a:xfrm>
            <a:off x="10159957" y="6289509"/>
            <a:ext cx="5823425" cy="1895475"/>
          </a:xfrm>
          <a:prstGeom prst="rect">
            <a:avLst/>
          </a:prstGeom>
        </p:spPr>
        <p:txBody>
          <a:bodyPr lIns="0" tIns="0" rIns="0" bIns="0" rtlCol="0" anchor="t">
            <a:spAutoFit/>
          </a:bodyPr>
          <a:lstStyle/>
          <a:p>
            <a:pPr algn="l">
              <a:lnSpc>
                <a:spcPts val="3000"/>
              </a:lnSpc>
              <a:spcBef>
                <a:spcPct val="0"/>
              </a:spcBef>
            </a:pPr>
            <a:r>
              <a:rPr lang="en-US" sz="2000">
                <a:solidFill>
                  <a:srgbClr val="000000"/>
                </a:solidFill>
                <a:latin typeface="Quicksand"/>
                <a:ea typeface="Quicksand"/>
                <a:cs typeface="Quicksand"/>
                <a:sym typeface="Quicksand"/>
              </a:rPr>
              <a:t>Peers in these networks typically rely on flooding or random search algorithms to locate resources, resulting in lower efficiency but greater flexibility and simplicity.</a:t>
            </a:r>
          </a:p>
          <a:p>
            <a:pPr marL="0" lvl="0" indent="0" algn="l">
              <a:lnSpc>
                <a:spcPts val="3000"/>
              </a:lnSpc>
              <a:spcBef>
                <a:spcPct val="0"/>
              </a:spcBef>
            </a:pPr>
            <a:endParaRPr lang="en-US" sz="2000">
              <a:solidFill>
                <a:srgbClr val="000000"/>
              </a:solidFill>
              <a:latin typeface="Quicksand"/>
              <a:ea typeface="Quicksand"/>
              <a:cs typeface="Quicksand"/>
              <a:sym typeface="Quicksand"/>
            </a:endParaRPr>
          </a:p>
        </p:txBody>
      </p:sp>
      <p:sp>
        <p:nvSpPr>
          <p:cNvPr id="15" name="TextBox 15"/>
          <p:cNvSpPr txBox="1"/>
          <p:nvPr/>
        </p:nvSpPr>
        <p:spPr>
          <a:xfrm>
            <a:off x="9523553" y="8049613"/>
            <a:ext cx="6459830" cy="104457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latin typeface="Quicksand"/>
                <a:ea typeface="Quicksand"/>
                <a:cs typeface="Quicksand"/>
                <a:sym typeface="Quicksand"/>
              </a:rPr>
              <a:t>Examples include early versions of Gnutella and Freenet.</a:t>
            </a:r>
          </a:p>
          <a:p>
            <a:pPr algn="ctr">
              <a:lnSpc>
                <a:spcPts val="2799"/>
              </a:lnSpc>
              <a:spcBef>
                <a:spcPct val="0"/>
              </a:spcBef>
            </a:pPr>
            <a:endParaRPr lang="en-US" sz="1999">
              <a:solidFill>
                <a:srgbClr val="000000"/>
              </a:solidFill>
              <a:latin typeface="Quicksand"/>
              <a:ea typeface="Quicksand"/>
              <a:cs typeface="Quicksand"/>
              <a:sym typeface="Quicksand"/>
            </a:endParaRPr>
          </a:p>
        </p:txBody>
      </p:sp>
      <p:sp>
        <p:nvSpPr>
          <p:cNvPr id="16" name="TextBox 16"/>
          <p:cNvSpPr txBox="1"/>
          <p:nvPr/>
        </p:nvSpPr>
        <p:spPr>
          <a:xfrm>
            <a:off x="3001362" y="6277845"/>
            <a:ext cx="5870142" cy="1122913"/>
          </a:xfrm>
          <a:prstGeom prst="rect">
            <a:avLst/>
          </a:prstGeom>
        </p:spPr>
        <p:txBody>
          <a:bodyPr lIns="0" tIns="0" rIns="0" bIns="0" rtlCol="0" anchor="t">
            <a:spAutoFit/>
          </a:bodyPr>
          <a:lstStyle/>
          <a:p>
            <a:pPr marL="0" lvl="0" indent="0" algn="l">
              <a:lnSpc>
                <a:spcPts val="3040"/>
              </a:lnSpc>
              <a:spcBef>
                <a:spcPct val="0"/>
              </a:spcBef>
            </a:pPr>
            <a:r>
              <a:rPr lang="en-US" sz="2027">
                <a:solidFill>
                  <a:srgbClr val="000000"/>
                </a:solidFill>
                <a:latin typeface="Quicksand"/>
                <a:ea typeface="Quicksand"/>
                <a:cs typeface="Quicksand"/>
                <a:sym typeface="Quicksand"/>
              </a:rPr>
              <a:t>Structured P2P networks offer predictable performance and scalability but may require additional overhead for maintenance. </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7213962" y="1028700"/>
            <a:ext cx="8863058" cy="4114800"/>
            <a:chOff x="0" y="0"/>
            <a:chExt cx="2334303" cy="1083733"/>
          </a:xfrm>
        </p:grpSpPr>
        <p:sp>
          <p:nvSpPr>
            <p:cNvPr id="3" name="Freeform 3"/>
            <p:cNvSpPr/>
            <p:nvPr/>
          </p:nvSpPr>
          <p:spPr>
            <a:xfrm>
              <a:off x="0" y="0"/>
              <a:ext cx="2334303" cy="1083733"/>
            </a:xfrm>
            <a:custGeom>
              <a:avLst/>
              <a:gdLst/>
              <a:ahLst/>
              <a:cxnLst/>
              <a:rect l="l" t="t" r="r" b="b"/>
              <a:pathLst>
                <a:path w="2334303" h="1083733">
                  <a:moveTo>
                    <a:pt x="0" y="0"/>
                  </a:moveTo>
                  <a:lnTo>
                    <a:pt x="2334303" y="0"/>
                  </a:lnTo>
                  <a:lnTo>
                    <a:pt x="2334303" y="1083733"/>
                  </a:lnTo>
                  <a:lnTo>
                    <a:pt x="0" y="1083733"/>
                  </a:lnTo>
                  <a:close/>
                </a:path>
              </a:pathLst>
            </a:custGeom>
            <a:solidFill>
              <a:srgbClr val="FFFFFF"/>
            </a:solidFill>
          </p:spPr>
        </p:sp>
        <p:sp>
          <p:nvSpPr>
            <p:cNvPr id="4" name="TextBox 4"/>
            <p:cNvSpPr txBox="1"/>
            <p:nvPr/>
          </p:nvSpPr>
          <p:spPr>
            <a:xfrm>
              <a:off x="0" y="-38100"/>
              <a:ext cx="2334303" cy="11218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13962" y="5671311"/>
            <a:ext cx="8863058" cy="3586989"/>
            <a:chOff x="0" y="0"/>
            <a:chExt cx="2334303" cy="944721"/>
          </a:xfrm>
        </p:grpSpPr>
        <p:sp>
          <p:nvSpPr>
            <p:cNvPr id="6" name="Freeform 6"/>
            <p:cNvSpPr/>
            <p:nvPr/>
          </p:nvSpPr>
          <p:spPr>
            <a:xfrm>
              <a:off x="0" y="0"/>
              <a:ext cx="2334303" cy="944721"/>
            </a:xfrm>
            <a:custGeom>
              <a:avLst/>
              <a:gdLst/>
              <a:ahLst/>
              <a:cxnLst/>
              <a:rect l="l" t="t" r="r" b="b"/>
              <a:pathLst>
                <a:path w="2334303" h="944721">
                  <a:moveTo>
                    <a:pt x="0" y="0"/>
                  </a:moveTo>
                  <a:lnTo>
                    <a:pt x="2334303" y="0"/>
                  </a:lnTo>
                  <a:lnTo>
                    <a:pt x="2334303" y="944721"/>
                  </a:lnTo>
                  <a:lnTo>
                    <a:pt x="0" y="944721"/>
                  </a:lnTo>
                  <a:close/>
                </a:path>
              </a:pathLst>
            </a:custGeom>
            <a:solidFill>
              <a:srgbClr val="FFFFFF"/>
            </a:solidFill>
          </p:spPr>
        </p:sp>
        <p:sp>
          <p:nvSpPr>
            <p:cNvPr id="7" name="TextBox 7"/>
            <p:cNvSpPr txBox="1"/>
            <p:nvPr/>
          </p:nvSpPr>
          <p:spPr>
            <a:xfrm>
              <a:off x="0" y="-38100"/>
              <a:ext cx="2334303" cy="98282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193838" y="1713303"/>
            <a:ext cx="5653109" cy="6139180"/>
          </a:xfrm>
          <a:prstGeom prst="rect">
            <a:avLst/>
          </a:prstGeom>
        </p:spPr>
        <p:txBody>
          <a:bodyPr lIns="0" tIns="0" rIns="0" bIns="0" rtlCol="0" anchor="t">
            <a:spAutoFit/>
          </a:bodyPr>
          <a:lstStyle/>
          <a:p>
            <a:pPr algn="l">
              <a:lnSpc>
                <a:spcPts val="8120"/>
              </a:lnSpc>
            </a:pPr>
            <a:r>
              <a:rPr lang="en-US" sz="5800">
                <a:solidFill>
                  <a:srgbClr val="FFFFFF"/>
                </a:solidFill>
                <a:latin typeface="Fredoka"/>
                <a:ea typeface="Fredoka"/>
                <a:cs typeface="Fredoka"/>
                <a:sym typeface="Fredoka"/>
              </a:rPr>
              <a:t>KEY COMPONENTS OF PEER-TO-PEER (P2P) SYSTEMS</a:t>
            </a:r>
          </a:p>
          <a:p>
            <a:pPr algn="l">
              <a:lnSpc>
                <a:spcPts val="8120"/>
              </a:lnSpc>
            </a:pPr>
            <a:endParaRPr lang="en-US" sz="5800">
              <a:solidFill>
                <a:srgbClr val="FFFFFF"/>
              </a:solidFill>
              <a:latin typeface="Fredoka"/>
              <a:ea typeface="Fredoka"/>
              <a:cs typeface="Fredoka"/>
              <a:sym typeface="Fredoka"/>
            </a:endParaRPr>
          </a:p>
        </p:txBody>
      </p:sp>
      <p:sp>
        <p:nvSpPr>
          <p:cNvPr id="9" name="TextBox 9"/>
          <p:cNvSpPr txBox="1"/>
          <p:nvPr/>
        </p:nvSpPr>
        <p:spPr>
          <a:xfrm>
            <a:off x="7527257" y="2129736"/>
            <a:ext cx="6971552" cy="1550670"/>
          </a:xfrm>
          <a:prstGeom prst="rect">
            <a:avLst/>
          </a:prstGeom>
        </p:spPr>
        <p:txBody>
          <a:bodyPr lIns="0" tIns="0" rIns="0" bIns="0" rtlCol="0" anchor="t">
            <a:spAutoFit/>
          </a:bodyPr>
          <a:lstStyle/>
          <a:p>
            <a:pPr algn="l">
              <a:lnSpc>
                <a:spcPts val="4199"/>
              </a:lnSpc>
              <a:spcBef>
                <a:spcPct val="0"/>
              </a:spcBef>
            </a:pPr>
            <a:r>
              <a:rPr lang="en-US" sz="2799">
                <a:solidFill>
                  <a:srgbClr val="000000"/>
                </a:solidFill>
                <a:latin typeface="Quicksand"/>
                <a:ea typeface="Quicksand"/>
                <a:cs typeface="Quicksand"/>
                <a:sym typeface="Quicksand"/>
              </a:rPr>
              <a:t>Individual participants in a P2P network, each acting as both a client and a server.</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0" name="TextBox 10"/>
          <p:cNvSpPr txBox="1"/>
          <p:nvPr/>
        </p:nvSpPr>
        <p:spPr>
          <a:xfrm>
            <a:off x="7527257" y="1386894"/>
            <a:ext cx="6971552" cy="603885"/>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Peer Nodes</a:t>
            </a:r>
          </a:p>
        </p:txBody>
      </p:sp>
      <p:sp>
        <p:nvSpPr>
          <p:cNvPr id="11" name="TextBox 11"/>
          <p:cNvSpPr txBox="1"/>
          <p:nvPr/>
        </p:nvSpPr>
        <p:spPr>
          <a:xfrm>
            <a:off x="7527257" y="6772347"/>
            <a:ext cx="6971552" cy="2074545"/>
          </a:xfrm>
          <a:prstGeom prst="rect">
            <a:avLst/>
          </a:prstGeom>
        </p:spPr>
        <p:txBody>
          <a:bodyPr lIns="0" tIns="0" rIns="0" bIns="0" rtlCol="0" anchor="t">
            <a:spAutoFit/>
          </a:bodyPr>
          <a:lstStyle/>
          <a:p>
            <a:pPr algn="l">
              <a:lnSpc>
                <a:spcPts val="4199"/>
              </a:lnSpc>
              <a:spcBef>
                <a:spcPct val="0"/>
              </a:spcBef>
            </a:pPr>
            <a:r>
              <a:rPr lang="en-US" sz="2799">
                <a:solidFill>
                  <a:srgbClr val="000000"/>
                </a:solidFill>
                <a:latin typeface="Quicksand"/>
                <a:ea typeface="Quicksand"/>
                <a:cs typeface="Quicksand"/>
                <a:sym typeface="Quicksand"/>
              </a:rPr>
              <a:t>A virtual network topology that connects peer nodes and facilitates communication and resource sharing.</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2" name="TextBox 12"/>
          <p:cNvSpPr txBox="1"/>
          <p:nvPr/>
        </p:nvSpPr>
        <p:spPr>
          <a:xfrm>
            <a:off x="7527257" y="6029506"/>
            <a:ext cx="6971552" cy="603885"/>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Overlay Network</a:t>
            </a: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7213962" y="1028700"/>
            <a:ext cx="8863058" cy="4114800"/>
            <a:chOff x="0" y="0"/>
            <a:chExt cx="2334303" cy="1083733"/>
          </a:xfrm>
        </p:grpSpPr>
        <p:sp>
          <p:nvSpPr>
            <p:cNvPr id="3" name="Freeform 3"/>
            <p:cNvSpPr/>
            <p:nvPr/>
          </p:nvSpPr>
          <p:spPr>
            <a:xfrm>
              <a:off x="0" y="0"/>
              <a:ext cx="2334303" cy="1083733"/>
            </a:xfrm>
            <a:custGeom>
              <a:avLst/>
              <a:gdLst/>
              <a:ahLst/>
              <a:cxnLst/>
              <a:rect l="l" t="t" r="r" b="b"/>
              <a:pathLst>
                <a:path w="2334303" h="1083733">
                  <a:moveTo>
                    <a:pt x="0" y="0"/>
                  </a:moveTo>
                  <a:lnTo>
                    <a:pt x="2334303" y="0"/>
                  </a:lnTo>
                  <a:lnTo>
                    <a:pt x="2334303" y="1083733"/>
                  </a:lnTo>
                  <a:lnTo>
                    <a:pt x="0" y="1083733"/>
                  </a:lnTo>
                  <a:close/>
                </a:path>
              </a:pathLst>
            </a:custGeom>
            <a:solidFill>
              <a:srgbClr val="FFFFFF"/>
            </a:solidFill>
          </p:spPr>
        </p:sp>
        <p:sp>
          <p:nvSpPr>
            <p:cNvPr id="4" name="TextBox 4"/>
            <p:cNvSpPr txBox="1"/>
            <p:nvPr/>
          </p:nvSpPr>
          <p:spPr>
            <a:xfrm>
              <a:off x="0" y="-38100"/>
              <a:ext cx="2334303" cy="11218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13962" y="5671311"/>
            <a:ext cx="8863058" cy="3586989"/>
            <a:chOff x="0" y="0"/>
            <a:chExt cx="2334303" cy="944721"/>
          </a:xfrm>
        </p:grpSpPr>
        <p:sp>
          <p:nvSpPr>
            <p:cNvPr id="6" name="Freeform 6"/>
            <p:cNvSpPr/>
            <p:nvPr/>
          </p:nvSpPr>
          <p:spPr>
            <a:xfrm>
              <a:off x="0" y="0"/>
              <a:ext cx="2334303" cy="944721"/>
            </a:xfrm>
            <a:custGeom>
              <a:avLst/>
              <a:gdLst/>
              <a:ahLst/>
              <a:cxnLst/>
              <a:rect l="l" t="t" r="r" b="b"/>
              <a:pathLst>
                <a:path w="2334303" h="944721">
                  <a:moveTo>
                    <a:pt x="0" y="0"/>
                  </a:moveTo>
                  <a:lnTo>
                    <a:pt x="2334303" y="0"/>
                  </a:lnTo>
                  <a:lnTo>
                    <a:pt x="2334303" y="944721"/>
                  </a:lnTo>
                  <a:lnTo>
                    <a:pt x="0" y="944721"/>
                  </a:lnTo>
                  <a:close/>
                </a:path>
              </a:pathLst>
            </a:custGeom>
            <a:solidFill>
              <a:srgbClr val="FFFFFF"/>
            </a:solidFill>
          </p:spPr>
        </p:sp>
        <p:sp>
          <p:nvSpPr>
            <p:cNvPr id="7" name="TextBox 7"/>
            <p:cNvSpPr txBox="1"/>
            <p:nvPr/>
          </p:nvSpPr>
          <p:spPr>
            <a:xfrm>
              <a:off x="0" y="-38100"/>
              <a:ext cx="2334303" cy="98282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193838" y="1713303"/>
            <a:ext cx="5653109" cy="6139180"/>
          </a:xfrm>
          <a:prstGeom prst="rect">
            <a:avLst/>
          </a:prstGeom>
        </p:spPr>
        <p:txBody>
          <a:bodyPr lIns="0" tIns="0" rIns="0" bIns="0" rtlCol="0" anchor="t">
            <a:spAutoFit/>
          </a:bodyPr>
          <a:lstStyle/>
          <a:p>
            <a:pPr algn="l">
              <a:lnSpc>
                <a:spcPts val="8120"/>
              </a:lnSpc>
            </a:pPr>
            <a:r>
              <a:rPr lang="en-US" sz="5800">
                <a:solidFill>
                  <a:srgbClr val="FFFFFF"/>
                </a:solidFill>
                <a:latin typeface="Fredoka"/>
                <a:ea typeface="Fredoka"/>
                <a:cs typeface="Fredoka"/>
                <a:sym typeface="Fredoka"/>
              </a:rPr>
              <a:t>KEY COMPONENTS OF PEER-TO-PEER (P2P) SYSTEMS</a:t>
            </a:r>
          </a:p>
          <a:p>
            <a:pPr algn="l">
              <a:lnSpc>
                <a:spcPts val="8120"/>
              </a:lnSpc>
            </a:pPr>
            <a:endParaRPr lang="en-US" sz="5800">
              <a:solidFill>
                <a:srgbClr val="FFFFFF"/>
              </a:solidFill>
              <a:latin typeface="Fredoka"/>
              <a:ea typeface="Fredoka"/>
              <a:cs typeface="Fredoka"/>
              <a:sym typeface="Fredoka"/>
            </a:endParaRPr>
          </a:p>
        </p:txBody>
      </p:sp>
      <p:sp>
        <p:nvSpPr>
          <p:cNvPr id="9" name="TextBox 9"/>
          <p:cNvSpPr txBox="1"/>
          <p:nvPr/>
        </p:nvSpPr>
        <p:spPr>
          <a:xfrm>
            <a:off x="7527257" y="2129736"/>
            <a:ext cx="6971552" cy="2074545"/>
          </a:xfrm>
          <a:prstGeom prst="rect">
            <a:avLst/>
          </a:prstGeom>
        </p:spPr>
        <p:txBody>
          <a:bodyPr lIns="0" tIns="0" rIns="0" bIns="0" rtlCol="0" anchor="t">
            <a:spAutoFit/>
          </a:bodyPr>
          <a:lstStyle/>
          <a:p>
            <a:pPr algn="l">
              <a:lnSpc>
                <a:spcPts val="4199"/>
              </a:lnSpc>
              <a:spcBef>
                <a:spcPct val="0"/>
              </a:spcBef>
            </a:pPr>
            <a:r>
              <a:rPr lang="en-US" sz="2799">
                <a:solidFill>
                  <a:srgbClr val="000000"/>
                </a:solidFill>
                <a:latin typeface="Quicksand"/>
                <a:ea typeface="Quicksand"/>
                <a:cs typeface="Quicksand"/>
                <a:sym typeface="Quicksand"/>
              </a:rPr>
              <a:t>Systems for organizing and indexing shared resources, enabling efficient search and retrieval.</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0" name="TextBox 10"/>
          <p:cNvSpPr txBox="1"/>
          <p:nvPr/>
        </p:nvSpPr>
        <p:spPr>
          <a:xfrm>
            <a:off x="7527257" y="1386894"/>
            <a:ext cx="6971552" cy="603885"/>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Indexing Mechanisms</a:t>
            </a:r>
          </a:p>
        </p:txBody>
      </p:sp>
      <p:sp>
        <p:nvSpPr>
          <p:cNvPr id="11" name="TextBox 11"/>
          <p:cNvSpPr txBox="1"/>
          <p:nvPr/>
        </p:nvSpPr>
        <p:spPr>
          <a:xfrm>
            <a:off x="7527257" y="6772347"/>
            <a:ext cx="6971552" cy="1550670"/>
          </a:xfrm>
          <a:prstGeom prst="rect">
            <a:avLst/>
          </a:prstGeom>
        </p:spPr>
        <p:txBody>
          <a:bodyPr lIns="0" tIns="0" rIns="0" bIns="0" rtlCol="0" anchor="t">
            <a:spAutoFit/>
          </a:bodyPr>
          <a:lstStyle/>
          <a:p>
            <a:pPr algn="l">
              <a:lnSpc>
                <a:spcPts val="4199"/>
              </a:lnSpc>
              <a:spcBef>
                <a:spcPct val="0"/>
              </a:spcBef>
            </a:pPr>
            <a:r>
              <a:rPr lang="en-US" sz="2799">
                <a:solidFill>
                  <a:srgbClr val="000000"/>
                </a:solidFill>
                <a:latin typeface="Quicksand"/>
                <a:ea typeface="Quicksand"/>
                <a:cs typeface="Quicksand"/>
                <a:sym typeface="Quicksand"/>
              </a:rPr>
              <a:t>Processes for node discovery and network initialization that allow new nodes to join the network seamlessly.</a:t>
            </a:r>
          </a:p>
        </p:txBody>
      </p:sp>
      <p:sp>
        <p:nvSpPr>
          <p:cNvPr id="12" name="TextBox 12"/>
          <p:cNvSpPr txBox="1"/>
          <p:nvPr/>
        </p:nvSpPr>
        <p:spPr>
          <a:xfrm>
            <a:off x="7527257" y="6029506"/>
            <a:ext cx="6971552" cy="603885"/>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Bootstrapping Mechanisms</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689252"/>
            <a:ext cx="9531831" cy="6315075"/>
            <a:chOff x="0" y="0"/>
            <a:chExt cx="2510441" cy="1663230"/>
          </a:xfrm>
        </p:grpSpPr>
        <p:sp>
          <p:nvSpPr>
            <p:cNvPr id="3" name="Freeform 3"/>
            <p:cNvSpPr/>
            <p:nvPr/>
          </p:nvSpPr>
          <p:spPr>
            <a:xfrm>
              <a:off x="0" y="0"/>
              <a:ext cx="2510441" cy="1663230"/>
            </a:xfrm>
            <a:custGeom>
              <a:avLst/>
              <a:gdLst/>
              <a:ahLst/>
              <a:cxnLst/>
              <a:rect l="l" t="t" r="r" b="b"/>
              <a:pathLst>
                <a:path w="2510441" h="1663230">
                  <a:moveTo>
                    <a:pt x="0" y="0"/>
                  </a:moveTo>
                  <a:lnTo>
                    <a:pt x="2510441" y="0"/>
                  </a:lnTo>
                  <a:lnTo>
                    <a:pt x="2510441" y="1663230"/>
                  </a:lnTo>
                  <a:lnTo>
                    <a:pt x="0" y="1663230"/>
                  </a:lnTo>
                  <a:close/>
                </a:path>
              </a:pathLst>
            </a:custGeom>
            <a:solidFill>
              <a:srgbClr val="FFFFFF"/>
            </a:solidFill>
          </p:spPr>
        </p:sp>
        <p:sp>
          <p:nvSpPr>
            <p:cNvPr id="4" name="TextBox 4"/>
            <p:cNvSpPr txBox="1"/>
            <p:nvPr/>
          </p:nvSpPr>
          <p:spPr>
            <a:xfrm>
              <a:off x="0" y="-38100"/>
              <a:ext cx="2510441" cy="170133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974549" y="2453005"/>
            <a:ext cx="6624111" cy="4229100"/>
          </a:xfrm>
          <a:prstGeom prst="rect">
            <a:avLst/>
          </a:prstGeom>
        </p:spPr>
        <p:txBody>
          <a:bodyPr lIns="0" tIns="0" rIns="0" bIns="0" rtlCol="0" anchor="t">
            <a:spAutoFit/>
          </a:bodyPr>
          <a:lstStyle/>
          <a:p>
            <a:pPr algn="l">
              <a:lnSpc>
                <a:spcPts val="8400"/>
              </a:lnSpc>
            </a:pPr>
            <a:r>
              <a:rPr lang="en-US" sz="6000">
                <a:solidFill>
                  <a:srgbClr val="FFFFFF"/>
                </a:solidFill>
                <a:latin typeface="Fredoka"/>
                <a:ea typeface="Fredoka"/>
                <a:cs typeface="Fredoka"/>
                <a:sym typeface="Fredoka"/>
              </a:rPr>
              <a:t>BOOTSTRAPPING IN PEER-TO-Peer (P2P) Networks</a:t>
            </a:r>
          </a:p>
          <a:p>
            <a:pPr algn="l">
              <a:lnSpc>
                <a:spcPts val="8400"/>
              </a:lnSpc>
            </a:pPr>
            <a:endParaRPr lang="en-US" sz="6000">
              <a:solidFill>
                <a:srgbClr val="FFFFFF"/>
              </a:solidFill>
              <a:latin typeface="Fredoka"/>
              <a:ea typeface="Fredoka"/>
              <a:cs typeface="Fredoka"/>
              <a:sym typeface="Fredoka"/>
            </a:endParaRPr>
          </a:p>
        </p:txBody>
      </p:sp>
      <p:sp>
        <p:nvSpPr>
          <p:cNvPr id="6" name="TextBox 6"/>
          <p:cNvSpPr txBox="1"/>
          <p:nvPr/>
        </p:nvSpPr>
        <p:spPr>
          <a:xfrm>
            <a:off x="1389241" y="1956166"/>
            <a:ext cx="8590565" cy="4301490"/>
          </a:xfrm>
          <a:prstGeom prst="rect">
            <a:avLst/>
          </a:prstGeom>
        </p:spPr>
        <p:txBody>
          <a:bodyPr lIns="0" tIns="0" rIns="0" bIns="0" rtlCol="0" anchor="t">
            <a:spAutoFit/>
          </a:bodyPr>
          <a:lstStyle/>
          <a:p>
            <a:pPr algn="l">
              <a:lnSpc>
                <a:spcPts val="4349"/>
              </a:lnSpc>
            </a:pPr>
            <a:r>
              <a:rPr lang="en-US" sz="2899">
                <a:solidFill>
                  <a:srgbClr val="000000"/>
                </a:solidFill>
                <a:latin typeface="Quicksand"/>
                <a:ea typeface="Quicksand"/>
                <a:cs typeface="Quicksand"/>
                <a:sym typeface="Quicksand"/>
              </a:rPr>
              <a:t>The bootstrapping process in P2P networks involves discovering and initializing new nodes. This typically includes mechanisms for node discovery, network configuration, and connection protocols. Common bootstrap techniques include centralized bootstrap servers, distributed hash tables (DHTs), and peer exchange protocols.</a:t>
            </a:r>
          </a:p>
          <a:p>
            <a:pPr marL="0" lvl="0" indent="0" algn="l">
              <a:lnSpc>
                <a:spcPts val="4199"/>
              </a:lnSpc>
              <a:spcBef>
                <a:spcPct val="0"/>
              </a:spcBef>
            </a:pPr>
            <a:endParaRPr lang="en-US" sz="28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16230600" cy="1711239"/>
            <a:chOff x="0" y="0"/>
            <a:chExt cx="4274726" cy="450697"/>
          </a:xfrm>
        </p:grpSpPr>
        <p:sp>
          <p:nvSpPr>
            <p:cNvPr id="3" name="Freeform 3"/>
            <p:cNvSpPr/>
            <p:nvPr/>
          </p:nvSpPr>
          <p:spPr>
            <a:xfrm>
              <a:off x="0" y="0"/>
              <a:ext cx="4274726" cy="450697"/>
            </a:xfrm>
            <a:custGeom>
              <a:avLst/>
              <a:gdLst/>
              <a:ahLst/>
              <a:cxnLst/>
              <a:rect l="l" t="t" r="r" b="b"/>
              <a:pathLst>
                <a:path w="4274726" h="450697">
                  <a:moveTo>
                    <a:pt x="0" y="0"/>
                  </a:moveTo>
                  <a:lnTo>
                    <a:pt x="4274726" y="0"/>
                  </a:lnTo>
                  <a:lnTo>
                    <a:pt x="4274726" y="450697"/>
                  </a:lnTo>
                  <a:lnTo>
                    <a:pt x="0" y="450697"/>
                  </a:lnTo>
                  <a:close/>
                </a:path>
              </a:pathLst>
            </a:custGeom>
            <a:solidFill>
              <a:srgbClr val="FFFFFF"/>
            </a:solidFill>
          </p:spPr>
        </p:sp>
        <p:sp>
          <p:nvSpPr>
            <p:cNvPr id="4" name="TextBox 4"/>
            <p:cNvSpPr txBox="1"/>
            <p:nvPr/>
          </p:nvSpPr>
          <p:spPr>
            <a:xfrm>
              <a:off x="0" y="-38100"/>
              <a:ext cx="4274726" cy="4887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413983" y="5315162"/>
            <a:ext cx="7419713" cy="3530293"/>
            <a:chOff x="0" y="0"/>
            <a:chExt cx="1954163" cy="929789"/>
          </a:xfrm>
        </p:grpSpPr>
        <p:sp>
          <p:nvSpPr>
            <p:cNvPr id="6" name="Freeform 6"/>
            <p:cNvSpPr/>
            <p:nvPr/>
          </p:nvSpPr>
          <p:spPr>
            <a:xfrm>
              <a:off x="0" y="0"/>
              <a:ext cx="1954163" cy="929789"/>
            </a:xfrm>
            <a:custGeom>
              <a:avLst/>
              <a:gdLst/>
              <a:ahLst/>
              <a:cxnLst/>
              <a:rect l="l" t="t" r="r" b="b"/>
              <a:pathLst>
                <a:path w="1954163" h="929789">
                  <a:moveTo>
                    <a:pt x="0" y="0"/>
                  </a:moveTo>
                  <a:lnTo>
                    <a:pt x="1954163" y="0"/>
                  </a:lnTo>
                  <a:lnTo>
                    <a:pt x="1954163" y="929789"/>
                  </a:lnTo>
                  <a:lnTo>
                    <a:pt x="0" y="929789"/>
                  </a:lnTo>
                  <a:close/>
                </a:path>
              </a:pathLst>
            </a:custGeom>
            <a:solidFill>
              <a:srgbClr val="FFFFFF"/>
            </a:solidFill>
          </p:spPr>
        </p:sp>
        <p:sp>
          <p:nvSpPr>
            <p:cNvPr id="7" name="TextBox 7"/>
            <p:cNvSpPr txBox="1"/>
            <p:nvPr/>
          </p:nvSpPr>
          <p:spPr>
            <a:xfrm>
              <a:off x="0" y="-38100"/>
              <a:ext cx="1954163" cy="96788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454304" y="5352349"/>
            <a:ext cx="7419713" cy="3530293"/>
            <a:chOff x="0" y="0"/>
            <a:chExt cx="1954163" cy="929789"/>
          </a:xfrm>
        </p:grpSpPr>
        <p:sp>
          <p:nvSpPr>
            <p:cNvPr id="9" name="Freeform 9"/>
            <p:cNvSpPr/>
            <p:nvPr/>
          </p:nvSpPr>
          <p:spPr>
            <a:xfrm>
              <a:off x="0" y="0"/>
              <a:ext cx="1954163" cy="929789"/>
            </a:xfrm>
            <a:custGeom>
              <a:avLst/>
              <a:gdLst/>
              <a:ahLst/>
              <a:cxnLst/>
              <a:rect l="l" t="t" r="r" b="b"/>
              <a:pathLst>
                <a:path w="1954163" h="929789">
                  <a:moveTo>
                    <a:pt x="0" y="0"/>
                  </a:moveTo>
                  <a:lnTo>
                    <a:pt x="1954163" y="0"/>
                  </a:lnTo>
                  <a:lnTo>
                    <a:pt x="1954163" y="929789"/>
                  </a:lnTo>
                  <a:lnTo>
                    <a:pt x="0" y="929789"/>
                  </a:lnTo>
                  <a:close/>
                </a:path>
              </a:pathLst>
            </a:custGeom>
            <a:solidFill>
              <a:srgbClr val="FFFFFF"/>
            </a:solidFill>
          </p:spPr>
        </p:sp>
        <p:sp>
          <p:nvSpPr>
            <p:cNvPr id="10" name="TextBox 10"/>
            <p:cNvSpPr txBox="1"/>
            <p:nvPr/>
          </p:nvSpPr>
          <p:spPr>
            <a:xfrm>
              <a:off x="0" y="-38100"/>
              <a:ext cx="1954163" cy="96788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110863" y="658220"/>
            <a:ext cx="12870801" cy="2516777"/>
          </a:xfrm>
          <a:prstGeom prst="rect">
            <a:avLst/>
          </a:prstGeom>
        </p:spPr>
        <p:txBody>
          <a:bodyPr lIns="0" tIns="0" rIns="0" bIns="0" rtlCol="0" anchor="t">
            <a:spAutoFit/>
          </a:bodyPr>
          <a:lstStyle/>
          <a:p>
            <a:pPr algn="ctr">
              <a:lnSpc>
                <a:spcPts val="6705"/>
              </a:lnSpc>
            </a:pPr>
            <a:r>
              <a:rPr lang="en-US" sz="4789">
                <a:solidFill>
                  <a:srgbClr val="FFFFFF"/>
                </a:solidFill>
                <a:latin typeface="Fredoka"/>
                <a:ea typeface="Fredoka"/>
                <a:cs typeface="Fredoka"/>
                <a:sym typeface="Fredoka"/>
              </a:rPr>
              <a:t>DATA MANAGEMENT IN PEER-TO-PEER (P2P) NETWORKS</a:t>
            </a:r>
          </a:p>
          <a:p>
            <a:pPr algn="ctr">
              <a:lnSpc>
                <a:spcPts val="6705"/>
              </a:lnSpc>
            </a:pPr>
            <a:endParaRPr lang="en-US" sz="4789">
              <a:solidFill>
                <a:srgbClr val="FFFFFF"/>
              </a:solidFill>
              <a:latin typeface="Fredoka"/>
              <a:ea typeface="Fredoka"/>
              <a:cs typeface="Fredoka"/>
              <a:sym typeface="Fredoka"/>
            </a:endParaRPr>
          </a:p>
        </p:txBody>
      </p:sp>
      <p:sp>
        <p:nvSpPr>
          <p:cNvPr id="12" name="TextBox 12"/>
          <p:cNvSpPr txBox="1"/>
          <p:nvPr/>
        </p:nvSpPr>
        <p:spPr>
          <a:xfrm>
            <a:off x="1413983" y="2938610"/>
            <a:ext cx="15460033" cy="155067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Data management in Peer-to-Peer (P2P) networks involves the storage, retrieval, replication, and consistency maintenance of data distributed across multiple peers.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3" name="TextBox 13"/>
          <p:cNvSpPr txBox="1"/>
          <p:nvPr/>
        </p:nvSpPr>
        <p:spPr>
          <a:xfrm>
            <a:off x="1592374" y="6316173"/>
            <a:ext cx="6780372" cy="2074545"/>
          </a:xfrm>
          <a:prstGeom prst="rect">
            <a:avLst/>
          </a:prstGeom>
        </p:spPr>
        <p:txBody>
          <a:bodyPr lIns="0" tIns="0" rIns="0" bIns="0" rtlCol="0" anchor="t">
            <a:spAutoFit/>
          </a:bodyPr>
          <a:lstStyle/>
          <a:p>
            <a:pPr marL="0" lvl="0" indent="0" algn="l">
              <a:lnSpc>
                <a:spcPts val="4199"/>
              </a:lnSpc>
              <a:spcBef>
                <a:spcPct val="0"/>
              </a:spcBef>
            </a:pPr>
            <a:r>
              <a:rPr lang="en-US" sz="2799" dirty="0">
                <a:solidFill>
                  <a:srgbClr val="000000"/>
                </a:solidFill>
                <a:latin typeface="Quicksand"/>
                <a:ea typeface="Quicksand"/>
                <a:cs typeface="Quicksand"/>
                <a:sym typeface="Quicksand"/>
              </a:rPr>
              <a:t> Each peer stores a piece of the data. This removes the "single point of failure," meaning the network stays up even if some computers go offline.</a:t>
            </a:r>
          </a:p>
        </p:txBody>
      </p:sp>
      <p:sp>
        <p:nvSpPr>
          <p:cNvPr id="14" name="TextBox 14"/>
          <p:cNvSpPr txBox="1"/>
          <p:nvPr/>
        </p:nvSpPr>
        <p:spPr>
          <a:xfrm>
            <a:off x="1733654" y="5508760"/>
            <a:ext cx="6497813" cy="523875"/>
          </a:xfrm>
          <a:prstGeom prst="rect">
            <a:avLst/>
          </a:prstGeom>
        </p:spPr>
        <p:txBody>
          <a:bodyPr lIns="0" tIns="0" rIns="0" bIns="0" rtlCol="0" anchor="t">
            <a:spAutoFit/>
          </a:bodyPr>
          <a:lstStyle/>
          <a:p>
            <a:pPr algn="l">
              <a:lnSpc>
                <a:spcPts val="4200"/>
              </a:lnSpc>
            </a:pPr>
            <a:r>
              <a:rPr lang="en-US" sz="3000" b="1" dirty="0">
                <a:solidFill>
                  <a:srgbClr val="000000"/>
                </a:solidFill>
                <a:latin typeface="Quicksand Bold"/>
                <a:ea typeface="Quicksand Bold"/>
                <a:cs typeface="Quicksand Bold"/>
                <a:sym typeface="Quicksand Bold"/>
              </a:rPr>
              <a:t>Decentralized Storage</a:t>
            </a:r>
          </a:p>
        </p:txBody>
      </p:sp>
      <p:sp>
        <p:nvSpPr>
          <p:cNvPr id="15" name="TextBox 15"/>
          <p:cNvSpPr txBox="1"/>
          <p:nvPr/>
        </p:nvSpPr>
        <p:spPr>
          <a:xfrm>
            <a:off x="9773974" y="6316173"/>
            <a:ext cx="6780372" cy="3122295"/>
          </a:xfrm>
          <a:prstGeom prst="rect">
            <a:avLst/>
          </a:prstGeom>
        </p:spPr>
        <p:txBody>
          <a:bodyPr lIns="0" tIns="0" rIns="0" bIns="0" rtlCol="0" anchor="t">
            <a:spAutoFit/>
          </a:bodyPr>
          <a:lstStyle/>
          <a:p>
            <a:pPr algn="l">
              <a:lnSpc>
                <a:spcPts val="4199"/>
              </a:lnSpc>
              <a:spcBef>
                <a:spcPct val="0"/>
              </a:spcBef>
            </a:pPr>
            <a:r>
              <a:rPr lang="en-US" sz="2799" dirty="0">
                <a:solidFill>
                  <a:srgbClr val="000000"/>
                </a:solidFill>
                <a:latin typeface="Quicksand"/>
                <a:ea typeface="Quicksand"/>
                <a:cs typeface="Quicksand"/>
                <a:sym typeface="Quicksand"/>
              </a:rPr>
              <a:t>Since files are scattered, the network uses search algorithms to pinpoint exactly which peer has the data you need.</a:t>
            </a:r>
          </a:p>
          <a:p>
            <a:pPr algn="l">
              <a:lnSpc>
                <a:spcPts val="4199"/>
              </a:lnSpc>
              <a:spcBef>
                <a:spcPct val="0"/>
              </a:spcBef>
            </a:pPr>
            <a:endParaRPr lang="en-US" sz="2799" dirty="0">
              <a:solidFill>
                <a:srgbClr val="000000"/>
              </a:solidFill>
              <a:latin typeface="Quicksand"/>
              <a:ea typeface="Quicksand"/>
              <a:cs typeface="Quicksand"/>
              <a:sym typeface="Quicksand"/>
            </a:endParaRPr>
          </a:p>
          <a:p>
            <a:pPr marL="0" lvl="0" indent="0" algn="l">
              <a:lnSpc>
                <a:spcPts val="4199"/>
              </a:lnSpc>
              <a:spcBef>
                <a:spcPct val="0"/>
              </a:spcBef>
            </a:pPr>
            <a:endParaRPr lang="en-US" sz="2799" dirty="0">
              <a:solidFill>
                <a:srgbClr val="000000"/>
              </a:solidFill>
              <a:latin typeface="Quicksand"/>
              <a:ea typeface="Quicksand"/>
              <a:cs typeface="Quicksand"/>
              <a:sym typeface="Quicksand"/>
            </a:endParaRPr>
          </a:p>
        </p:txBody>
      </p:sp>
      <p:sp>
        <p:nvSpPr>
          <p:cNvPr id="16" name="TextBox 16"/>
          <p:cNvSpPr txBox="1"/>
          <p:nvPr/>
        </p:nvSpPr>
        <p:spPr>
          <a:xfrm>
            <a:off x="9773974" y="5518285"/>
            <a:ext cx="3588715" cy="573234"/>
          </a:xfrm>
          <a:prstGeom prst="rect">
            <a:avLst/>
          </a:prstGeom>
        </p:spPr>
        <p:txBody>
          <a:bodyPr lIns="0" tIns="0" rIns="0" bIns="0" rtlCol="0" anchor="t">
            <a:spAutoFit/>
          </a:bodyPr>
          <a:lstStyle/>
          <a:p>
            <a:pPr algn="l">
              <a:lnSpc>
                <a:spcPts val="5040"/>
              </a:lnSpc>
            </a:pPr>
            <a:r>
              <a:rPr lang="en-US" sz="3000" b="1" dirty="0">
                <a:solidFill>
                  <a:srgbClr val="000000"/>
                </a:solidFill>
                <a:latin typeface="Quicksand Bold"/>
                <a:ea typeface="Quicksand Bold"/>
                <a:cs typeface="Quicksand Bold"/>
                <a:sym typeface="Quicksand Bold"/>
              </a:rPr>
              <a:t>Data Retrieval</a:t>
            </a: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16230600" cy="1711239"/>
            <a:chOff x="0" y="0"/>
            <a:chExt cx="4274726" cy="450697"/>
          </a:xfrm>
        </p:grpSpPr>
        <p:sp>
          <p:nvSpPr>
            <p:cNvPr id="3" name="Freeform 3"/>
            <p:cNvSpPr/>
            <p:nvPr/>
          </p:nvSpPr>
          <p:spPr>
            <a:xfrm>
              <a:off x="0" y="0"/>
              <a:ext cx="4274726" cy="450697"/>
            </a:xfrm>
            <a:custGeom>
              <a:avLst/>
              <a:gdLst/>
              <a:ahLst/>
              <a:cxnLst/>
              <a:rect l="l" t="t" r="r" b="b"/>
              <a:pathLst>
                <a:path w="4274726" h="450697">
                  <a:moveTo>
                    <a:pt x="0" y="0"/>
                  </a:moveTo>
                  <a:lnTo>
                    <a:pt x="4274726" y="0"/>
                  </a:lnTo>
                  <a:lnTo>
                    <a:pt x="4274726" y="450697"/>
                  </a:lnTo>
                  <a:lnTo>
                    <a:pt x="0" y="450697"/>
                  </a:lnTo>
                  <a:close/>
                </a:path>
              </a:pathLst>
            </a:custGeom>
            <a:solidFill>
              <a:srgbClr val="FFFFFF"/>
            </a:solidFill>
          </p:spPr>
        </p:sp>
        <p:sp>
          <p:nvSpPr>
            <p:cNvPr id="4" name="TextBox 4"/>
            <p:cNvSpPr txBox="1"/>
            <p:nvPr/>
          </p:nvSpPr>
          <p:spPr>
            <a:xfrm>
              <a:off x="0" y="-38100"/>
              <a:ext cx="4274726" cy="4887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413983" y="5315162"/>
            <a:ext cx="7419713" cy="3530293"/>
            <a:chOff x="0" y="0"/>
            <a:chExt cx="1954163" cy="929789"/>
          </a:xfrm>
        </p:grpSpPr>
        <p:sp>
          <p:nvSpPr>
            <p:cNvPr id="6" name="Freeform 6"/>
            <p:cNvSpPr/>
            <p:nvPr/>
          </p:nvSpPr>
          <p:spPr>
            <a:xfrm>
              <a:off x="0" y="0"/>
              <a:ext cx="1954163" cy="929789"/>
            </a:xfrm>
            <a:custGeom>
              <a:avLst/>
              <a:gdLst/>
              <a:ahLst/>
              <a:cxnLst/>
              <a:rect l="l" t="t" r="r" b="b"/>
              <a:pathLst>
                <a:path w="1954163" h="929789">
                  <a:moveTo>
                    <a:pt x="0" y="0"/>
                  </a:moveTo>
                  <a:lnTo>
                    <a:pt x="1954163" y="0"/>
                  </a:lnTo>
                  <a:lnTo>
                    <a:pt x="1954163" y="929789"/>
                  </a:lnTo>
                  <a:lnTo>
                    <a:pt x="0" y="929789"/>
                  </a:lnTo>
                  <a:close/>
                </a:path>
              </a:pathLst>
            </a:custGeom>
            <a:solidFill>
              <a:srgbClr val="FFFFFF"/>
            </a:solidFill>
          </p:spPr>
        </p:sp>
        <p:sp>
          <p:nvSpPr>
            <p:cNvPr id="7" name="TextBox 7"/>
            <p:cNvSpPr txBox="1"/>
            <p:nvPr/>
          </p:nvSpPr>
          <p:spPr>
            <a:xfrm>
              <a:off x="0" y="-38100"/>
              <a:ext cx="1954163" cy="96788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454304" y="5352349"/>
            <a:ext cx="7419713" cy="3530293"/>
            <a:chOff x="0" y="0"/>
            <a:chExt cx="1954163" cy="929789"/>
          </a:xfrm>
        </p:grpSpPr>
        <p:sp>
          <p:nvSpPr>
            <p:cNvPr id="9" name="Freeform 9"/>
            <p:cNvSpPr/>
            <p:nvPr/>
          </p:nvSpPr>
          <p:spPr>
            <a:xfrm>
              <a:off x="0" y="0"/>
              <a:ext cx="1954163" cy="929789"/>
            </a:xfrm>
            <a:custGeom>
              <a:avLst/>
              <a:gdLst/>
              <a:ahLst/>
              <a:cxnLst/>
              <a:rect l="l" t="t" r="r" b="b"/>
              <a:pathLst>
                <a:path w="1954163" h="929789">
                  <a:moveTo>
                    <a:pt x="0" y="0"/>
                  </a:moveTo>
                  <a:lnTo>
                    <a:pt x="1954163" y="0"/>
                  </a:lnTo>
                  <a:lnTo>
                    <a:pt x="1954163" y="929789"/>
                  </a:lnTo>
                  <a:lnTo>
                    <a:pt x="0" y="929789"/>
                  </a:lnTo>
                  <a:close/>
                </a:path>
              </a:pathLst>
            </a:custGeom>
            <a:solidFill>
              <a:srgbClr val="FFFFFF"/>
            </a:solidFill>
          </p:spPr>
        </p:sp>
        <p:sp>
          <p:nvSpPr>
            <p:cNvPr id="10" name="TextBox 10"/>
            <p:cNvSpPr txBox="1"/>
            <p:nvPr/>
          </p:nvSpPr>
          <p:spPr>
            <a:xfrm>
              <a:off x="0" y="-38100"/>
              <a:ext cx="1954163" cy="96788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110863" y="658220"/>
            <a:ext cx="12870801" cy="2516777"/>
          </a:xfrm>
          <a:prstGeom prst="rect">
            <a:avLst/>
          </a:prstGeom>
        </p:spPr>
        <p:txBody>
          <a:bodyPr lIns="0" tIns="0" rIns="0" bIns="0" rtlCol="0" anchor="t">
            <a:spAutoFit/>
          </a:bodyPr>
          <a:lstStyle/>
          <a:p>
            <a:pPr algn="ctr">
              <a:lnSpc>
                <a:spcPts val="6705"/>
              </a:lnSpc>
            </a:pPr>
            <a:r>
              <a:rPr lang="en-US" sz="4789">
                <a:solidFill>
                  <a:srgbClr val="FFFFFF"/>
                </a:solidFill>
                <a:latin typeface="Fredoka"/>
                <a:ea typeface="Fredoka"/>
                <a:cs typeface="Fredoka"/>
                <a:sym typeface="Fredoka"/>
              </a:rPr>
              <a:t>DATA MANAGEMENT IN PEER-TO-PEER (P2P) NETWORKS</a:t>
            </a:r>
          </a:p>
          <a:p>
            <a:pPr algn="ctr">
              <a:lnSpc>
                <a:spcPts val="6705"/>
              </a:lnSpc>
            </a:pPr>
            <a:endParaRPr lang="en-US" sz="4789">
              <a:solidFill>
                <a:srgbClr val="FFFFFF"/>
              </a:solidFill>
              <a:latin typeface="Fredoka"/>
              <a:ea typeface="Fredoka"/>
              <a:cs typeface="Fredoka"/>
              <a:sym typeface="Fredoka"/>
            </a:endParaRPr>
          </a:p>
        </p:txBody>
      </p:sp>
      <p:sp>
        <p:nvSpPr>
          <p:cNvPr id="12" name="TextBox 12"/>
          <p:cNvSpPr txBox="1"/>
          <p:nvPr/>
        </p:nvSpPr>
        <p:spPr>
          <a:xfrm>
            <a:off x="1413983" y="2938610"/>
            <a:ext cx="15460033" cy="155067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Data management in Peer-to-Peer (P2P) networks involves the storage, retrieval, replication, and consistency maintenance of data distributed across multiple peers.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3" name="TextBox 13"/>
          <p:cNvSpPr txBox="1"/>
          <p:nvPr/>
        </p:nvSpPr>
        <p:spPr>
          <a:xfrm>
            <a:off x="1592374" y="6316173"/>
            <a:ext cx="6780372" cy="2074545"/>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The system creates multiple copies of files across different peers. This ensures the data is always available, even if the original owner leaves the network.</a:t>
            </a:r>
          </a:p>
        </p:txBody>
      </p:sp>
      <p:sp>
        <p:nvSpPr>
          <p:cNvPr id="14" name="TextBox 14"/>
          <p:cNvSpPr txBox="1"/>
          <p:nvPr/>
        </p:nvSpPr>
        <p:spPr>
          <a:xfrm>
            <a:off x="1733654" y="5508760"/>
            <a:ext cx="6497813" cy="523875"/>
          </a:xfrm>
          <a:prstGeom prst="rect">
            <a:avLst/>
          </a:prstGeom>
        </p:spPr>
        <p:txBody>
          <a:bodyPr lIns="0" tIns="0" rIns="0" bIns="0" rtlCol="0" anchor="t">
            <a:spAutoFit/>
          </a:bodyPr>
          <a:lstStyle/>
          <a:p>
            <a:pPr algn="l">
              <a:lnSpc>
                <a:spcPts val="4200"/>
              </a:lnSpc>
            </a:pPr>
            <a:r>
              <a:rPr lang="en-US" sz="3000" b="1">
                <a:solidFill>
                  <a:srgbClr val="000000"/>
                </a:solidFill>
                <a:latin typeface="Quicksand Bold"/>
                <a:ea typeface="Quicksand Bold"/>
                <a:cs typeface="Quicksand Bold"/>
                <a:sym typeface="Quicksand Bold"/>
              </a:rPr>
              <a:t>Replication</a:t>
            </a:r>
          </a:p>
        </p:txBody>
      </p:sp>
      <p:sp>
        <p:nvSpPr>
          <p:cNvPr id="15" name="TextBox 15"/>
          <p:cNvSpPr txBox="1"/>
          <p:nvPr/>
        </p:nvSpPr>
        <p:spPr>
          <a:xfrm>
            <a:off x="9773974" y="6316173"/>
            <a:ext cx="6780372" cy="1550670"/>
          </a:xfrm>
          <a:prstGeom prst="rect">
            <a:avLst/>
          </a:prstGeom>
        </p:spPr>
        <p:txBody>
          <a:bodyPr lIns="0" tIns="0" rIns="0" bIns="0" rtlCol="0" anchor="t">
            <a:spAutoFit/>
          </a:bodyPr>
          <a:lstStyle/>
          <a:p>
            <a:pPr algn="l">
              <a:lnSpc>
                <a:spcPts val="4199"/>
              </a:lnSpc>
              <a:spcBef>
                <a:spcPct val="0"/>
              </a:spcBef>
            </a:pPr>
            <a:r>
              <a:rPr lang="en-US" sz="2799">
                <a:solidFill>
                  <a:srgbClr val="000000"/>
                </a:solidFill>
                <a:latin typeface="Quicksand"/>
                <a:ea typeface="Quicksand"/>
                <a:cs typeface="Quicksand"/>
                <a:sym typeface="Quicksand"/>
              </a:rPr>
              <a:t>This ensures all copies of a file stay synchronized and updated across the entire network at the same time.</a:t>
            </a:r>
          </a:p>
        </p:txBody>
      </p:sp>
      <p:sp>
        <p:nvSpPr>
          <p:cNvPr id="16" name="TextBox 16"/>
          <p:cNvSpPr txBox="1"/>
          <p:nvPr/>
        </p:nvSpPr>
        <p:spPr>
          <a:xfrm>
            <a:off x="9773974" y="5518285"/>
            <a:ext cx="6038262" cy="603885"/>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Consistency Management</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8884" y="803897"/>
            <a:ext cx="16230600" cy="952500"/>
            <a:chOff x="0" y="0"/>
            <a:chExt cx="4274726" cy="250864"/>
          </a:xfrm>
        </p:grpSpPr>
        <p:sp>
          <p:nvSpPr>
            <p:cNvPr id="3" name="Freeform 3"/>
            <p:cNvSpPr/>
            <p:nvPr/>
          </p:nvSpPr>
          <p:spPr>
            <a:xfrm>
              <a:off x="0" y="0"/>
              <a:ext cx="4274726" cy="250864"/>
            </a:xfrm>
            <a:custGeom>
              <a:avLst/>
              <a:gdLst/>
              <a:ahLst/>
              <a:cxnLst/>
              <a:rect l="l" t="t" r="r" b="b"/>
              <a:pathLst>
                <a:path w="4274726" h="250864">
                  <a:moveTo>
                    <a:pt x="0" y="0"/>
                  </a:moveTo>
                  <a:lnTo>
                    <a:pt x="4274726" y="0"/>
                  </a:lnTo>
                  <a:lnTo>
                    <a:pt x="4274726" y="250864"/>
                  </a:lnTo>
                  <a:lnTo>
                    <a:pt x="0" y="250864"/>
                  </a:lnTo>
                  <a:close/>
                </a:path>
              </a:pathLst>
            </a:custGeom>
            <a:ln w="47625" cap="sq">
              <a:solidFill>
                <a:srgbClr val="4C5270"/>
              </a:solidFill>
              <a:prstDash val="solid"/>
              <a:miter/>
            </a:ln>
          </p:spPr>
        </p:sp>
        <p:sp>
          <p:nvSpPr>
            <p:cNvPr id="4" name="TextBox 4"/>
            <p:cNvSpPr txBox="1"/>
            <p:nvPr/>
          </p:nvSpPr>
          <p:spPr>
            <a:xfrm>
              <a:off x="0" y="-38100"/>
              <a:ext cx="4274726" cy="28896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737962" y="949630"/>
            <a:ext cx="15620138" cy="1242060"/>
          </a:xfrm>
          <a:prstGeom prst="rect">
            <a:avLst/>
          </a:prstGeom>
        </p:spPr>
        <p:txBody>
          <a:bodyPr lIns="0" tIns="0" rIns="0" bIns="0" rtlCol="0" anchor="t">
            <a:spAutoFit/>
          </a:bodyPr>
          <a:lstStyle/>
          <a:p>
            <a:pPr algn="ctr">
              <a:lnSpc>
                <a:spcPts val="5040"/>
              </a:lnSpc>
            </a:pPr>
            <a:r>
              <a:rPr lang="en-US" sz="3600" b="1">
                <a:solidFill>
                  <a:srgbClr val="000000"/>
                </a:solidFill>
                <a:latin typeface="Quicksand Bold"/>
                <a:ea typeface="Quicksand Bold"/>
                <a:cs typeface="Quicksand Bold"/>
                <a:sym typeface="Quicksand Bold"/>
              </a:rPr>
              <a:t>Advantages &amp; Disadvantages of Peer-to-Peer (P2P) Networks</a:t>
            </a:r>
          </a:p>
          <a:p>
            <a:pPr algn="ctr">
              <a:lnSpc>
                <a:spcPts val="5040"/>
              </a:lnSpc>
            </a:pPr>
            <a:endParaRPr lang="en-US" sz="3600" b="1">
              <a:solidFill>
                <a:srgbClr val="000000"/>
              </a:solidFill>
              <a:latin typeface="Quicksand Bold"/>
              <a:ea typeface="Quicksand Bold"/>
              <a:cs typeface="Quicksand Bold"/>
              <a:sym typeface="Quicksand Bold"/>
            </a:endParaRPr>
          </a:p>
        </p:txBody>
      </p:sp>
      <p:grpSp>
        <p:nvGrpSpPr>
          <p:cNvPr id="6" name="Group 6"/>
          <p:cNvGrpSpPr/>
          <p:nvPr/>
        </p:nvGrpSpPr>
        <p:grpSpPr>
          <a:xfrm>
            <a:off x="1248884" y="2070722"/>
            <a:ext cx="7900988" cy="952500"/>
            <a:chOff x="0" y="0"/>
            <a:chExt cx="2080919" cy="250864"/>
          </a:xfrm>
        </p:grpSpPr>
        <p:sp>
          <p:nvSpPr>
            <p:cNvPr id="7" name="Freeform 7"/>
            <p:cNvSpPr/>
            <p:nvPr/>
          </p:nvSpPr>
          <p:spPr>
            <a:xfrm>
              <a:off x="0" y="0"/>
              <a:ext cx="2080919" cy="250864"/>
            </a:xfrm>
            <a:custGeom>
              <a:avLst/>
              <a:gdLst/>
              <a:ahLst/>
              <a:cxnLst/>
              <a:rect l="l" t="t" r="r" b="b"/>
              <a:pathLst>
                <a:path w="2080919" h="250864">
                  <a:moveTo>
                    <a:pt x="0" y="0"/>
                  </a:moveTo>
                  <a:lnTo>
                    <a:pt x="2080919" y="0"/>
                  </a:lnTo>
                  <a:lnTo>
                    <a:pt x="2080919" y="250864"/>
                  </a:lnTo>
                  <a:lnTo>
                    <a:pt x="0" y="250864"/>
                  </a:lnTo>
                  <a:close/>
                </a:path>
              </a:pathLst>
            </a:custGeom>
            <a:solidFill>
              <a:srgbClr val="4C5270"/>
            </a:solidFill>
            <a:ln w="47625" cap="sq">
              <a:solidFill>
                <a:srgbClr val="4C5270"/>
              </a:solidFill>
              <a:prstDash val="solid"/>
              <a:miter/>
            </a:ln>
          </p:spPr>
        </p:sp>
        <p:sp>
          <p:nvSpPr>
            <p:cNvPr id="8" name="TextBox 8"/>
            <p:cNvSpPr txBox="1"/>
            <p:nvPr/>
          </p:nvSpPr>
          <p:spPr>
            <a:xfrm>
              <a:off x="0" y="-38100"/>
              <a:ext cx="2080919" cy="288964"/>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48884" y="2546972"/>
            <a:ext cx="7900988" cy="6903989"/>
            <a:chOff x="0" y="0"/>
            <a:chExt cx="2080919" cy="1818334"/>
          </a:xfrm>
        </p:grpSpPr>
        <p:sp>
          <p:nvSpPr>
            <p:cNvPr id="10" name="Freeform 10"/>
            <p:cNvSpPr/>
            <p:nvPr/>
          </p:nvSpPr>
          <p:spPr>
            <a:xfrm>
              <a:off x="0" y="0"/>
              <a:ext cx="2080919" cy="1818335"/>
            </a:xfrm>
            <a:custGeom>
              <a:avLst/>
              <a:gdLst/>
              <a:ahLst/>
              <a:cxnLst/>
              <a:rect l="l" t="t" r="r" b="b"/>
              <a:pathLst>
                <a:path w="2080919" h="1818335">
                  <a:moveTo>
                    <a:pt x="0" y="0"/>
                  </a:moveTo>
                  <a:lnTo>
                    <a:pt x="2080919" y="0"/>
                  </a:lnTo>
                  <a:lnTo>
                    <a:pt x="2080919" y="1818335"/>
                  </a:lnTo>
                  <a:lnTo>
                    <a:pt x="0" y="1818335"/>
                  </a:lnTo>
                  <a:close/>
                </a:path>
              </a:pathLst>
            </a:custGeom>
            <a:ln w="47625" cap="sq">
              <a:solidFill>
                <a:srgbClr val="4C5270"/>
              </a:solidFill>
              <a:prstDash val="solid"/>
              <a:miter/>
            </a:ln>
          </p:spPr>
        </p:sp>
        <p:sp>
          <p:nvSpPr>
            <p:cNvPr id="11" name="TextBox 11"/>
            <p:cNvSpPr txBox="1"/>
            <p:nvPr/>
          </p:nvSpPr>
          <p:spPr>
            <a:xfrm>
              <a:off x="0" y="-38100"/>
              <a:ext cx="2080919" cy="1856434"/>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737962" y="2216455"/>
            <a:ext cx="6922832" cy="603885"/>
          </a:xfrm>
          <a:prstGeom prst="rect">
            <a:avLst/>
          </a:prstGeom>
        </p:spPr>
        <p:txBody>
          <a:bodyPr lIns="0" tIns="0" rIns="0" bIns="0" rtlCol="0" anchor="t">
            <a:spAutoFit/>
          </a:bodyPr>
          <a:lstStyle/>
          <a:p>
            <a:pPr algn="ctr">
              <a:lnSpc>
                <a:spcPts val="5040"/>
              </a:lnSpc>
            </a:pPr>
            <a:r>
              <a:rPr lang="en-US" sz="3600" b="1">
                <a:solidFill>
                  <a:srgbClr val="FFFFFF"/>
                </a:solidFill>
                <a:latin typeface="Quicksand Bold"/>
                <a:ea typeface="Quicksand Bold"/>
                <a:cs typeface="Quicksand Bold"/>
                <a:sym typeface="Quicksand Bold"/>
              </a:rPr>
              <a:t>Advantages</a:t>
            </a:r>
          </a:p>
        </p:txBody>
      </p:sp>
      <p:grpSp>
        <p:nvGrpSpPr>
          <p:cNvPr id="13" name="Group 13"/>
          <p:cNvGrpSpPr/>
          <p:nvPr/>
        </p:nvGrpSpPr>
        <p:grpSpPr>
          <a:xfrm>
            <a:off x="9578496" y="2070722"/>
            <a:ext cx="7900988" cy="952500"/>
            <a:chOff x="0" y="0"/>
            <a:chExt cx="2080919" cy="250864"/>
          </a:xfrm>
        </p:grpSpPr>
        <p:sp>
          <p:nvSpPr>
            <p:cNvPr id="14" name="Freeform 14"/>
            <p:cNvSpPr/>
            <p:nvPr/>
          </p:nvSpPr>
          <p:spPr>
            <a:xfrm>
              <a:off x="0" y="0"/>
              <a:ext cx="2080919" cy="250864"/>
            </a:xfrm>
            <a:custGeom>
              <a:avLst/>
              <a:gdLst/>
              <a:ahLst/>
              <a:cxnLst/>
              <a:rect l="l" t="t" r="r" b="b"/>
              <a:pathLst>
                <a:path w="2080919" h="250864">
                  <a:moveTo>
                    <a:pt x="0" y="0"/>
                  </a:moveTo>
                  <a:lnTo>
                    <a:pt x="2080919" y="0"/>
                  </a:lnTo>
                  <a:lnTo>
                    <a:pt x="2080919" y="250864"/>
                  </a:lnTo>
                  <a:lnTo>
                    <a:pt x="0" y="250864"/>
                  </a:lnTo>
                  <a:close/>
                </a:path>
              </a:pathLst>
            </a:custGeom>
            <a:solidFill>
              <a:srgbClr val="4C5270"/>
            </a:solidFill>
            <a:ln w="47625" cap="sq">
              <a:solidFill>
                <a:srgbClr val="4C5270"/>
              </a:solidFill>
              <a:prstDash val="solid"/>
              <a:miter/>
            </a:ln>
          </p:spPr>
        </p:sp>
        <p:sp>
          <p:nvSpPr>
            <p:cNvPr id="15" name="TextBox 15"/>
            <p:cNvSpPr txBox="1"/>
            <p:nvPr/>
          </p:nvSpPr>
          <p:spPr>
            <a:xfrm>
              <a:off x="0" y="-38100"/>
              <a:ext cx="2080919" cy="28896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578496" y="2546972"/>
            <a:ext cx="7900988" cy="6903989"/>
            <a:chOff x="0" y="0"/>
            <a:chExt cx="2080919" cy="1818334"/>
          </a:xfrm>
        </p:grpSpPr>
        <p:sp>
          <p:nvSpPr>
            <p:cNvPr id="17" name="Freeform 17"/>
            <p:cNvSpPr/>
            <p:nvPr/>
          </p:nvSpPr>
          <p:spPr>
            <a:xfrm>
              <a:off x="0" y="0"/>
              <a:ext cx="2080919" cy="1818335"/>
            </a:xfrm>
            <a:custGeom>
              <a:avLst/>
              <a:gdLst/>
              <a:ahLst/>
              <a:cxnLst/>
              <a:rect l="l" t="t" r="r" b="b"/>
              <a:pathLst>
                <a:path w="2080919" h="1818335">
                  <a:moveTo>
                    <a:pt x="0" y="0"/>
                  </a:moveTo>
                  <a:lnTo>
                    <a:pt x="2080919" y="0"/>
                  </a:lnTo>
                  <a:lnTo>
                    <a:pt x="2080919" y="1818335"/>
                  </a:lnTo>
                  <a:lnTo>
                    <a:pt x="0" y="1818335"/>
                  </a:lnTo>
                  <a:close/>
                </a:path>
              </a:pathLst>
            </a:custGeom>
            <a:ln w="47625" cap="sq">
              <a:solidFill>
                <a:srgbClr val="4C5270"/>
              </a:solidFill>
              <a:prstDash val="solid"/>
              <a:miter/>
            </a:ln>
          </p:spPr>
        </p:sp>
        <p:sp>
          <p:nvSpPr>
            <p:cNvPr id="18" name="TextBox 18"/>
            <p:cNvSpPr txBox="1"/>
            <p:nvPr/>
          </p:nvSpPr>
          <p:spPr>
            <a:xfrm>
              <a:off x="0" y="-38100"/>
              <a:ext cx="2080919" cy="1856434"/>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067574" y="2216455"/>
            <a:ext cx="6922832" cy="603885"/>
          </a:xfrm>
          <a:prstGeom prst="rect">
            <a:avLst/>
          </a:prstGeom>
        </p:spPr>
        <p:txBody>
          <a:bodyPr lIns="0" tIns="0" rIns="0" bIns="0" rtlCol="0" anchor="t">
            <a:spAutoFit/>
          </a:bodyPr>
          <a:lstStyle/>
          <a:p>
            <a:pPr algn="ctr">
              <a:lnSpc>
                <a:spcPts val="5040"/>
              </a:lnSpc>
            </a:pPr>
            <a:r>
              <a:rPr lang="en-US" sz="3600" b="1">
                <a:solidFill>
                  <a:srgbClr val="FFFFFF"/>
                </a:solidFill>
                <a:latin typeface="Quicksand Bold"/>
                <a:ea typeface="Quicksand Bold"/>
                <a:cs typeface="Quicksand Bold"/>
                <a:sym typeface="Quicksand Bold"/>
              </a:rPr>
              <a:t>Disadvantages</a:t>
            </a:r>
          </a:p>
        </p:txBody>
      </p:sp>
      <p:sp>
        <p:nvSpPr>
          <p:cNvPr id="20" name="TextBox 20"/>
          <p:cNvSpPr txBox="1"/>
          <p:nvPr/>
        </p:nvSpPr>
        <p:spPr>
          <a:xfrm>
            <a:off x="1529061" y="3270872"/>
            <a:ext cx="7365705" cy="5460529"/>
          </a:xfrm>
          <a:prstGeom prst="rect">
            <a:avLst/>
          </a:prstGeom>
        </p:spPr>
        <p:txBody>
          <a:bodyPr lIns="0" tIns="0" rIns="0" bIns="0" rtlCol="0" anchor="t">
            <a:spAutoFit/>
          </a:bodyPr>
          <a:lstStyle/>
          <a:p>
            <a:pPr algn="just">
              <a:lnSpc>
                <a:spcPts val="3643"/>
              </a:lnSpc>
            </a:pPr>
            <a:r>
              <a:rPr lang="en-US" sz="2429" b="1">
                <a:solidFill>
                  <a:srgbClr val="000000"/>
                </a:solidFill>
                <a:latin typeface="Quicksand Bold"/>
                <a:ea typeface="Quicksand Bold"/>
                <a:cs typeface="Quicksand Bold"/>
                <a:sym typeface="Quicksand Bold"/>
              </a:rPr>
              <a:t>• Decentralization:</a:t>
            </a:r>
            <a:r>
              <a:rPr lang="en-US" sz="2429">
                <a:solidFill>
                  <a:srgbClr val="000000"/>
                </a:solidFill>
                <a:latin typeface="Quicksand"/>
                <a:ea typeface="Quicksand"/>
                <a:cs typeface="Quicksand"/>
                <a:sym typeface="Quicksand"/>
              </a:rPr>
              <a:t> There is no central server—each peer has an equal role, making the system more resilient and avoiding a single point of failure.</a:t>
            </a:r>
          </a:p>
          <a:p>
            <a:pPr algn="just">
              <a:lnSpc>
                <a:spcPts val="3643"/>
              </a:lnSpc>
            </a:pPr>
            <a:r>
              <a:rPr lang="en-US" sz="2429">
                <a:solidFill>
                  <a:srgbClr val="000000"/>
                </a:solidFill>
                <a:latin typeface="Quicksand"/>
                <a:ea typeface="Quicksand"/>
                <a:cs typeface="Quicksand"/>
                <a:sym typeface="Quicksand"/>
              </a:rPr>
              <a:t>• </a:t>
            </a:r>
            <a:r>
              <a:rPr lang="en-US" sz="2429" b="1">
                <a:solidFill>
                  <a:srgbClr val="000000"/>
                </a:solidFill>
                <a:latin typeface="Quicksand Bold"/>
                <a:ea typeface="Quicksand Bold"/>
                <a:cs typeface="Quicksand Bold"/>
                <a:sym typeface="Quicksand Bold"/>
              </a:rPr>
              <a:t>Load Distribution: </a:t>
            </a:r>
            <a:r>
              <a:rPr lang="en-US" sz="2429">
                <a:solidFill>
                  <a:srgbClr val="000000"/>
                </a:solidFill>
                <a:latin typeface="Quicksand"/>
                <a:ea typeface="Quicksand"/>
                <a:cs typeface="Quicksand"/>
                <a:sym typeface="Quicksand"/>
              </a:rPr>
              <a:t>The workload is shared among multiple peers, improving efficiency and performance. </a:t>
            </a:r>
          </a:p>
          <a:p>
            <a:pPr algn="just">
              <a:lnSpc>
                <a:spcPts val="3643"/>
              </a:lnSpc>
            </a:pPr>
            <a:r>
              <a:rPr lang="en-US" sz="2429" b="1">
                <a:solidFill>
                  <a:srgbClr val="000000"/>
                </a:solidFill>
                <a:latin typeface="Quicksand Bold"/>
                <a:ea typeface="Quicksand Bold"/>
                <a:cs typeface="Quicksand Bold"/>
                <a:sym typeface="Quicksand Bold"/>
              </a:rPr>
              <a:t>• Cost Reduction:</a:t>
            </a:r>
            <a:r>
              <a:rPr lang="en-US" sz="2429">
                <a:solidFill>
                  <a:srgbClr val="000000"/>
                </a:solidFill>
                <a:latin typeface="Quicksand"/>
                <a:ea typeface="Quicksand"/>
                <a:cs typeface="Quicksand"/>
                <a:sym typeface="Quicksand"/>
              </a:rPr>
              <a:t> It is more cost-effective since it does not require expensive centralized infrastructure—peers provide the resources.</a:t>
            </a:r>
          </a:p>
          <a:p>
            <a:pPr marL="0" lvl="0" indent="0" algn="just">
              <a:lnSpc>
                <a:spcPts val="3643"/>
              </a:lnSpc>
              <a:spcBef>
                <a:spcPct val="0"/>
              </a:spcBef>
            </a:pPr>
            <a:r>
              <a:rPr lang="en-US" sz="2429" b="1">
                <a:solidFill>
                  <a:srgbClr val="000000"/>
                </a:solidFill>
                <a:latin typeface="Quicksand Bold"/>
                <a:ea typeface="Quicksand Bold"/>
                <a:cs typeface="Quicksand Bold"/>
                <a:sym typeface="Quicksand Bold"/>
              </a:rPr>
              <a:t>• Content Availability:</a:t>
            </a:r>
            <a:r>
              <a:rPr lang="en-US" sz="2429">
                <a:solidFill>
                  <a:srgbClr val="000000"/>
                </a:solidFill>
                <a:latin typeface="Quicksand"/>
                <a:ea typeface="Quicksand"/>
                <a:cs typeface="Quicksand"/>
                <a:sym typeface="Quicksand"/>
              </a:rPr>
              <a:t> Data is replicated across peers, so content remains accessible even if some peers go offline.</a:t>
            </a:r>
          </a:p>
        </p:txBody>
      </p:sp>
      <p:sp>
        <p:nvSpPr>
          <p:cNvPr id="21" name="TextBox 21"/>
          <p:cNvSpPr txBox="1"/>
          <p:nvPr/>
        </p:nvSpPr>
        <p:spPr>
          <a:xfrm>
            <a:off x="9893595" y="3470897"/>
            <a:ext cx="7365705" cy="5460529"/>
          </a:xfrm>
          <a:prstGeom prst="rect">
            <a:avLst/>
          </a:prstGeom>
        </p:spPr>
        <p:txBody>
          <a:bodyPr lIns="0" tIns="0" rIns="0" bIns="0" rtlCol="0" anchor="t">
            <a:spAutoFit/>
          </a:bodyPr>
          <a:lstStyle/>
          <a:p>
            <a:pPr algn="just">
              <a:lnSpc>
                <a:spcPts val="3643"/>
              </a:lnSpc>
            </a:pPr>
            <a:r>
              <a:rPr lang="en-US" sz="2429">
                <a:solidFill>
                  <a:srgbClr val="000000"/>
                </a:solidFill>
                <a:latin typeface="Quicksand"/>
                <a:ea typeface="Quicksand"/>
                <a:cs typeface="Quicksand"/>
                <a:sym typeface="Quicksand"/>
              </a:rPr>
              <a:t>• </a:t>
            </a:r>
            <a:r>
              <a:rPr lang="en-US" sz="2429" b="1">
                <a:solidFill>
                  <a:srgbClr val="000000"/>
                </a:solidFill>
                <a:latin typeface="Quicksand Bold"/>
                <a:ea typeface="Quicksand Bold"/>
                <a:cs typeface="Quicksand Bold"/>
                <a:sym typeface="Quicksand Bold"/>
              </a:rPr>
              <a:t>Scalability: </a:t>
            </a:r>
            <a:r>
              <a:rPr lang="en-US" sz="2429">
                <a:solidFill>
                  <a:srgbClr val="000000"/>
                </a:solidFill>
                <a:latin typeface="Quicksand"/>
                <a:ea typeface="Quicksand"/>
                <a:cs typeface="Quicksand"/>
                <a:sym typeface="Quicksand"/>
              </a:rPr>
              <a:t>As the network grows, it becomes harder to manage many peers and keep communication efficient.</a:t>
            </a:r>
          </a:p>
          <a:p>
            <a:pPr algn="just">
              <a:lnSpc>
                <a:spcPts val="3643"/>
              </a:lnSpc>
            </a:pPr>
            <a:r>
              <a:rPr lang="en-US" sz="2429">
                <a:solidFill>
                  <a:srgbClr val="000000"/>
                </a:solidFill>
                <a:latin typeface="Quicksand"/>
                <a:ea typeface="Quicksand"/>
                <a:cs typeface="Quicksand"/>
                <a:sym typeface="Quicksand"/>
              </a:rPr>
              <a:t>• </a:t>
            </a:r>
            <a:r>
              <a:rPr lang="en-US" sz="2429" b="1">
                <a:solidFill>
                  <a:srgbClr val="000000"/>
                </a:solidFill>
                <a:latin typeface="Quicksand Bold"/>
                <a:ea typeface="Quicksand Bold"/>
                <a:cs typeface="Quicksand Bold"/>
                <a:sym typeface="Quicksand Bold"/>
              </a:rPr>
              <a:t>Security:</a:t>
            </a:r>
            <a:r>
              <a:rPr lang="en-US" sz="2429">
                <a:solidFill>
                  <a:srgbClr val="000000"/>
                </a:solidFill>
                <a:latin typeface="Quicksand"/>
                <a:ea typeface="Quicksand"/>
                <a:cs typeface="Quicksand"/>
                <a:sym typeface="Quicksand"/>
              </a:rPr>
              <a:t> P2P networks are more vulnerable to threats like malicious users, data tampering, and unauthorized access.</a:t>
            </a:r>
          </a:p>
          <a:p>
            <a:pPr algn="just">
              <a:lnSpc>
                <a:spcPts val="3643"/>
              </a:lnSpc>
            </a:pPr>
            <a:r>
              <a:rPr lang="en-US" sz="2429">
                <a:solidFill>
                  <a:srgbClr val="000000"/>
                </a:solidFill>
                <a:latin typeface="Quicksand"/>
                <a:ea typeface="Quicksand"/>
                <a:cs typeface="Quicksand"/>
                <a:sym typeface="Quicksand"/>
              </a:rPr>
              <a:t>• </a:t>
            </a:r>
            <a:r>
              <a:rPr lang="en-US" sz="2429" b="1">
                <a:solidFill>
                  <a:srgbClr val="000000"/>
                </a:solidFill>
                <a:latin typeface="Quicksand Bold"/>
                <a:ea typeface="Quicksand Bold"/>
                <a:cs typeface="Quicksand Bold"/>
                <a:sym typeface="Quicksand Bold"/>
              </a:rPr>
              <a:t>Content Availability and Quality:</a:t>
            </a:r>
            <a:r>
              <a:rPr lang="en-US" sz="2429">
                <a:solidFill>
                  <a:srgbClr val="000000"/>
                </a:solidFill>
                <a:latin typeface="Quicksand"/>
                <a:ea typeface="Quicksand"/>
                <a:cs typeface="Quicksand"/>
                <a:sym typeface="Quicksand"/>
              </a:rPr>
              <a:t> Content may not always be reliable or high-quality due to peers going offline or having different resources.</a:t>
            </a:r>
          </a:p>
          <a:p>
            <a:pPr marL="0" lvl="0" indent="0" algn="just">
              <a:lnSpc>
                <a:spcPts val="3643"/>
              </a:lnSpc>
              <a:spcBef>
                <a:spcPct val="0"/>
              </a:spcBef>
            </a:pPr>
            <a:r>
              <a:rPr lang="en-US" sz="2429">
                <a:solidFill>
                  <a:srgbClr val="000000"/>
                </a:solidFill>
                <a:latin typeface="Quicksand"/>
                <a:ea typeface="Quicksand"/>
                <a:cs typeface="Quicksand"/>
                <a:sym typeface="Quicksand"/>
              </a:rPr>
              <a:t>• </a:t>
            </a:r>
            <a:r>
              <a:rPr lang="en-US" sz="2429" b="1">
                <a:solidFill>
                  <a:srgbClr val="000000"/>
                </a:solidFill>
                <a:latin typeface="Quicksand Bold"/>
                <a:ea typeface="Quicksand Bold"/>
                <a:cs typeface="Quicksand Bold"/>
                <a:sym typeface="Quicksand Bold"/>
              </a:rPr>
              <a:t>Data Management and Consistency:</a:t>
            </a:r>
            <a:r>
              <a:rPr lang="en-US" sz="2429">
                <a:solidFill>
                  <a:srgbClr val="000000"/>
                </a:solidFill>
                <a:latin typeface="Quicksand"/>
                <a:ea typeface="Quicksand"/>
                <a:cs typeface="Quicksand"/>
                <a:sym typeface="Quicksand"/>
              </a:rPr>
              <a:t> Keeping data organized, updated, and consistent across many peers is complex and difficult.</a:t>
            </a:r>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16230600" cy="1711239"/>
            <a:chOff x="0" y="0"/>
            <a:chExt cx="4274726" cy="450697"/>
          </a:xfrm>
        </p:grpSpPr>
        <p:sp>
          <p:nvSpPr>
            <p:cNvPr id="3" name="Freeform 3"/>
            <p:cNvSpPr/>
            <p:nvPr/>
          </p:nvSpPr>
          <p:spPr>
            <a:xfrm>
              <a:off x="0" y="0"/>
              <a:ext cx="4274726" cy="450697"/>
            </a:xfrm>
            <a:custGeom>
              <a:avLst/>
              <a:gdLst/>
              <a:ahLst/>
              <a:cxnLst/>
              <a:rect l="l" t="t" r="r" b="b"/>
              <a:pathLst>
                <a:path w="4274726" h="450697">
                  <a:moveTo>
                    <a:pt x="0" y="0"/>
                  </a:moveTo>
                  <a:lnTo>
                    <a:pt x="4274726" y="0"/>
                  </a:lnTo>
                  <a:lnTo>
                    <a:pt x="4274726" y="450697"/>
                  </a:lnTo>
                  <a:lnTo>
                    <a:pt x="0" y="450697"/>
                  </a:lnTo>
                  <a:close/>
                </a:path>
              </a:pathLst>
            </a:custGeom>
            <a:solidFill>
              <a:srgbClr val="FFFFFF"/>
            </a:solidFill>
          </p:spPr>
        </p:sp>
        <p:sp>
          <p:nvSpPr>
            <p:cNvPr id="4" name="TextBox 4"/>
            <p:cNvSpPr txBox="1"/>
            <p:nvPr/>
          </p:nvSpPr>
          <p:spPr>
            <a:xfrm>
              <a:off x="0" y="-38100"/>
              <a:ext cx="4274726" cy="4887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39982" y="5143500"/>
            <a:ext cx="5057743" cy="4114800"/>
            <a:chOff x="0" y="0"/>
            <a:chExt cx="1349649" cy="1098027"/>
          </a:xfrm>
        </p:grpSpPr>
        <p:sp>
          <p:nvSpPr>
            <p:cNvPr id="6" name="Freeform 6"/>
            <p:cNvSpPr/>
            <p:nvPr/>
          </p:nvSpPr>
          <p:spPr>
            <a:xfrm>
              <a:off x="0" y="0"/>
              <a:ext cx="1349649" cy="1098027"/>
            </a:xfrm>
            <a:custGeom>
              <a:avLst/>
              <a:gdLst/>
              <a:ahLst/>
              <a:cxnLst/>
              <a:rect l="l" t="t" r="r" b="b"/>
              <a:pathLst>
                <a:path w="1349649" h="1098027">
                  <a:moveTo>
                    <a:pt x="0" y="0"/>
                  </a:moveTo>
                  <a:lnTo>
                    <a:pt x="1349649" y="0"/>
                  </a:lnTo>
                  <a:lnTo>
                    <a:pt x="1349649" y="1098027"/>
                  </a:lnTo>
                  <a:lnTo>
                    <a:pt x="0" y="1098027"/>
                  </a:lnTo>
                  <a:close/>
                </a:path>
              </a:pathLst>
            </a:custGeom>
            <a:solidFill>
              <a:srgbClr val="FFFFFF"/>
            </a:solidFill>
          </p:spPr>
        </p:sp>
        <p:sp>
          <p:nvSpPr>
            <p:cNvPr id="7" name="TextBox 7"/>
            <p:cNvSpPr txBox="1"/>
            <p:nvPr/>
          </p:nvSpPr>
          <p:spPr>
            <a:xfrm>
              <a:off x="0" y="-38100"/>
              <a:ext cx="1349649" cy="113612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201557" y="5143500"/>
            <a:ext cx="5057743" cy="4114800"/>
            <a:chOff x="0" y="0"/>
            <a:chExt cx="1349649" cy="1098027"/>
          </a:xfrm>
        </p:grpSpPr>
        <p:sp>
          <p:nvSpPr>
            <p:cNvPr id="9" name="Freeform 9"/>
            <p:cNvSpPr/>
            <p:nvPr/>
          </p:nvSpPr>
          <p:spPr>
            <a:xfrm>
              <a:off x="0" y="0"/>
              <a:ext cx="1349649" cy="1098027"/>
            </a:xfrm>
            <a:custGeom>
              <a:avLst/>
              <a:gdLst/>
              <a:ahLst/>
              <a:cxnLst/>
              <a:rect l="l" t="t" r="r" b="b"/>
              <a:pathLst>
                <a:path w="1349649" h="1098027">
                  <a:moveTo>
                    <a:pt x="0" y="0"/>
                  </a:moveTo>
                  <a:lnTo>
                    <a:pt x="1349649" y="0"/>
                  </a:lnTo>
                  <a:lnTo>
                    <a:pt x="1349649" y="1098027"/>
                  </a:lnTo>
                  <a:lnTo>
                    <a:pt x="0" y="1098027"/>
                  </a:lnTo>
                  <a:close/>
                </a:path>
              </a:pathLst>
            </a:custGeom>
            <a:solidFill>
              <a:srgbClr val="FFFFFF"/>
            </a:solidFill>
          </p:spPr>
        </p:sp>
        <p:sp>
          <p:nvSpPr>
            <p:cNvPr id="10" name="TextBox 10"/>
            <p:cNvSpPr txBox="1"/>
            <p:nvPr/>
          </p:nvSpPr>
          <p:spPr>
            <a:xfrm>
              <a:off x="0" y="-38100"/>
              <a:ext cx="1349649" cy="113612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720770" y="5143500"/>
            <a:ext cx="5057743" cy="4114800"/>
            <a:chOff x="0" y="0"/>
            <a:chExt cx="1349649" cy="1098027"/>
          </a:xfrm>
        </p:grpSpPr>
        <p:sp>
          <p:nvSpPr>
            <p:cNvPr id="12" name="Freeform 12"/>
            <p:cNvSpPr/>
            <p:nvPr/>
          </p:nvSpPr>
          <p:spPr>
            <a:xfrm>
              <a:off x="0" y="0"/>
              <a:ext cx="1349649" cy="1098027"/>
            </a:xfrm>
            <a:custGeom>
              <a:avLst/>
              <a:gdLst/>
              <a:ahLst/>
              <a:cxnLst/>
              <a:rect l="l" t="t" r="r" b="b"/>
              <a:pathLst>
                <a:path w="1349649" h="1098027">
                  <a:moveTo>
                    <a:pt x="0" y="0"/>
                  </a:moveTo>
                  <a:lnTo>
                    <a:pt x="1349649" y="0"/>
                  </a:lnTo>
                  <a:lnTo>
                    <a:pt x="1349649" y="1098027"/>
                  </a:lnTo>
                  <a:lnTo>
                    <a:pt x="0" y="1098027"/>
                  </a:lnTo>
                  <a:close/>
                </a:path>
              </a:pathLst>
            </a:custGeom>
            <a:solidFill>
              <a:srgbClr val="FFFFFF"/>
            </a:solidFill>
          </p:spPr>
        </p:sp>
        <p:sp>
          <p:nvSpPr>
            <p:cNvPr id="13" name="TextBox 13"/>
            <p:cNvSpPr txBox="1"/>
            <p:nvPr/>
          </p:nvSpPr>
          <p:spPr>
            <a:xfrm>
              <a:off x="0" y="-38100"/>
              <a:ext cx="1349649" cy="1136127"/>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681036" y="479710"/>
            <a:ext cx="13833038" cy="2828819"/>
          </a:xfrm>
          <a:prstGeom prst="rect">
            <a:avLst/>
          </a:prstGeom>
        </p:spPr>
        <p:txBody>
          <a:bodyPr lIns="0" tIns="0" rIns="0" bIns="0" rtlCol="0" anchor="t">
            <a:spAutoFit/>
          </a:bodyPr>
          <a:lstStyle/>
          <a:p>
            <a:pPr algn="ctr">
              <a:lnSpc>
                <a:spcPts val="7507"/>
              </a:lnSpc>
            </a:pPr>
            <a:r>
              <a:rPr lang="en-US" sz="5362">
                <a:solidFill>
                  <a:srgbClr val="FFFFFF"/>
                </a:solidFill>
                <a:latin typeface="Fredoka"/>
                <a:ea typeface="Fredoka"/>
                <a:cs typeface="Fredoka"/>
                <a:sym typeface="Fredoka"/>
              </a:rPr>
              <a:t>TECHNIQUES FOR SECURING PEER-TO-PEER (P2P) COMMUNICATION</a:t>
            </a:r>
          </a:p>
          <a:p>
            <a:pPr algn="ctr">
              <a:lnSpc>
                <a:spcPts val="7507"/>
              </a:lnSpc>
            </a:pPr>
            <a:endParaRPr lang="en-US" sz="5362">
              <a:solidFill>
                <a:srgbClr val="FFFFFF"/>
              </a:solidFill>
              <a:latin typeface="Fredoka"/>
              <a:ea typeface="Fredoka"/>
              <a:cs typeface="Fredoka"/>
              <a:sym typeface="Fredoka"/>
            </a:endParaRPr>
          </a:p>
        </p:txBody>
      </p:sp>
      <p:sp>
        <p:nvSpPr>
          <p:cNvPr id="15" name="TextBox 15"/>
          <p:cNvSpPr txBox="1"/>
          <p:nvPr/>
        </p:nvSpPr>
        <p:spPr>
          <a:xfrm>
            <a:off x="1413983" y="2938610"/>
            <a:ext cx="15460033" cy="155067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Securing Peer-to-Peer (P2P) communication involves implementing various techniques to protect the confidentiality, integrity, and authenticity of data exchanged between peers.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6" name="TextBox 16"/>
          <p:cNvSpPr txBox="1"/>
          <p:nvPr/>
        </p:nvSpPr>
        <p:spPr>
          <a:xfrm>
            <a:off x="1413983" y="6846172"/>
            <a:ext cx="4621928" cy="1381125"/>
          </a:xfrm>
          <a:prstGeom prst="rect">
            <a:avLst/>
          </a:prstGeom>
        </p:spPr>
        <p:txBody>
          <a:bodyPr lIns="0" tIns="0" rIns="0" bIns="0" rtlCol="0" anchor="t">
            <a:spAutoFit/>
          </a:bodyPr>
          <a:lstStyle/>
          <a:p>
            <a:pPr marL="0" lvl="0" indent="0" algn="l">
              <a:lnSpc>
                <a:spcPts val="3749"/>
              </a:lnSpc>
              <a:spcBef>
                <a:spcPct val="0"/>
              </a:spcBef>
            </a:pPr>
            <a:r>
              <a:rPr lang="en-US" sz="2499">
                <a:solidFill>
                  <a:srgbClr val="000000"/>
                </a:solidFill>
                <a:latin typeface="Quicksand"/>
                <a:ea typeface="Quicksand"/>
                <a:cs typeface="Quicksand"/>
                <a:sym typeface="Quicksand"/>
              </a:rPr>
              <a:t>Data is encoded so that even if it is intercepted, it cannot be read without proper access.</a:t>
            </a:r>
          </a:p>
        </p:txBody>
      </p:sp>
      <p:sp>
        <p:nvSpPr>
          <p:cNvPr id="17" name="TextBox 17"/>
          <p:cNvSpPr txBox="1"/>
          <p:nvPr/>
        </p:nvSpPr>
        <p:spPr>
          <a:xfrm>
            <a:off x="1457889" y="5554704"/>
            <a:ext cx="2446294" cy="606293"/>
          </a:xfrm>
          <a:prstGeom prst="rect">
            <a:avLst/>
          </a:prstGeom>
        </p:spPr>
        <p:txBody>
          <a:bodyPr lIns="0" tIns="0" rIns="0" bIns="0" rtlCol="0" anchor="t">
            <a:spAutoFit/>
          </a:bodyPr>
          <a:lstStyle/>
          <a:p>
            <a:pPr algn="l">
              <a:lnSpc>
                <a:spcPts val="4974"/>
              </a:lnSpc>
            </a:pPr>
            <a:r>
              <a:rPr lang="en-US" sz="3553" b="1">
                <a:solidFill>
                  <a:srgbClr val="000000"/>
                </a:solidFill>
                <a:latin typeface="Quicksand Bold"/>
                <a:ea typeface="Quicksand Bold"/>
                <a:cs typeface="Quicksand Bold"/>
                <a:sym typeface="Quicksand Bold"/>
              </a:rPr>
              <a:t>Encryption</a:t>
            </a:r>
          </a:p>
        </p:txBody>
      </p:sp>
      <p:sp>
        <p:nvSpPr>
          <p:cNvPr id="18" name="TextBox 18"/>
          <p:cNvSpPr txBox="1"/>
          <p:nvPr/>
        </p:nvSpPr>
        <p:spPr>
          <a:xfrm>
            <a:off x="12419465" y="6855697"/>
            <a:ext cx="4621928" cy="1400175"/>
          </a:xfrm>
          <a:prstGeom prst="rect">
            <a:avLst/>
          </a:prstGeom>
        </p:spPr>
        <p:txBody>
          <a:bodyPr lIns="0" tIns="0" rIns="0" bIns="0" rtlCol="0" anchor="t">
            <a:spAutoFit/>
          </a:bodyPr>
          <a:lstStyle/>
          <a:p>
            <a:pPr marL="0" lvl="0" indent="0" algn="l">
              <a:lnSpc>
                <a:spcPts val="3750"/>
              </a:lnSpc>
              <a:spcBef>
                <a:spcPct val="0"/>
              </a:spcBef>
            </a:pPr>
            <a:r>
              <a:rPr lang="en-US" sz="2500">
                <a:solidFill>
                  <a:srgbClr val="000000"/>
                </a:solidFill>
                <a:latin typeface="Quicksand"/>
                <a:ea typeface="Quicksand"/>
                <a:cs typeface="Quicksand"/>
                <a:sym typeface="Quicksand"/>
              </a:rPr>
              <a:t>Create unique hash values (like SHA-256) to check if data has been altered.</a:t>
            </a:r>
          </a:p>
        </p:txBody>
      </p:sp>
      <p:sp>
        <p:nvSpPr>
          <p:cNvPr id="19" name="TextBox 19"/>
          <p:cNvSpPr txBox="1"/>
          <p:nvPr/>
        </p:nvSpPr>
        <p:spPr>
          <a:xfrm>
            <a:off x="12419465" y="5239771"/>
            <a:ext cx="3051800" cy="1236160"/>
          </a:xfrm>
          <a:prstGeom prst="rect">
            <a:avLst/>
          </a:prstGeom>
        </p:spPr>
        <p:txBody>
          <a:bodyPr lIns="0" tIns="0" rIns="0" bIns="0" rtlCol="0" anchor="t">
            <a:spAutoFit/>
          </a:bodyPr>
          <a:lstStyle/>
          <a:p>
            <a:pPr algn="l">
              <a:lnSpc>
                <a:spcPts val="4974"/>
              </a:lnSpc>
            </a:pPr>
            <a:r>
              <a:rPr lang="en-US" sz="3553" b="1">
                <a:solidFill>
                  <a:srgbClr val="000000"/>
                </a:solidFill>
                <a:latin typeface="Quicksand Bold"/>
                <a:ea typeface="Quicksand Bold"/>
                <a:cs typeface="Quicksand Bold"/>
                <a:sym typeface="Quicksand Bold"/>
              </a:rPr>
              <a:t>Secure Hash Algorithms</a:t>
            </a:r>
          </a:p>
        </p:txBody>
      </p:sp>
      <p:sp>
        <p:nvSpPr>
          <p:cNvPr id="20" name="TextBox 20"/>
          <p:cNvSpPr txBox="1"/>
          <p:nvPr/>
        </p:nvSpPr>
        <p:spPr>
          <a:xfrm>
            <a:off x="6938677" y="6846172"/>
            <a:ext cx="4621928" cy="1847850"/>
          </a:xfrm>
          <a:prstGeom prst="rect">
            <a:avLst/>
          </a:prstGeom>
        </p:spPr>
        <p:txBody>
          <a:bodyPr lIns="0" tIns="0" rIns="0" bIns="0" rtlCol="0" anchor="t">
            <a:spAutoFit/>
          </a:bodyPr>
          <a:lstStyle/>
          <a:p>
            <a:pPr marL="0" lvl="0" indent="0" algn="l">
              <a:lnSpc>
                <a:spcPts val="3749"/>
              </a:lnSpc>
              <a:spcBef>
                <a:spcPct val="0"/>
              </a:spcBef>
            </a:pPr>
            <a:r>
              <a:rPr lang="en-US" sz="2499">
                <a:solidFill>
                  <a:srgbClr val="000000"/>
                </a:solidFill>
                <a:latin typeface="Quicksand"/>
                <a:ea typeface="Quicksand"/>
                <a:cs typeface="Quicksand"/>
                <a:sym typeface="Quicksand"/>
              </a:rPr>
              <a:t>Uses digital certificates to verify identities and enable secure communication between peers.</a:t>
            </a:r>
          </a:p>
        </p:txBody>
      </p:sp>
      <p:sp>
        <p:nvSpPr>
          <p:cNvPr id="21" name="TextBox 21"/>
          <p:cNvSpPr txBox="1"/>
          <p:nvPr/>
        </p:nvSpPr>
        <p:spPr>
          <a:xfrm>
            <a:off x="6830374" y="5239771"/>
            <a:ext cx="4434590" cy="1236160"/>
          </a:xfrm>
          <a:prstGeom prst="rect">
            <a:avLst/>
          </a:prstGeom>
        </p:spPr>
        <p:txBody>
          <a:bodyPr lIns="0" tIns="0" rIns="0" bIns="0" rtlCol="0" anchor="t">
            <a:spAutoFit/>
          </a:bodyPr>
          <a:lstStyle/>
          <a:p>
            <a:pPr algn="l">
              <a:lnSpc>
                <a:spcPts val="4974"/>
              </a:lnSpc>
            </a:pPr>
            <a:r>
              <a:rPr lang="en-US" sz="3553" b="1">
                <a:solidFill>
                  <a:srgbClr val="000000"/>
                </a:solidFill>
                <a:latin typeface="Quicksand Bold"/>
                <a:ea typeface="Quicksand Bold"/>
                <a:cs typeface="Quicksand Bold"/>
                <a:sym typeface="Quicksand Bold"/>
              </a:rPr>
              <a:t>Public Key Infrastructure (PKI)</a:t>
            </a:r>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16230600" cy="1711239"/>
            <a:chOff x="0" y="0"/>
            <a:chExt cx="4274726" cy="450697"/>
          </a:xfrm>
        </p:grpSpPr>
        <p:sp>
          <p:nvSpPr>
            <p:cNvPr id="3" name="Freeform 3"/>
            <p:cNvSpPr/>
            <p:nvPr/>
          </p:nvSpPr>
          <p:spPr>
            <a:xfrm>
              <a:off x="0" y="0"/>
              <a:ext cx="4274726" cy="450697"/>
            </a:xfrm>
            <a:custGeom>
              <a:avLst/>
              <a:gdLst/>
              <a:ahLst/>
              <a:cxnLst/>
              <a:rect l="l" t="t" r="r" b="b"/>
              <a:pathLst>
                <a:path w="4274726" h="450697">
                  <a:moveTo>
                    <a:pt x="0" y="0"/>
                  </a:moveTo>
                  <a:lnTo>
                    <a:pt x="4274726" y="0"/>
                  </a:lnTo>
                  <a:lnTo>
                    <a:pt x="4274726" y="450697"/>
                  </a:lnTo>
                  <a:lnTo>
                    <a:pt x="0" y="450697"/>
                  </a:lnTo>
                  <a:close/>
                </a:path>
              </a:pathLst>
            </a:custGeom>
            <a:solidFill>
              <a:srgbClr val="FFFFFF"/>
            </a:solidFill>
          </p:spPr>
        </p:sp>
        <p:sp>
          <p:nvSpPr>
            <p:cNvPr id="4" name="TextBox 4"/>
            <p:cNvSpPr txBox="1"/>
            <p:nvPr/>
          </p:nvSpPr>
          <p:spPr>
            <a:xfrm>
              <a:off x="0" y="-38100"/>
              <a:ext cx="4274726" cy="48879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74735" y="5143500"/>
            <a:ext cx="5057743" cy="4114800"/>
            <a:chOff x="0" y="0"/>
            <a:chExt cx="1349649" cy="1098027"/>
          </a:xfrm>
        </p:grpSpPr>
        <p:sp>
          <p:nvSpPr>
            <p:cNvPr id="6" name="Freeform 6"/>
            <p:cNvSpPr/>
            <p:nvPr/>
          </p:nvSpPr>
          <p:spPr>
            <a:xfrm>
              <a:off x="0" y="0"/>
              <a:ext cx="1349649" cy="1098027"/>
            </a:xfrm>
            <a:custGeom>
              <a:avLst/>
              <a:gdLst/>
              <a:ahLst/>
              <a:cxnLst/>
              <a:rect l="l" t="t" r="r" b="b"/>
              <a:pathLst>
                <a:path w="1349649" h="1098027">
                  <a:moveTo>
                    <a:pt x="0" y="0"/>
                  </a:moveTo>
                  <a:lnTo>
                    <a:pt x="1349649" y="0"/>
                  </a:lnTo>
                  <a:lnTo>
                    <a:pt x="1349649" y="1098027"/>
                  </a:lnTo>
                  <a:lnTo>
                    <a:pt x="0" y="1098027"/>
                  </a:lnTo>
                  <a:close/>
                </a:path>
              </a:pathLst>
            </a:custGeom>
            <a:solidFill>
              <a:srgbClr val="FFFFFF"/>
            </a:solidFill>
          </p:spPr>
        </p:sp>
        <p:sp>
          <p:nvSpPr>
            <p:cNvPr id="7" name="TextBox 7"/>
            <p:cNvSpPr txBox="1"/>
            <p:nvPr/>
          </p:nvSpPr>
          <p:spPr>
            <a:xfrm>
              <a:off x="0" y="-38100"/>
              <a:ext cx="1349649" cy="113612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355523" y="5143500"/>
            <a:ext cx="5057743" cy="4114800"/>
            <a:chOff x="0" y="0"/>
            <a:chExt cx="1349649" cy="1098027"/>
          </a:xfrm>
        </p:grpSpPr>
        <p:sp>
          <p:nvSpPr>
            <p:cNvPr id="9" name="Freeform 9"/>
            <p:cNvSpPr/>
            <p:nvPr/>
          </p:nvSpPr>
          <p:spPr>
            <a:xfrm>
              <a:off x="0" y="0"/>
              <a:ext cx="1349649" cy="1098027"/>
            </a:xfrm>
            <a:custGeom>
              <a:avLst/>
              <a:gdLst/>
              <a:ahLst/>
              <a:cxnLst/>
              <a:rect l="l" t="t" r="r" b="b"/>
              <a:pathLst>
                <a:path w="1349649" h="1098027">
                  <a:moveTo>
                    <a:pt x="0" y="0"/>
                  </a:moveTo>
                  <a:lnTo>
                    <a:pt x="1349649" y="0"/>
                  </a:lnTo>
                  <a:lnTo>
                    <a:pt x="1349649" y="1098027"/>
                  </a:lnTo>
                  <a:lnTo>
                    <a:pt x="0" y="1098027"/>
                  </a:lnTo>
                  <a:close/>
                </a:path>
              </a:pathLst>
            </a:custGeom>
            <a:solidFill>
              <a:srgbClr val="FFFFFF"/>
            </a:solidFill>
          </p:spPr>
        </p:sp>
        <p:sp>
          <p:nvSpPr>
            <p:cNvPr id="10" name="TextBox 10"/>
            <p:cNvSpPr txBox="1"/>
            <p:nvPr/>
          </p:nvSpPr>
          <p:spPr>
            <a:xfrm>
              <a:off x="0" y="-38100"/>
              <a:ext cx="1349649" cy="1136127"/>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681036" y="479710"/>
            <a:ext cx="13833038" cy="2828819"/>
          </a:xfrm>
          <a:prstGeom prst="rect">
            <a:avLst/>
          </a:prstGeom>
        </p:spPr>
        <p:txBody>
          <a:bodyPr lIns="0" tIns="0" rIns="0" bIns="0" rtlCol="0" anchor="t">
            <a:spAutoFit/>
          </a:bodyPr>
          <a:lstStyle/>
          <a:p>
            <a:pPr algn="ctr">
              <a:lnSpc>
                <a:spcPts val="7507"/>
              </a:lnSpc>
            </a:pPr>
            <a:r>
              <a:rPr lang="en-US" sz="5362">
                <a:solidFill>
                  <a:srgbClr val="FFFFFF"/>
                </a:solidFill>
                <a:latin typeface="Fredoka"/>
                <a:ea typeface="Fredoka"/>
                <a:cs typeface="Fredoka"/>
                <a:sym typeface="Fredoka"/>
              </a:rPr>
              <a:t>TECHNIQUES FOR SECURING PEER-TO-PEER (P2P) COMMUNICATION</a:t>
            </a:r>
          </a:p>
          <a:p>
            <a:pPr algn="ctr">
              <a:lnSpc>
                <a:spcPts val="7507"/>
              </a:lnSpc>
            </a:pPr>
            <a:endParaRPr lang="en-US" sz="5362">
              <a:solidFill>
                <a:srgbClr val="FFFFFF"/>
              </a:solidFill>
              <a:latin typeface="Fredoka"/>
              <a:ea typeface="Fredoka"/>
              <a:cs typeface="Fredoka"/>
              <a:sym typeface="Fredoka"/>
            </a:endParaRPr>
          </a:p>
        </p:txBody>
      </p:sp>
      <p:sp>
        <p:nvSpPr>
          <p:cNvPr id="12" name="TextBox 12"/>
          <p:cNvSpPr txBox="1"/>
          <p:nvPr/>
        </p:nvSpPr>
        <p:spPr>
          <a:xfrm>
            <a:off x="1413983" y="2938610"/>
            <a:ext cx="15460033" cy="155067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Securing Peer-to-Peer (P2P) communication involves implementing various techniques to protect the confidentiality, integrity, and authenticity of data exchanged between peers.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3" name="TextBox 13"/>
          <p:cNvSpPr txBox="1"/>
          <p:nvPr/>
        </p:nvSpPr>
        <p:spPr>
          <a:xfrm>
            <a:off x="4048737" y="6846172"/>
            <a:ext cx="4621928" cy="1381125"/>
          </a:xfrm>
          <a:prstGeom prst="rect">
            <a:avLst/>
          </a:prstGeom>
        </p:spPr>
        <p:txBody>
          <a:bodyPr lIns="0" tIns="0" rIns="0" bIns="0" rtlCol="0" anchor="t">
            <a:spAutoFit/>
          </a:bodyPr>
          <a:lstStyle/>
          <a:p>
            <a:pPr marL="0" lvl="0" indent="0" algn="l">
              <a:lnSpc>
                <a:spcPts val="3749"/>
              </a:lnSpc>
              <a:spcBef>
                <a:spcPct val="0"/>
              </a:spcBef>
            </a:pPr>
            <a:r>
              <a:rPr lang="en-US" sz="2499">
                <a:solidFill>
                  <a:srgbClr val="000000"/>
                </a:solidFill>
                <a:latin typeface="Quicksand"/>
                <a:ea typeface="Quicksand"/>
                <a:cs typeface="Quicksand"/>
                <a:sym typeface="Quicksand"/>
              </a:rPr>
              <a:t>Confirm the sender’s identity and ensure that the data has not been changed.</a:t>
            </a:r>
          </a:p>
        </p:txBody>
      </p:sp>
      <p:sp>
        <p:nvSpPr>
          <p:cNvPr id="14" name="TextBox 14"/>
          <p:cNvSpPr txBox="1"/>
          <p:nvPr/>
        </p:nvSpPr>
        <p:spPr>
          <a:xfrm>
            <a:off x="4092642" y="5554704"/>
            <a:ext cx="4262812" cy="606293"/>
          </a:xfrm>
          <a:prstGeom prst="rect">
            <a:avLst/>
          </a:prstGeom>
        </p:spPr>
        <p:txBody>
          <a:bodyPr lIns="0" tIns="0" rIns="0" bIns="0" rtlCol="0" anchor="t">
            <a:spAutoFit/>
          </a:bodyPr>
          <a:lstStyle/>
          <a:p>
            <a:pPr algn="l">
              <a:lnSpc>
                <a:spcPts val="4974"/>
              </a:lnSpc>
            </a:pPr>
            <a:r>
              <a:rPr lang="en-US" sz="3553" b="1">
                <a:solidFill>
                  <a:srgbClr val="000000"/>
                </a:solidFill>
                <a:latin typeface="Quicksand Bold"/>
                <a:ea typeface="Quicksand Bold"/>
                <a:cs typeface="Quicksand Bold"/>
                <a:sym typeface="Quicksand Bold"/>
              </a:rPr>
              <a:t>Digital Signatures</a:t>
            </a:r>
          </a:p>
        </p:txBody>
      </p:sp>
      <p:sp>
        <p:nvSpPr>
          <p:cNvPr id="15" name="TextBox 15"/>
          <p:cNvSpPr txBox="1"/>
          <p:nvPr/>
        </p:nvSpPr>
        <p:spPr>
          <a:xfrm>
            <a:off x="9573430" y="6846172"/>
            <a:ext cx="4621928" cy="3248025"/>
          </a:xfrm>
          <a:prstGeom prst="rect">
            <a:avLst/>
          </a:prstGeom>
        </p:spPr>
        <p:txBody>
          <a:bodyPr lIns="0" tIns="0" rIns="0" bIns="0" rtlCol="0" anchor="t">
            <a:spAutoFit/>
          </a:bodyPr>
          <a:lstStyle/>
          <a:p>
            <a:pPr marL="0" lvl="0" indent="0" algn="l">
              <a:lnSpc>
                <a:spcPts val="3749"/>
              </a:lnSpc>
              <a:spcBef>
                <a:spcPct val="0"/>
              </a:spcBef>
            </a:pPr>
            <a:r>
              <a:rPr lang="en-US" sz="2499">
                <a:solidFill>
                  <a:srgbClr val="000000"/>
                </a:solidFill>
                <a:latin typeface="Quicksand"/>
                <a:ea typeface="Quicksand"/>
                <a:cs typeface="Quicksand"/>
                <a:sym typeface="Quicksand"/>
              </a:rPr>
              <a:t>Protocols like TLS or SSL encrypt connections to keep data safe during transmission.</a:t>
            </a:r>
          </a:p>
          <a:p>
            <a:pPr marL="0" lvl="0" indent="0" algn="l">
              <a:lnSpc>
                <a:spcPts val="3749"/>
              </a:lnSpc>
              <a:spcBef>
                <a:spcPct val="0"/>
              </a:spcBef>
            </a:pPr>
            <a:endParaRPr lang="en-US" sz="2499">
              <a:solidFill>
                <a:srgbClr val="000000"/>
              </a:solidFill>
              <a:latin typeface="Quicksand"/>
              <a:ea typeface="Quicksand"/>
              <a:cs typeface="Quicksand"/>
              <a:sym typeface="Quicksand"/>
            </a:endParaRPr>
          </a:p>
          <a:p>
            <a:pPr marL="0" lvl="0" indent="0" algn="l">
              <a:lnSpc>
                <a:spcPts val="3749"/>
              </a:lnSpc>
              <a:spcBef>
                <a:spcPct val="0"/>
              </a:spcBef>
            </a:pPr>
            <a:endParaRPr lang="en-US" sz="2499">
              <a:solidFill>
                <a:srgbClr val="000000"/>
              </a:solidFill>
              <a:latin typeface="Quicksand"/>
              <a:ea typeface="Quicksand"/>
              <a:cs typeface="Quicksand"/>
              <a:sym typeface="Quicksand"/>
            </a:endParaRPr>
          </a:p>
          <a:p>
            <a:pPr marL="0" lvl="0" indent="0" algn="l">
              <a:lnSpc>
                <a:spcPts val="3749"/>
              </a:lnSpc>
              <a:spcBef>
                <a:spcPct val="0"/>
              </a:spcBef>
            </a:pPr>
            <a:endParaRPr lang="en-US" sz="2499">
              <a:solidFill>
                <a:srgbClr val="000000"/>
              </a:solidFill>
              <a:latin typeface="Quicksand"/>
              <a:ea typeface="Quicksand"/>
              <a:cs typeface="Quicksand"/>
              <a:sym typeface="Quicksand"/>
            </a:endParaRPr>
          </a:p>
          <a:p>
            <a:pPr marL="0" lvl="0" indent="0" algn="l">
              <a:lnSpc>
                <a:spcPts val="3749"/>
              </a:lnSpc>
              <a:spcBef>
                <a:spcPct val="0"/>
              </a:spcBef>
            </a:pPr>
            <a:endParaRPr lang="en-US" sz="2499">
              <a:solidFill>
                <a:srgbClr val="000000"/>
              </a:solidFill>
              <a:latin typeface="Quicksand"/>
              <a:ea typeface="Quicksand"/>
              <a:cs typeface="Quicksand"/>
              <a:sym typeface="Quicksand"/>
            </a:endParaRPr>
          </a:p>
        </p:txBody>
      </p:sp>
      <p:sp>
        <p:nvSpPr>
          <p:cNvPr id="16" name="TextBox 16"/>
          <p:cNvSpPr txBox="1"/>
          <p:nvPr/>
        </p:nvSpPr>
        <p:spPr>
          <a:xfrm>
            <a:off x="9465128" y="5239771"/>
            <a:ext cx="5498598" cy="1216025"/>
          </a:xfrm>
          <a:prstGeom prst="rect">
            <a:avLst/>
          </a:prstGeom>
        </p:spPr>
        <p:txBody>
          <a:bodyPr lIns="0" tIns="0" rIns="0" bIns="0" rtlCol="0" anchor="t">
            <a:spAutoFit/>
          </a:bodyPr>
          <a:lstStyle/>
          <a:p>
            <a:pPr algn="l">
              <a:lnSpc>
                <a:spcPts val="4900"/>
              </a:lnSpc>
            </a:pPr>
            <a:r>
              <a:rPr lang="en-US" sz="3500" b="1">
                <a:solidFill>
                  <a:srgbClr val="000000"/>
                </a:solidFill>
                <a:latin typeface="Quicksand Bold"/>
                <a:ea typeface="Quicksand Bold"/>
                <a:cs typeface="Quicksand Bold"/>
                <a:sym typeface="Quicksand Bold"/>
              </a:rPr>
              <a:t>Secure Communication Protocols</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670901" y="3211875"/>
            <a:ext cx="5753100" cy="3162300"/>
          </a:xfrm>
          <a:prstGeom prst="rect">
            <a:avLst/>
          </a:prstGeom>
        </p:spPr>
        <p:txBody>
          <a:bodyPr lIns="0" tIns="0" rIns="0" bIns="0" rtlCol="0" anchor="t">
            <a:spAutoFit/>
          </a:bodyPr>
          <a:lstStyle/>
          <a:p>
            <a:pPr algn="just">
              <a:lnSpc>
                <a:spcPts val="8400"/>
              </a:lnSpc>
            </a:pPr>
            <a:r>
              <a:rPr lang="en-US" sz="6000">
                <a:solidFill>
                  <a:srgbClr val="FFFFFF"/>
                </a:solidFill>
                <a:latin typeface="Fredoka"/>
                <a:ea typeface="Fredoka"/>
                <a:cs typeface="Fredoka"/>
                <a:sym typeface="Fredoka"/>
              </a:rPr>
              <a:t>PEER-TO-PEER APPLICATION</a:t>
            </a:r>
          </a:p>
          <a:p>
            <a:pPr algn="just">
              <a:lnSpc>
                <a:spcPts val="8400"/>
              </a:lnSpc>
            </a:pPr>
            <a:endParaRPr lang="en-US" sz="6000">
              <a:solidFill>
                <a:srgbClr val="FFFFFF"/>
              </a:solidFill>
              <a:latin typeface="Fredoka"/>
              <a:ea typeface="Fredoka"/>
              <a:cs typeface="Fredoka"/>
              <a:sym typeface="Fredoka"/>
            </a:endParaRPr>
          </a:p>
        </p:txBody>
      </p:sp>
      <p:grpSp>
        <p:nvGrpSpPr>
          <p:cNvPr id="3" name="Group 3"/>
          <p:cNvGrpSpPr/>
          <p:nvPr/>
        </p:nvGrpSpPr>
        <p:grpSpPr>
          <a:xfrm>
            <a:off x="6781800" y="1134173"/>
            <a:ext cx="10477500" cy="8018654"/>
            <a:chOff x="0" y="0"/>
            <a:chExt cx="2759506" cy="2111909"/>
          </a:xfrm>
        </p:grpSpPr>
        <p:sp>
          <p:nvSpPr>
            <p:cNvPr id="4" name="Freeform 4"/>
            <p:cNvSpPr/>
            <p:nvPr/>
          </p:nvSpPr>
          <p:spPr>
            <a:xfrm>
              <a:off x="0" y="0"/>
              <a:ext cx="2759506" cy="2111909"/>
            </a:xfrm>
            <a:custGeom>
              <a:avLst/>
              <a:gdLst/>
              <a:ahLst/>
              <a:cxnLst/>
              <a:rect l="l" t="t" r="r" b="b"/>
              <a:pathLst>
                <a:path w="2759506" h="2111909">
                  <a:moveTo>
                    <a:pt x="0" y="0"/>
                  </a:moveTo>
                  <a:lnTo>
                    <a:pt x="2759506" y="0"/>
                  </a:lnTo>
                  <a:lnTo>
                    <a:pt x="2759506" y="2111909"/>
                  </a:lnTo>
                  <a:lnTo>
                    <a:pt x="0" y="2111909"/>
                  </a:lnTo>
                  <a:close/>
                </a:path>
              </a:pathLst>
            </a:custGeom>
            <a:solidFill>
              <a:srgbClr val="FFFFFF"/>
            </a:solidFill>
          </p:spPr>
        </p:sp>
        <p:sp>
          <p:nvSpPr>
            <p:cNvPr id="5" name="TextBox 5"/>
            <p:cNvSpPr txBox="1"/>
            <p:nvPr/>
          </p:nvSpPr>
          <p:spPr>
            <a:xfrm>
              <a:off x="0" y="-38100"/>
              <a:ext cx="2759506" cy="215000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7057648" y="1341363"/>
            <a:ext cx="9595527" cy="3122295"/>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 A Peer-to-Peer (P2P) application is any software or system that uses the P2P networking model where computers (peers) connect directly to each other to share resources, information, or services without relying on a central server.</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7" name="TextBox 7"/>
          <p:cNvSpPr txBox="1"/>
          <p:nvPr/>
        </p:nvSpPr>
        <p:spPr>
          <a:xfrm>
            <a:off x="7057648" y="4377934"/>
            <a:ext cx="9595527" cy="4170045"/>
          </a:xfrm>
          <a:prstGeom prst="rect">
            <a:avLst/>
          </a:prstGeom>
        </p:spPr>
        <p:txBody>
          <a:bodyPr lIns="0" tIns="0" rIns="0" bIns="0" rtlCol="0" anchor="t">
            <a:spAutoFit/>
          </a:bodyPr>
          <a:lstStyle/>
          <a:p>
            <a:pPr algn="l">
              <a:lnSpc>
                <a:spcPts val="4199"/>
              </a:lnSpc>
            </a:pPr>
            <a:r>
              <a:rPr lang="en-US" sz="2799" b="1">
                <a:solidFill>
                  <a:srgbClr val="000000"/>
                </a:solidFill>
                <a:latin typeface="Quicksand Bold"/>
                <a:ea typeface="Quicksand Bold"/>
                <a:cs typeface="Quicksand Bold"/>
                <a:sym typeface="Quicksand Bold"/>
              </a:rPr>
              <a:t>P2P Applications Use Cases</a:t>
            </a:r>
          </a:p>
          <a:p>
            <a:pPr algn="l">
              <a:lnSpc>
                <a:spcPts val="4199"/>
              </a:lnSpc>
            </a:pPr>
            <a:r>
              <a:rPr lang="en-US" sz="2799">
                <a:solidFill>
                  <a:srgbClr val="000000"/>
                </a:solidFill>
                <a:latin typeface="Quicksand"/>
                <a:ea typeface="Quicksand"/>
                <a:cs typeface="Quicksand"/>
                <a:sym typeface="Quicksand"/>
              </a:rPr>
              <a:t>The P2P architecture has many applications in various domains, including:</a:t>
            </a:r>
          </a:p>
          <a:p>
            <a:pPr marL="604519" lvl="1" indent="-302260" algn="l">
              <a:lnSpc>
                <a:spcPts val="4199"/>
              </a:lnSpc>
              <a:buFont typeface="Arial"/>
              <a:buChar char="•"/>
            </a:pPr>
            <a:r>
              <a:rPr lang="en-US" sz="2799">
                <a:solidFill>
                  <a:srgbClr val="000000"/>
                </a:solidFill>
                <a:latin typeface="Quicksand"/>
                <a:ea typeface="Quicksand"/>
                <a:cs typeface="Quicksand"/>
                <a:sym typeface="Quicksand"/>
              </a:rPr>
              <a:t>File sharing</a:t>
            </a:r>
          </a:p>
          <a:p>
            <a:pPr marL="604519" lvl="1" indent="-302260" algn="l">
              <a:lnSpc>
                <a:spcPts val="4199"/>
              </a:lnSpc>
              <a:buFont typeface="Arial"/>
              <a:buChar char="•"/>
            </a:pPr>
            <a:r>
              <a:rPr lang="en-US" sz="2799">
                <a:solidFill>
                  <a:srgbClr val="000000"/>
                </a:solidFill>
                <a:latin typeface="Quicksand"/>
                <a:ea typeface="Quicksand"/>
                <a:cs typeface="Quicksand"/>
                <a:sym typeface="Quicksand"/>
              </a:rPr>
              <a:t>Content Distribution</a:t>
            </a:r>
          </a:p>
          <a:p>
            <a:pPr marL="604519" lvl="1" indent="-302260" algn="l">
              <a:lnSpc>
                <a:spcPts val="4199"/>
              </a:lnSpc>
              <a:buFont typeface="Arial"/>
              <a:buChar char="•"/>
            </a:pPr>
            <a:r>
              <a:rPr lang="en-US" sz="2799">
                <a:solidFill>
                  <a:srgbClr val="000000"/>
                </a:solidFill>
                <a:latin typeface="Quicksand"/>
                <a:ea typeface="Quicksand"/>
                <a:cs typeface="Quicksand"/>
                <a:sym typeface="Quicksand"/>
              </a:rPr>
              <a:t>Collaboration and Communication</a:t>
            </a:r>
          </a:p>
          <a:p>
            <a:pPr marL="604519" lvl="1" indent="-302260" algn="l">
              <a:lnSpc>
                <a:spcPts val="4199"/>
              </a:lnSpc>
              <a:buFont typeface="Arial"/>
              <a:buChar char="•"/>
            </a:pPr>
            <a:r>
              <a:rPr lang="en-US" sz="2799">
                <a:solidFill>
                  <a:srgbClr val="000000"/>
                </a:solidFill>
                <a:latin typeface="Quicksand"/>
                <a:ea typeface="Quicksand"/>
                <a:cs typeface="Quicksand"/>
                <a:sym typeface="Quicksand"/>
              </a:rPr>
              <a:t>Distributed Computing</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763228" y="1603890"/>
            <a:ext cx="10038462" cy="8229600"/>
            <a:chOff x="0" y="0"/>
            <a:chExt cx="2643875" cy="2167467"/>
          </a:xfrm>
        </p:grpSpPr>
        <p:sp>
          <p:nvSpPr>
            <p:cNvPr id="3" name="Freeform 3"/>
            <p:cNvSpPr/>
            <p:nvPr/>
          </p:nvSpPr>
          <p:spPr>
            <a:xfrm>
              <a:off x="0" y="0"/>
              <a:ext cx="2643875" cy="2167467"/>
            </a:xfrm>
            <a:custGeom>
              <a:avLst/>
              <a:gdLst/>
              <a:ahLst/>
              <a:cxnLst/>
              <a:rect l="l" t="t" r="r" b="b"/>
              <a:pathLst>
                <a:path w="2643875" h="2167467">
                  <a:moveTo>
                    <a:pt x="0" y="0"/>
                  </a:moveTo>
                  <a:lnTo>
                    <a:pt x="2643875" y="0"/>
                  </a:lnTo>
                  <a:lnTo>
                    <a:pt x="2643875" y="2167467"/>
                  </a:lnTo>
                  <a:lnTo>
                    <a:pt x="0" y="2167467"/>
                  </a:lnTo>
                  <a:close/>
                </a:path>
              </a:pathLst>
            </a:custGeom>
            <a:solidFill>
              <a:srgbClr val="FFFFFF"/>
            </a:solidFill>
          </p:spPr>
        </p:sp>
        <p:sp>
          <p:nvSpPr>
            <p:cNvPr id="4" name="TextBox 4"/>
            <p:cNvSpPr txBox="1"/>
            <p:nvPr/>
          </p:nvSpPr>
          <p:spPr>
            <a:xfrm>
              <a:off x="0" y="-38100"/>
              <a:ext cx="2643875" cy="220556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3228" y="474562"/>
            <a:ext cx="16230600" cy="805478"/>
            <a:chOff x="0" y="0"/>
            <a:chExt cx="4274726" cy="212142"/>
          </a:xfrm>
        </p:grpSpPr>
        <p:sp>
          <p:nvSpPr>
            <p:cNvPr id="6" name="Freeform 6"/>
            <p:cNvSpPr/>
            <p:nvPr/>
          </p:nvSpPr>
          <p:spPr>
            <a:xfrm>
              <a:off x="0" y="0"/>
              <a:ext cx="4274726" cy="212142"/>
            </a:xfrm>
            <a:custGeom>
              <a:avLst/>
              <a:gdLst/>
              <a:ahLst/>
              <a:cxnLst/>
              <a:rect l="l" t="t" r="r" b="b"/>
              <a:pathLst>
                <a:path w="4274726" h="212142">
                  <a:moveTo>
                    <a:pt x="0" y="0"/>
                  </a:moveTo>
                  <a:lnTo>
                    <a:pt x="4274726" y="0"/>
                  </a:lnTo>
                  <a:lnTo>
                    <a:pt x="4274726" y="212142"/>
                  </a:lnTo>
                  <a:lnTo>
                    <a:pt x="0" y="212142"/>
                  </a:lnTo>
                  <a:close/>
                </a:path>
              </a:pathLst>
            </a:custGeom>
            <a:solidFill>
              <a:srgbClr val="FFFFFF"/>
            </a:solidFill>
          </p:spPr>
        </p:sp>
        <p:sp>
          <p:nvSpPr>
            <p:cNvPr id="7" name="TextBox 7"/>
            <p:cNvSpPr txBox="1"/>
            <p:nvPr/>
          </p:nvSpPr>
          <p:spPr>
            <a:xfrm>
              <a:off x="0" y="-38100"/>
              <a:ext cx="4274726" cy="250242"/>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379684" y="4163969"/>
            <a:ext cx="6615834" cy="3109442"/>
          </a:xfrm>
          <a:custGeom>
            <a:avLst/>
            <a:gdLst/>
            <a:ahLst/>
            <a:cxnLst/>
            <a:rect l="l" t="t" r="r" b="b"/>
            <a:pathLst>
              <a:path w="6615834" h="3109442">
                <a:moveTo>
                  <a:pt x="0" y="0"/>
                </a:moveTo>
                <a:lnTo>
                  <a:pt x="6615834" y="0"/>
                </a:lnTo>
                <a:lnTo>
                  <a:pt x="6615834" y="3109442"/>
                </a:lnTo>
                <a:lnTo>
                  <a:pt x="0" y="3109442"/>
                </a:lnTo>
                <a:lnTo>
                  <a:pt x="0" y="0"/>
                </a:lnTo>
                <a:close/>
              </a:path>
            </a:pathLst>
          </a:custGeom>
          <a:blipFill>
            <a:blip r:embed="rId2"/>
            <a:stretch>
              <a:fillRect/>
            </a:stretch>
          </a:blipFill>
        </p:spPr>
      </p:sp>
      <p:sp>
        <p:nvSpPr>
          <p:cNvPr id="9" name="TextBox 9"/>
          <p:cNvSpPr txBox="1"/>
          <p:nvPr/>
        </p:nvSpPr>
        <p:spPr>
          <a:xfrm>
            <a:off x="11076376" y="3126780"/>
            <a:ext cx="6343528" cy="4229100"/>
          </a:xfrm>
          <a:prstGeom prst="rect">
            <a:avLst/>
          </a:prstGeom>
        </p:spPr>
        <p:txBody>
          <a:bodyPr lIns="0" tIns="0" rIns="0" bIns="0" rtlCol="0" anchor="t">
            <a:spAutoFit/>
          </a:bodyPr>
          <a:lstStyle/>
          <a:p>
            <a:pPr algn="l">
              <a:lnSpc>
                <a:spcPts val="8400"/>
              </a:lnSpc>
            </a:pPr>
            <a:r>
              <a:rPr lang="en-US" sz="6000">
                <a:solidFill>
                  <a:srgbClr val="FFFFFF"/>
                </a:solidFill>
                <a:latin typeface="Fredoka"/>
                <a:ea typeface="Fredoka"/>
                <a:cs typeface="Fredoka"/>
                <a:sym typeface="Fredoka"/>
              </a:rPr>
              <a:t>WHAT ARE NETWORK OVERLAYS?</a:t>
            </a:r>
          </a:p>
          <a:p>
            <a:pPr algn="l">
              <a:lnSpc>
                <a:spcPts val="8400"/>
              </a:lnSpc>
            </a:pPr>
            <a:endParaRPr lang="en-US" sz="6000">
              <a:solidFill>
                <a:srgbClr val="FFFFFF"/>
              </a:solidFill>
              <a:latin typeface="Fredoka"/>
              <a:ea typeface="Fredoka"/>
              <a:cs typeface="Fredoka"/>
              <a:sym typeface="Fredoka"/>
            </a:endParaRPr>
          </a:p>
        </p:txBody>
      </p:sp>
      <p:sp>
        <p:nvSpPr>
          <p:cNvPr id="10" name="TextBox 10"/>
          <p:cNvSpPr txBox="1"/>
          <p:nvPr/>
        </p:nvSpPr>
        <p:spPr>
          <a:xfrm>
            <a:off x="1011730" y="1738599"/>
            <a:ext cx="9789959" cy="1847850"/>
          </a:xfrm>
          <a:prstGeom prst="rect">
            <a:avLst/>
          </a:prstGeom>
        </p:spPr>
        <p:txBody>
          <a:bodyPr lIns="0" tIns="0" rIns="0" bIns="0" rtlCol="0" anchor="t">
            <a:spAutoFit/>
          </a:bodyPr>
          <a:lstStyle/>
          <a:p>
            <a:pPr marL="0" lvl="0" indent="0" algn="l">
              <a:lnSpc>
                <a:spcPts val="3749"/>
              </a:lnSpc>
              <a:spcBef>
                <a:spcPct val="0"/>
              </a:spcBef>
            </a:pPr>
            <a:r>
              <a:rPr lang="en-US" sz="2499" dirty="0">
                <a:solidFill>
                  <a:srgbClr val="000000"/>
                </a:solidFill>
                <a:latin typeface="Quicksand"/>
                <a:ea typeface="Quicksand"/>
                <a:cs typeface="Quicksand"/>
                <a:sym typeface="Quicksand"/>
              </a:rPr>
              <a:t>A network overlay is a virtual network that runs on top of a physical network. It allows for creation of logical communication channels and connections between devices that may be geographically dispersed or belong to separate physical networks. </a:t>
            </a:r>
          </a:p>
        </p:txBody>
      </p:sp>
      <p:sp>
        <p:nvSpPr>
          <p:cNvPr id="11" name="TextBox 11"/>
          <p:cNvSpPr txBox="1"/>
          <p:nvPr/>
        </p:nvSpPr>
        <p:spPr>
          <a:xfrm>
            <a:off x="1095509" y="7442072"/>
            <a:ext cx="9184183" cy="1400175"/>
          </a:xfrm>
          <a:prstGeom prst="rect">
            <a:avLst/>
          </a:prstGeom>
        </p:spPr>
        <p:txBody>
          <a:bodyPr lIns="0" tIns="0" rIns="0" bIns="0" rtlCol="0" anchor="t">
            <a:spAutoFit/>
          </a:bodyPr>
          <a:lstStyle/>
          <a:p>
            <a:pPr algn="l">
              <a:lnSpc>
                <a:spcPts val="3750"/>
              </a:lnSpc>
            </a:pPr>
            <a:r>
              <a:rPr lang="en-US" sz="2500" dirty="0">
                <a:solidFill>
                  <a:srgbClr val="000000"/>
                </a:solidFill>
                <a:latin typeface="Quicksand"/>
                <a:ea typeface="Quicksand"/>
                <a:cs typeface="Quicksand"/>
                <a:sym typeface="Quicksand"/>
              </a:rPr>
              <a:t>Overlays are built using software-based layers that encapsulate the communication between nodes, hiding the underlying physical network's complexity.</a:t>
            </a:r>
          </a:p>
        </p:txBody>
      </p:sp>
      <p:sp>
        <p:nvSpPr>
          <p:cNvPr id="12" name="TextBox 12"/>
          <p:cNvSpPr txBox="1"/>
          <p:nvPr/>
        </p:nvSpPr>
        <p:spPr>
          <a:xfrm>
            <a:off x="1095509" y="582978"/>
            <a:ext cx="8422573" cy="1026795"/>
          </a:xfrm>
          <a:prstGeom prst="rect">
            <a:avLst/>
          </a:prstGeom>
        </p:spPr>
        <p:txBody>
          <a:bodyPr lIns="0" tIns="0" rIns="0" bIns="0" rtlCol="0" anchor="t">
            <a:spAutoFit/>
          </a:bodyPr>
          <a:lstStyle/>
          <a:p>
            <a:pPr algn="l">
              <a:lnSpc>
                <a:spcPts val="4199"/>
              </a:lnSpc>
            </a:pPr>
            <a:r>
              <a:rPr lang="en-US" sz="2799">
                <a:solidFill>
                  <a:srgbClr val="000000"/>
                </a:solidFill>
                <a:latin typeface="Quicksand"/>
                <a:ea typeface="Quicksand"/>
                <a:cs typeface="Quicksand"/>
                <a:sym typeface="Quicksand"/>
              </a:rPr>
              <a:t>4.3 Overlay Network Protocols and Algorithms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2566901" y="566126"/>
            <a:ext cx="13530436" cy="2819188"/>
          </a:xfrm>
          <a:prstGeom prst="rect">
            <a:avLst/>
          </a:prstGeom>
        </p:spPr>
        <p:txBody>
          <a:bodyPr lIns="0" tIns="0" rIns="0" bIns="0" rtlCol="0" anchor="t">
            <a:spAutoFit/>
          </a:bodyPr>
          <a:lstStyle/>
          <a:p>
            <a:pPr algn="ctr">
              <a:lnSpc>
                <a:spcPts val="7832"/>
              </a:lnSpc>
            </a:pPr>
            <a:r>
              <a:rPr lang="en-US" sz="5594">
                <a:solidFill>
                  <a:srgbClr val="FFFFFF"/>
                </a:solidFill>
                <a:latin typeface="Fredoka"/>
                <a:ea typeface="Fredoka"/>
                <a:cs typeface="Fredoka"/>
                <a:sym typeface="Fredoka"/>
              </a:rPr>
              <a:t>CHARACTERISTICS OF NETWORK OVERLAYS</a:t>
            </a:r>
          </a:p>
          <a:p>
            <a:pPr algn="ctr">
              <a:lnSpc>
                <a:spcPts val="6853"/>
              </a:lnSpc>
            </a:pPr>
            <a:endParaRPr lang="en-US" sz="5594">
              <a:solidFill>
                <a:srgbClr val="FFFFFF"/>
              </a:solidFill>
              <a:latin typeface="Fredoka"/>
              <a:ea typeface="Fredoka"/>
              <a:cs typeface="Fredoka"/>
              <a:sym typeface="Fredoka"/>
            </a:endParaRPr>
          </a:p>
        </p:txBody>
      </p:sp>
      <p:grpSp>
        <p:nvGrpSpPr>
          <p:cNvPr id="3" name="Group 3"/>
          <p:cNvGrpSpPr/>
          <p:nvPr/>
        </p:nvGrpSpPr>
        <p:grpSpPr>
          <a:xfrm>
            <a:off x="9759054" y="2917667"/>
            <a:ext cx="6338111" cy="2571750"/>
            <a:chOff x="0" y="0"/>
            <a:chExt cx="1669297" cy="677333"/>
          </a:xfrm>
        </p:grpSpPr>
        <p:sp>
          <p:nvSpPr>
            <p:cNvPr id="4" name="Freeform 4"/>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5" name="TextBox 5"/>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759054" y="6299403"/>
            <a:ext cx="6338111" cy="2571750"/>
            <a:chOff x="0" y="0"/>
            <a:chExt cx="1669297" cy="677333"/>
          </a:xfrm>
        </p:grpSpPr>
        <p:sp>
          <p:nvSpPr>
            <p:cNvPr id="7" name="Freeform 7"/>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8" name="TextBox 8"/>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9982373" y="3123407"/>
            <a:ext cx="5930209" cy="2032635"/>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a:t>
            </a:r>
            <a:r>
              <a:rPr lang="en-US" sz="2799" b="1">
                <a:solidFill>
                  <a:srgbClr val="000000"/>
                </a:solidFill>
                <a:latin typeface="Quicksand Bold"/>
                <a:ea typeface="Quicksand Bold"/>
                <a:cs typeface="Quicksand Bold"/>
                <a:sym typeface="Quicksand Bold"/>
              </a:rPr>
              <a:t>Interoperability: </a:t>
            </a:r>
            <a:r>
              <a:rPr lang="en-US" sz="2799">
                <a:solidFill>
                  <a:srgbClr val="000000"/>
                </a:solidFill>
                <a:latin typeface="Quicksand"/>
                <a:ea typeface="Quicksand"/>
                <a:cs typeface="Quicksand"/>
                <a:sym typeface="Quicksand"/>
              </a:rPr>
              <a:t>They allow nodes from different networks or domains to communicate seamlessly.</a:t>
            </a:r>
          </a:p>
          <a:p>
            <a:pPr marL="0" lvl="0" indent="0" algn="l">
              <a:lnSpc>
                <a:spcPts val="3750"/>
              </a:lnSpc>
              <a:spcBef>
                <a:spcPct val="0"/>
              </a:spcBef>
            </a:pPr>
            <a:endParaRPr lang="en-US" sz="2799">
              <a:solidFill>
                <a:srgbClr val="000000"/>
              </a:solidFill>
              <a:latin typeface="Quicksand"/>
              <a:ea typeface="Quicksand"/>
              <a:cs typeface="Quicksand"/>
              <a:sym typeface="Quicksand"/>
            </a:endParaRPr>
          </a:p>
        </p:txBody>
      </p:sp>
      <p:sp>
        <p:nvSpPr>
          <p:cNvPr id="10" name="TextBox 10"/>
          <p:cNvSpPr txBox="1"/>
          <p:nvPr/>
        </p:nvSpPr>
        <p:spPr>
          <a:xfrm>
            <a:off x="9982373" y="6505143"/>
            <a:ext cx="5407272" cy="2556510"/>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Flexibility:</a:t>
            </a:r>
            <a:r>
              <a:rPr lang="en-US" sz="2799">
                <a:solidFill>
                  <a:srgbClr val="000000"/>
                </a:solidFill>
                <a:latin typeface="Quicksand"/>
                <a:ea typeface="Quicksand"/>
                <a:cs typeface="Quicksand"/>
                <a:sym typeface="Quicksand"/>
              </a:rPr>
              <a:t> Overlay networks are adaptable to changes in network conditions, topology, or traffic.</a:t>
            </a:r>
          </a:p>
          <a:p>
            <a:pPr marL="0" lvl="0" indent="0" algn="l">
              <a:lnSpc>
                <a:spcPts val="3750"/>
              </a:lnSpc>
              <a:spcBef>
                <a:spcPct val="0"/>
              </a:spcBef>
            </a:pPr>
            <a:endParaRPr lang="en-US" sz="2799">
              <a:solidFill>
                <a:srgbClr val="000000"/>
              </a:solidFill>
              <a:latin typeface="Quicksand"/>
              <a:ea typeface="Quicksand"/>
              <a:cs typeface="Quicksand"/>
              <a:sym typeface="Quicksand"/>
            </a:endParaRPr>
          </a:p>
        </p:txBody>
      </p:sp>
      <p:grpSp>
        <p:nvGrpSpPr>
          <p:cNvPr id="11" name="Group 11"/>
          <p:cNvGrpSpPr/>
          <p:nvPr/>
        </p:nvGrpSpPr>
        <p:grpSpPr>
          <a:xfrm>
            <a:off x="1028700" y="2917667"/>
            <a:ext cx="6338111" cy="2571750"/>
            <a:chOff x="0" y="0"/>
            <a:chExt cx="1669297" cy="677333"/>
          </a:xfrm>
        </p:grpSpPr>
        <p:sp>
          <p:nvSpPr>
            <p:cNvPr id="12" name="Freeform 12"/>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13" name="TextBox 13"/>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6299403"/>
            <a:ext cx="6338111" cy="2571750"/>
            <a:chOff x="0" y="0"/>
            <a:chExt cx="1669297" cy="677333"/>
          </a:xfrm>
        </p:grpSpPr>
        <p:sp>
          <p:nvSpPr>
            <p:cNvPr id="15" name="Freeform 15"/>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16" name="TextBox 16"/>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140360" y="3075782"/>
            <a:ext cx="6114792" cy="2598420"/>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Abstraction:</a:t>
            </a:r>
            <a:r>
              <a:rPr lang="en-US" sz="2799">
                <a:solidFill>
                  <a:srgbClr val="000000"/>
                </a:solidFill>
                <a:latin typeface="Quicksand"/>
                <a:ea typeface="Quicksand"/>
                <a:cs typeface="Quicksand"/>
                <a:sym typeface="Quicksand"/>
              </a:rPr>
              <a:t> Overlays provide a virtualized view of the network, simplifying the management of complex infrastructures.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
        <p:nvSpPr>
          <p:cNvPr id="18" name="TextBox 18"/>
          <p:cNvSpPr txBox="1"/>
          <p:nvPr/>
        </p:nvSpPr>
        <p:spPr>
          <a:xfrm>
            <a:off x="1140360" y="6316548"/>
            <a:ext cx="6114792" cy="259842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a:t>
            </a:r>
            <a:r>
              <a:rPr lang="en-US" sz="2799" b="1">
                <a:solidFill>
                  <a:srgbClr val="000000"/>
                </a:solidFill>
                <a:latin typeface="Quicksand Bold"/>
                <a:ea typeface="Quicksand Bold"/>
                <a:cs typeface="Quicksand Bold"/>
                <a:sym typeface="Quicksand Bold"/>
              </a:rPr>
              <a:t>Custom Routing: </a:t>
            </a:r>
            <a:r>
              <a:rPr lang="en-US" sz="2799">
                <a:solidFill>
                  <a:srgbClr val="000000"/>
                </a:solidFill>
                <a:latin typeface="Quicksand"/>
                <a:ea typeface="Quicksand"/>
                <a:cs typeface="Quicksand"/>
                <a:sym typeface="Quicksand"/>
              </a:rPr>
              <a:t>Unlike physical networks, overlays can implement custom routing algorithms to optimize communication paths.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5477" y="3153027"/>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03405" y="1781427"/>
            <a:ext cx="4100463" cy="952500"/>
            <a:chOff x="0" y="0"/>
            <a:chExt cx="1079957" cy="250864"/>
          </a:xfrm>
        </p:grpSpPr>
        <p:sp>
          <p:nvSpPr>
            <p:cNvPr id="6" name="Freeform 6"/>
            <p:cNvSpPr/>
            <p:nvPr/>
          </p:nvSpPr>
          <p:spPr>
            <a:xfrm>
              <a:off x="0" y="0"/>
              <a:ext cx="1079957" cy="250864"/>
            </a:xfrm>
            <a:custGeom>
              <a:avLst/>
              <a:gdLst/>
              <a:ahLst/>
              <a:cxnLst/>
              <a:rect l="l" t="t" r="r" b="b"/>
              <a:pathLst>
                <a:path w="1079957" h="250864">
                  <a:moveTo>
                    <a:pt x="0" y="0"/>
                  </a:moveTo>
                  <a:lnTo>
                    <a:pt x="1079957" y="0"/>
                  </a:lnTo>
                  <a:lnTo>
                    <a:pt x="1079957" y="250864"/>
                  </a:lnTo>
                  <a:lnTo>
                    <a:pt x="0" y="250864"/>
                  </a:lnTo>
                  <a:close/>
                </a:path>
              </a:pathLst>
            </a:custGeom>
            <a:solidFill>
              <a:srgbClr val="4C5270"/>
            </a:solidFill>
            <a:ln w="47625" cap="sq">
              <a:solidFill>
                <a:srgbClr val="4C5270"/>
              </a:solidFill>
              <a:prstDash val="solid"/>
              <a:miter/>
            </a:ln>
          </p:spPr>
        </p:sp>
        <p:sp>
          <p:nvSpPr>
            <p:cNvPr id="7" name="TextBox 7"/>
            <p:cNvSpPr txBox="1"/>
            <p:nvPr/>
          </p:nvSpPr>
          <p:spPr>
            <a:xfrm>
              <a:off x="0" y="-38100"/>
              <a:ext cx="1079957" cy="28896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090546" y="1781427"/>
            <a:ext cx="4100463" cy="952500"/>
            <a:chOff x="0" y="0"/>
            <a:chExt cx="1079957" cy="250864"/>
          </a:xfrm>
        </p:grpSpPr>
        <p:sp>
          <p:nvSpPr>
            <p:cNvPr id="9" name="Freeform 9"/>
            <p:cNvSpPr/>
            <p:nvPr/>
          </p:nvSpPr>
          <p:spPr>
            <a:xfrm>
              <a:off x="0" y="0"/>
              <a:ext cx="1079957" cy="250864"/>
            </a:xfrm>
            <a:custGeom>
              <a:avLst/>
              <a:gdLst/>
              <a:ahLst/>
              <a:cxnLst/>
              <a:rect l="l" t="t" r="r" b="b"/>
              <a:pathLst>
                <a:path w="1079957" h="250864">
                  <a:moveTo>
                    <a:pt x="0" y="0"/>
                  </a:moveTo>
                  <a:lnTo>
                    <a:pt x="1079957" y="0"/>
                  </a:lnTo>
                  <a:lnTo>
                    <a:pt x="1079957" y="250864"/>
                  </a:lnTo>
                  <a:lnTo>
                    <a:pt x="0" y="250864"/>
                  </a:lnTo>
                  <a:close/>
                </a:path>
              </a:pathLst>
            </a:custGeom>
            <a:solidFill>
              <a:srgbClr val="4C5270"/>
            </a:solidFill>
            <a:ln w="47625" cap="sq">
              <a:solidFill>
                <a:srgbClr val="4C5270"/>
              </a:solidFill>
              <a:prstDash val="solid"/>
              <a:miter/>
            </a:ln>
          </p:spPr>
        </p:sp>
        <p:sp>
          <p:nvSpPr>
            <p:cNvPr id="10" name="TextBox 10"/>
            <p:cNvSpPr txBox="1"/>
            <p:nvPr/>
          </p:nvSpPr>
          <p:spPr>
            <a:xfrm>
              <a:off x="0" y="-38100"/>
              <a:ext cx="1079957" cy="288964"/>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077686" y="1781427"/>
            <a:ext cx="4100463" cy="952500"/>
            <a:chOff x="0" y="0"/>
            <a:chExt cx="1079957" cy="250864"/>
          </a:xfrm>
        </p:grpSpPr>
        <p:sp>
          <p:nvSpPr>
            <p:cNvPr id="12" name="Freeform 12"/>
            <p:cNvSpPr/>
            <p:nvPr/>
          </p:nvSpPr>
          <p:spPr>
            <a:xfrm>
              <a:off x="0" y="0"/>
              <a:ext cx="1079957" cy="250864"/>
            </a:xfrm>
            <a:custGeom>
              <a:avLst/>
              <a:gdLst/>
              <a:ahLst/>
              <a:cxnLst/>
              <a:rect l="l" t="t" r="r" b="b"/>
              <a:pathLst>
                <a:path w="1079957" h="250864">
                  <a:moveTo>
                    <a:pt x="0" y="0"/>
                  </a:moveTo>
                  <a:lnTo>
                    <a:pt x="1079957" y="0"/>
                  </a:lnTo>
                  <a:lnTo>
                    <a:pt x="1079957" y="250864"/>
                  </a:lnTo>
                  <a:lnTo>
                    <a:pt x="0" y="250864"/>
                  </a:lnTo>
                  <a:close/>
                </a:path>
              </a:pathLst>
            </a:custGeom>
            <a:solidFill>
              <a:srgbClr val="4C5270"/>
            </a:solidFill>
            <a:ln w="47625" cap="sq">
              <a:solidFill>
                <a:srgbClr val="4C5270"/>
              </a:solidFill>
              <a:prstDash val="solid"/>
              <a:miter/>
            </a:ln>
          </p:spPr>
        </p:sp>
        <p:sp>
          <p:nvSpPr>
            <p:cNvPr id="13" name="TextBox 13"/>
            <p:cNvSpPr txBox="1"/>
            <p:nvPr/>
          </p:nvSpPr>
          <p:spPr>
            <a:xfrm>
              <a:off x="0" y="-38100"/>
              <a:ext cx="1079957" cy="288964"/>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77952" y="619377"/>
            <a:ext cx="15478125" cy="31623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IMPORTANCE OF OVERLAY NETWORKS IN DISTRIBUTED SYSTEMS</a:t>
            </a:r>
          </a:p>
          <a:p>
            <a:pPr algn="ctr">
              <a:lnSpc>
                <a:spcPts val="8400"/>
              </a:lnSpc>
            </a:pPr>
            <a:endParaRPr lang="en-US" sz="6000">
              <a:solidFill>
                <a:srgbClr val="FFFFFF"/>
              </a:solidFill>
              <a:latin typeface="Fredoka"/>
              <a:ea typeface="Fredoka"/>
              <a:cs typeface="Fredoka"/>
              <a:sym typeface="Fredoka"/>
            </a:endParaRPr>
          </a:p>
        </p:txBody>
      </p:sp>
      <p:sp>
        <p:nvSpPr>
          <p:cNvPr id="15" name="TextBox 15"/>
          <p:cNvSpPr txBox="1"/>
          <p:nvPr/>
        </p:nvSpPr>
        <p:spPr>
          <a:xfrm>
            <a:off x="1777952" y="4045667"/>
            <a:ext cx="14400197" cy="3900170"/>
          </a:xfrm>
          <a:prstGeom prst="rect">
            <a:avLst/>
          </a:prstGeom>
        </p:spPr>
        <p:txBody>
          <a:bodyPr lIns="0" tIns="0" rIns="0" bIns="0" rtlCol="0" anchor="t">
            <a:spAutoFit/>
          </a:bodyPr>
          <a:lstStyle/>
          <a:p>
            <a:pPr marL="690881" lvl="1" indent="-345440" algn="just">
              <a:lnSpc>
                <a:spcPts val="4480"/>
              </a:lnSpc>
              <a:spcBef>
                <a:spcPct val="0"/>
              </a:spcBef>
              <a:buFont typeface="Arial"/>
              <a:buChar char="•"/>
            </a:pPr>
            <a:r>
              <a:rPr lang="en-US" sz="3200">
                <a:solidFill>
                  <a:srgbClr val="000000"/>
                </a:solidFill>
                <a:latin typeface="Quicksand"/>
                <a:ea typeface="Quicksand"/>
                <a:cs typeface="Quicksand"/>
                <a:sym typeface="Quicksand"/>
              </a:rPr>
              <a:t>Distributed systems consist of multiple independent nodes that work together to perform a task. In such systems, communication between nodes is essential. The underlying physical network, however, might not always support the requirements of these systems. This is where overlay networks become important. They provide a unified communication model that abstracts the complexity of the physical network, enabling seamless interactions between nodes.</a:t>
            </a:r>
          </a:p>
        </p:txBody>
      </p:sp>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2566901" y="566126"/>
            <a:ext cx="13530436" cy="2819188"/>
          </a:xfrm>
          <a:prstGeom prst="rect">
            <a:avLst/>
          </a:prstGeom>
        </p:spPr>
        <p:txBody>
          <a:bodyPr lIns="0" tIns="0" rIns="0" bIns="0" rtlCol="0" anchor="t">
            <a:spAutoFit/>
          </a:bodyPr>
          <a:lstStyle/>
          <a:p>
            <a:pPr algn="ctr">
              <a:lnSpc>
                <a:spcPts val="7832"/>
              </a:lnSpc>
            </a:pPr>
            <a:r>
              <a:rPr lang="en-US" sz="5594">
                <a:solidFill>
                  <a:srgbClr val="FFFFFF"/>
                </a:solidFill>
                <a:latin typeface="Fredoka"/>
                <a:ea typeface="Fredoka"/>
                <a:cs typeface="Fredoka"/>
                <a:sym typeface="Fredoka"/>
              </a:rPr>
              <a:t>KEY BENEFITS OF OVERLAY NETWORKS IN DISTRIBUTED SYSTEMS</a:t>
            </a:r>
          </a:p>
          <a:p>
            <a:pPr algn="ctr">
              <a:lnSpc>
                <a:spcPts val="6853"/>
              </a:lnSpc>
            </a:pPr>
            <a:endParaRPr lang="en-US" sz="5594">
              <a:solidFill>
                <a:srgbClr val="FFFFFF"/>
              </a:solidFill>
              <a:latin typeface="Fredoka"/>
              <a:ea typeface="Fredoka"/>
              <a:cs typeface="Fredoka"/>
              <a:sym typeface="Fredoka"/>
            </a:endParaRPr>
          </a:p>
        </p:txBody>
      </p:sp>
      <p:grpSp>
        <p:nvGrpSpPr>
          <p:cNvPr id="3" name="Group 3"/>
          <p:cNvGrpSpPr/>
          <p:nvPr/>
        </p:nvGrpSpPr>
        <p:grpSpPr>
          <a:xfrm>
            <a:off x="9759054" y="2917667"/>
            <a:ext cx="6338111" cy="2571750"/>
            <a:chOff x="0" y="0"/>
            <a:chExt cx="1669297" cy="677333"/>
          </a:xfrm>
        </p:grpSpPr>
        <p:sp>
          <p:nvSpPr>
            <p:cNvPr id="4" name="Freeform 4"/>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5" name="TextBox 5"/>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759054" y="6299403"/>
            <a:ext cx="6338111" cy="2571750"/>
            <a:chOff x="0" y="0"/>
            <a:chExt cx="1669297" cy="677333"/>
          </a:xfrm>
        </p:grpSpPr>
        <p:sp>
          <p:nvSpPr>
            <p:cNvPr id="7" name="Freeform 7"/>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8" name="TextBox 8"/>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9870989" y="3085307"/>
            <a:ext cx="6114241" cy="2696540"/>
          </a:xfrm>
          <a:prstGeom prst="rect">
            <a:avLst/>
          </a:prstGeom>
        </p:spPr>
        <p:txBody>
          <a:bodyPr lIns="0" tIns="0" rIns="0" bIns="0" rtlCol="0" anchor="t">
            <a:spAutoFit/>
          </a:bodyPr>
          <a:lstStyle/>
          <a:p>
            <a:pPr marL="0" lvl="0" indent="0" algn="l">
              <a:lnSpc>
                <a:spcPts val="3738"/>
              </a:lnSpc>
              <a:spcBef>
                <a:spcPct val="0"/>
              </a:spcBef>
            </a:pPr>
            <a:r>
              <a:rPr lang="en-US" sz="2492">
                <a:solidFill>
                  <a:srgbClr val="000000"/>
                </a:solidFill>
                <a:latin typeface="Quicksand"/>
                <a:ea typeface="Quicksand"/>
                <a:cs typeface="Quicksand"/>
                <a:sym typeface="Quicksand"/>
              </a:rPr>
              <a:t>·</a:t>
            </a:r>
            <a:r>
              <a:rPr lang="en-US" sz="2492" b="1">
                <a:solidFill>
                  <a:srgbClr val="000000"/>
                </a:solidFill>
                <a:latin typeface="Quicksand Bold"/>
                <a:ea typeface="Quicksand Bold"/>
                <a:cs typeface="Quicksand Bold"/>
                <a:sym typeface="Quicksand Bold"/>
              </a:rPr>
              <a:t>Dynamic Topology Management: </a:t>
            </a:r>
            <a:r>
              <a:rPr lang="en-US" sz="2492">
                <a:solidFill>
                  <a:srgbClr val="000000"/>
                </a:solidFill>
                <a:latin typeface="Quicksand"/>
                <a:ea typeface="Quicksand"/>
                <a:cs typeface="Quicksand"/>
                <a:sym typeface="Quicksand"/>
              </a:rPr>
              <a:t>As nodes join or leave the network, overlays can quickly adjust the logical topology, maintaining a stable communication framework.</a:t>
            </a:r>
          </a:p>
          <a:p>
            <a:pPr marL="0" lvl="0" indent="0" algn="l">
              <a:lnSpc>
                <a:spcPts val="2935"/>
              </a:lnSpc>
              <a:spcBef>
                <a:spcPct val="0"/>
              </a:spcBef>
            </a:pPr>
            <a:endParaRPr lang="en-US" sz="2492">
              <a:solidFill>
                <a:srgbClr val="000000"/>
              </a:solidFill>
              <a:latin typeface="Quicksand"/>
              <a:ea typeface="Quicksand"/>
              <a:cs typeface="Quicksand"/>
              <a:sym typeface="Quicksand"/>
            </a:endParaRPr>
          </a:p>
        </p:txBody>
      </p:sp>
      <p:sp>
        <p:nvSpPr>
          <p:cNvPr id="10" name="TextBox 10"/>
          <p:cNvSpPr txBox="1"/>
          <p:nvPr/>
        </p:nvSpPr>
        <p:spPr>
          <a:xfrm>
            <a:off x="9982373" y="6505143"/>
            <a:ext cx="5407272" cy="3044190"/>
          </a:xfrm>
          <a:prstGeom prst="rect">
            <a:avLst/>
          </a:prstGeom>
        </p:spPr>
        <p:txBody>
          <a:bodyPr lIns="0" tIns="0" rIns="0" bIns="0" rtlCol="0" anchor="t">
            <a:spAutoFit/>
          </a:bodyPr>
          <a:lstStyle/>
          <a:p>
            <a:pPr algn="l">
              <a:lnSpc>
                <a:spcPts val="4050"/>
              </a:lnSpc>
            </a:pPr>
            <a:r>
              <a:rPr lang="en-US" sz="2700" b="1">
                <a:solidFill>
                  <a:srgbClr val="000000"/>
                </a:solidFill>
                <a:latin typeface="Quicksand Bold"/>
                <a:ea typeface="Quicksand Bold"/>
                <a:cs typeface="Quicksand Bold"/>
                <a:sym typeface="Quicksand Bold"/>
              </a:rPr>
              <a:t>Optimized Resource Usage: </a:t>
            </a:r>
            <a:r>
              <a:rPr lang="en-US" sz="2700">
                <a:solidFill>
                  <a:srgbClr val="000000"/>
                </a:solidFill>
                <a:latin typeface="Quicksand"/>
                <a:ea typeface="Quicksand"/>
                <a:cs typeface="Quicksand"/>
                <a:sym typeface="Quicksand"/>
              </a:rPr>
              <a:t>Overlay networks enable better utilization of network resources, reducing congestion and latency.</a:t>
            </a:r>
          </a:p>
          <a:p>
            <a:pPr marL="0" lvl="0" indent="0" algn="l">
              <a:lnSpc>
                <a:spcPts val="4199"/>
              </a:lnSpc>
              <a:spcBef>
                <a:spcPct val="0"/>
              </a:spcBef>
            </a:pPr>
            <a:endParaRPr lang="en-US" sz="2700">
              <a:solidFill>
                <a:srgbClr val="000000"/>
              </a:solidFill>
              <a:latin typeface="Quicksand"/>
              <a:ea typeface="Quicksand"/>
              <a:cs typeface="Quicksand"/>
              <a:sym typeface="Quicksand"/>
            </a:endParaRPr>
          </a:p>
          <a:p>
            <a:pPr marL="0" lvl="0" indent="0" algn="l">
              <a:lnSpc>
                <a:spcPts val="3750"/>
              </a:lnSpc>
              <a:spcBef>
                <a:spcPct val="0"/>
              </a:spcBef>
            </a:pPr>
            <a:endParaRPr lang="en-US" sz="2700">
              <a:solidFill>
                <a:srgbClr val="000000"/>
              </a:solidFill>
              <a:latin typeface="Quicksand"/>
              <a:ea typeface="Quicksand"/>
              <a:cs typeface="Quicksand"/>
              <a:sym typeface="Quicksand"/>
            </a:endParaRPr>
          </a:p>
        </p:txBody>
      </p:sp>
      <p:grpSp>
        <p:nvGrpSpPr>
          <p:cNvPr id="11" name="Group 11"/>
          <p:cNvGrpSpPr/>
          <p:nvPr/>
        </p:nvGrpSpPr>
        <p:grpSpPr>
          <a:xfrm>
            <a:off x="1028700" y="2917667"/>
            <a:ext cx="6338111" cy="2571750"/>
            <a:chOff x="0" y="0"/>
            <a:chExt cx="1669297" cy="677333"/>
          </a:xfrm>
        </p:grpSpPr>
        <p:sp>
          <p:nvSpPr>
            <p:cNvPr id="12" name="Freeform 12"/>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13" name="TextBox 13"/>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6299403"/>
            <a:ext cx="6338111" cy="2571750"/>
            <a:chOff x="0" y="0"/>
            <a:chExt cx="1669297" cy="677333"/>
          </a:xfrm>
        </p:grpSpPr>
        <p:sp>
          <p:nvSpPr>
            <p:cNvPr id="15" name="Freeform 15"/>
            <p:cNvSpPr/>
            <p:nvPr/>
          </p:nvSpPr>
          <p:spPr>
            <a:xfrm>
              <a:off x="0" y="0"/>
              <a:ext cx="1669297" cy="677333"/>
            </a:xfrm>
            <a:custGeom>
              <a:avLst/>
              <a:gdLst/>
              <a:ahLst/>
              <a:cxnLst/>
              <a:rect l="l" t="t" r="r" b="b"/>
              <a:pathLst>
                <a:path w="1669297" h="677333">
                  <a:moveTo>
                    <a:pt x="0" y="0"/>
                  </a:moveTo>
                  <a:lnTo>
                    <a:pt x="1669297" y="0"/>
                  </a:lnTo>
                  <a:lnTo>
                    <a:pt x="1669297" y="677333"/>
                  </a:lnTo>
                  <a:lnTo>
                    <a:pt x="0" y="677333"/>
                  </a:lnTo>
                  <a:close/>
                </a:path>
              </a:pathLst>
            </a:custGeom>
            <a:solidFill>
              <a:srgbClr val="FFFFFF"/>
            </a:solidFill>
          </p:spPr>
        </p:sp>
        <p:sp>
          <p:nvSpPr>
            <p:cNvPr id="16" name="TextBox 16"/>
            <p:cNvSpPr txBox="1"/>
            <p:nvPr/>
          </p:nvSpPr>
          <p:spPr>
            <a:xfrm>
              <a:off x="0" y="-38100"/>
              <a:ext cx="1669297" cy="715433"/>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140360" y="3075782"/>
            <a:ext cx="6114792" cy="2562225"/>
          </a:xfrm>
          <a:prstGeom prst="rect">
            <a:avLst/>
          </a:prstGeom>
        </p:spPr>
        <p:txBody>
          <a:bodyPr lIns="0" tIns="0" rIns="0" bIns="0" rtlCol="0" anchor="t">
            <a:spAutoFit/>
          </a:bodyPr>
          <a:lstStyle/>
          <a:p>
            <a:pPr marL="0" lvl="0" indent="0" algn="l">
              <a:lnSpc>
                <a:spcPts val="4050"/>
              </a:lnSpc>
              <a:spcBef>
                <a:spcPct val="0"/>
              </a:spcBef>
            </a:pPr>
            <a:r>
              <a:rPr lang="en-US" sz="2700" b="1">
                <a:solidFill>
                  <a:srgbClr val="000000"/>
                </a:solidFill>
                <a:latin typeface="Quicksand Bold"/>
                <a:ea typeface="Quicksand Bold"/>
                <a:cs typeface="Quicksand Bold"/>
                <a:sym typeface="Quicksand Bold"/>
              </a:rPr>
              <a:t>Scalability:</a:t>
            </a:r>
            <a:r>
              <a:rPr lang="en-US" sz="2700">
                <a:solidFill>
                  <a:srgbClr val="000000"/>
                </a:solidFill>
                <a:latin typeface="Quicksand"/>
                <a:ea typeface="Quicksand"/>
                <a:cs typeface="Quicksand"/>
                <a:sym typeface="Quicksand"/>
              </a:rPr>
              <a:t> Overlays allow distributed systems to scale efficiently by adding or removing nodes without impacting the overall system.</a:t>
            </a:r>
          </a:p>
          <a:p>
            <a:pPr marL="0" lvl="0" indent="0" algn="l">
              <a:lnSpc>
                <a:spcPts val="4199"/>
              </a:lnSpc>
              <a:spcBef>
                <a:spcPct val="0"/>
              </a:spcBef>
            </a:pPr>
            <a:endParaRPr lang="en-US" sz="2700">
              <a:solidFill>
                <a:srgbClr val="000000"/>
              </a:solidFill>
              <a:latin typeface="Quicksand"/>
              <a:ea typeface="Quicksand"/>
              <a:cs typeface="Quicksand"/>
              <a:sym typeface="Quicksand"/>
            </a:endParaRPr>
          </a:p>
        </p:txBody>
      </p:sp>
      <p:sp>
        <p:nvSpPr>
          <p:cNvPr id="18" name="TextBox 18"/>
          <p:cNvSpPr txBox="1"/>
          <p:nvPr/>
        </p:nvSpPr>
        <p:spPr>
          <a:xfrm>
            <a:off x="1140360" y="6316548"/>
            <a:ext cx="6114792" cy="2598420"/>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Fault Tolerance:</a:t>
            </a:r>
            <a:r>
              <a:rPr lang="en-US" sz="2799">
                <a:solidFill>
                  <a:srgbClr val="000000"/>
                </a:solidFill>
                <a:latin typeface="Quicksand"/>
                <a:ea typeface="Quicksand"/>
                <a:cs typeface="Quicksand"/>
                <a:sym typeface="Quicksand"/>
              </a:rPr>
              <a:t>Through redundancy and alternative routing paths, overlays increase the fault tolerance of distributed systems.</a:t>
            </a: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6548749" y="1028700"/>
            <a:ext cx="10715625" cy="8229600"/>
            <a:chOff x="0" y="0"/>
            <a:chExt cx="2822222" cy="2167467"/>
          </a:xfrm>
        </p:grpSpPr>
        <p:sp>
          <p:nvSpPr>
            <p:cNvPr id="3" name="Freeform 3"/>
            <p:cNvSpPr/>
            <p:nvPr/>
          </p:nvSpPr>
          <p:spPr>
            <a:xfrm>
              <a:off x="0" y="0"/>
              <a:ext cx="2822222" cy="2167467"/>
            </a:xfrm>
            <a:custGeom>
              <a:avLst/>
              <a:gdLst/>
              <a:ahLst/>
              <a:cxnLst/>
              <a:rect l="l" t="t" r="r" b="b"/>
              <a:pathLst>
                <a:path w="2822222" h="2167467">
                  <a:moveTo>
                    <a:pt x="0" y="0"/>
                  </a:moveTo>
                  <a:lnTo>
                    <a:pt x="2822222" y="0"/>
                  </a:lnTo>
                  <a:lnTo>
                    <a:pt x="2822222" y="2167467"/>
                  </a:lnTo>
                  <a:lnTo>
                    <a:pt x="0" y="2167467"/>
                  </a:lnTo>
                  <a:close/>
                </a:path>
              </a:pathLst>
            </a:custGeom>
            <a:solidFill>
              <a:srgbClr val="FFFFFF"/>
            </a:solidFill>
          </p:spPr>
        </p:sp>
        <p:sp>
          <p:nvSpPr>
            <p:cNvPr id="4" name="TextBox 4"/>
            <p:cNvSpPr txBox="1"/>
            <p:nvPr/>
          </p:nvSpPr>
          <p:spPr>
            <a:xfrm>
              <a:off x="0" y="-38100"/>
              <a:ext cx="2822222" cy="22055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63562" y="2835068"/>
            <a:ext cx="5138738" cy="5295900"/>
          </a:xfrm>
          <a:prstGeom prst="rect">
            <a:avLst/>
          </a:prstGeom>
        </p:spPr>
        <p:txBody>
          <a:bodyPr lIns="0" tIns="0" rIns="0" bIns="0" rtlCol="0" anchor="t">
            <a:spAutoFit/>
          </a:bodyPr>
          <a:lstStyle/>
          <a:p>
            <a:pPr algn="just">
              <a:lnSpc>
                <a:spcPts val="8400"/>
              </a:lnSpc>
            </a:pPr>
            <a:r>
              <a:rPr lang="en-US" sz="6000">
                <a:solidFill>
                  <a:srgbClr val="FFFFFF"/>
                </a:solidFill>
                <a:latin typeface="Fredoka"/>
                <a:ea typeface="Fredoka"/>
                <a:cs typeface="Fredoka"/>
                <a:sym typeface="Fredoka"/>
              </a:rPr>
              <a:t>TYPES OF NETWORK OVERLAY MODELS</a:t>
            </a:r>
          </a:p>
          <a:p>
            <a:pPr algn="just">
              <a:lnSpc>
                <a:spcPts val="8400"/>
              </a:lnSpc>
            </a:pPr>
            <a:endParaRPr lang="en-US" sz="6000">
              <a:solidFill>
                <a:srgbClr val="FFFFFF"/>
              </a:solidFill>
              <a:latin typeface="Fredoka"/>
              <a:ea typeface="Fredoka"/>
              <a:cs typeface="Fredoka"/>
              <a:sym typeface="Fredoka"/>
            </a:endParaRPr>
          </a:p>
        </p:txBody>
      </p:sp>
      <p:sp>
        <p:nvSpPr>
          <p:cNvPr id="6" name="TextBox 6"/>
          <p:cNvSpPr txBox="1"/>
          <p:nvPr/>
        </p:nvSpPr>
        <p:spPr>
          <a:xfrm>
            <a:off x="6788929" y="2863643"/>
            <a:ext cx="9904989" cy="4170045"/>
          </a:xfrm>
          <a:prstGeom prst="rect">
            <a:avLst/>
          </a:prstGeom>
        </p:spPr>
        <p:txBody>
          <a:bodyPr lIns="0" tIns="0" rIns="0" bIns="0" rtlCol="0" anchor="t">
            <a:spAutoFit/>
          </a:bodyPr>
          <a:lstStyle/>
          <a:p>
            <a:pPr algn="l">
              <a:lnSpc>
                <a:spcPts val="4199"/>
              </a:lnSpc>
            </a:pPr>
            <a:r>
              <a:rPr lang="en-US" sz="2799" b="1">
                <a:solidFill>
                  <a:srgbClr val="000000"/>
                </a:solidFill>
                <a:latin typeface="Quicksand Bold"/>
                <a:ea typeface="Quicksand Bold"/>
                <a:cs typeface="Quicksand Bold"/>
                <a:sym typeface="Quicksand Bold"/>
              </a:rPr>
              <a:t>1. Structured Overlay Networks</a:t>
            </a:r>
          </a:p>
          <a:p>
            <a:pPr algn="l">
              <a:lnSpc>
                <a:spcPts val="4199"/>
              </a:lnSpc>
            </a:pPr>
            <a:r>
              <a:rPr lang="en-US" sz="2799">
                <a:solidFill>
                  <a:srgbClr val="000000"/>
                </a:solidFill>
                <a:latin typeface="Quicksand"/>
                <a:ea typeface="Quicksand"/>
                <a:cs typeface="Quicksand"/>
                <a:sym typeface="Quicksand"/>
              </a:rPr>
              <a:t>Organized networks with a fixed structure where data is stored and found efficiently using systems like DHT.</a:t>
            </a:r>
          </a:p>
          <a:p>
            <a:pPr algn="l">
              <a:lnSpc>
                <a:spcPts val="4199"/>
              </a:lnSpc>
            </a:pPr>
            <a:r>
              <a:rPr lang="en-US" sz="2799" b="1">
                <a:solidFill>
                  <a:srgbClr val="000000"/>
                </a:solidFill>
                <a:latin typeface="Quicksand Bold"/>
                <a:ea typeface="Quicksand Bold"/>
                <a:cs typeface="Quicksand Bold"/>
                <a:sym typeface="Quicksand Bold"/>
              </a:rPr>
              <a:t>Key Characteristics:</a:t>
            </a:r>
          </a:p>
          <a:p>
            <a:pPr algn="l">
              <a:lnSpc>
                <a:spcPts val="4199"/>
              </a:lnSpc>
            </a:pPr>
            <a:r>
              <a:rPr lang="en-US" sz="2799">
                <a:solidFill>
                  <a:srgbClr val="000000"/>
                </a:solidFill>
                <a:latin typeface="Quicksand"/>
                <a:ea typeface="Quicksand"/>
                <a:cs typeface="Quicksand"/>
                <a:sym typeface="Quicksand"/>
              </a:rPr>
              <a:t> • Data is placed in specific nodes using a hash function</a:t>
            </a:r>
          </a:p>
          <a:p>
            <a:pPr algn="l">
              <a:lnSpc>
                <a:spcPts val="4199"/>
              </a:lnSpc>
            </a:pPr>
            <a:r>
              <a:rPr lang="en-US" sz="2799">
                <a:solidFill>
                  <a:srgbClr val="000000"/>
                </a:solidFill>
                <a:latin typeface="Quicksand"/>
                <a:ea typeface="Quicksand"/>
                <a:cs typeface="Quicksand"/>
                <a:sym typeface="Quicksand"/>
              </a:rPr>
              <a:t> • Fast and efficient searching</a:t>
            </a:r>
          </a:p>
          <a:p>
            <a:pPr algn="l">
              <a:lnSpc>
                <a:spcPts val="4199"/>
              </a:lnSpc>
            </a:pPr>
            <a:r>
              <a:rPr lang="en-US" sz="2799">
                <a:solidFill>
                  <a:srgbClr val="000000"/>
                </a:solidFill>
                <a:latin typeface="Quicksand"/>
                <a:ea typeface="Quicksand"/>
                <a:cs typeface="Quicksand"/>
                <a:sym typeface="Quicksand"/>
              </a:rPr>
              <a:t> • Easy to scale as the network grows</a:t>
            </a:r>
          </a:p>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Examples: </a:t>
            </a:r>
            <a:r>
              <a:rPr lang="en-US" sz="2799">
                <a:solidFill>
                  <a:srgbClr val="000000"/>
                </a:solidFill>
                <a:latin typeface="Quicksand"/>
                <a:ea typeface="Quicksand"/>
                <a:cs typeface="Quicksand"/>
                <a:sym typeface="Quicksand"/>
              </a:rPr>
              <a:t>Chord, Pastry</a:t>
            </a:r>
          </a:p>
        </p:txBody>
      </p:sp>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6548749" y="1028700"/>
            <a:ext cx="10715625" cy="8229600"/>
            <a:chOff x="0" y="0"/>
            <a:chExt cx="2822222" cy="2167467"/>
          </a:xfrm>
        </p:grpSpPr>
        <p:sp>
          <p:nvSpPr>
            <p:cNvPr id="3" name="Freeform 3"/>
            <p:cNvSpPr/>
            <p:nvPr/>
          </p:nvSpPr>
          <p:spPr>
            <a:xfrm>
              <a:off x="0" y="0"/>
              <a:ext cx="2822222" cy="2167467"/>
            </a:xfrm>
            <a:custGeom>
              <a:avLst/>
              <a:gdLst/>
              <a:ahLst/>
              <a:cxnLst/>
              <a:rect l="l" t="t" r="r" b="b"/>
              <a:pathLst>
                <a:path w="2822222" h="2167467">
                  <a:moveTo>
                    <a:pt x="0" y="0"/>
                  </a:moveTo>
                  <a:lnTo>
                    <a:pt x="2822222" y="0"/>
                  </a:lnTo>
                  <a:lnTo>
                    <a:pt x="2822222" y="2167467"/>
                  </a:lnTo>
                  <a:lnTo>
                    <a:pt x="0" y="2167467"/>
                  </a:lnTo>
                  <a:close/>
                </a:path>
              </a:pathLst>
            </a:custGeom>
            <a:solidFill>
              <a:srgbClr val="FFFFFF"/>
            </a:solidFill>
          </p:spPr>
        </p:sp>
        <p:sp>
          <p:nvSpPr>
            <p:cNvPr id="4" name="TextBox 4"/>
            <p:cNvSpPr txBox="1"/>
            <p:nvPr/>
          </p:nvSpPr>
          <p:spPr>
            <a:xfrm>
              <a:off x="0" y="-38100"/>
              <a:ext cx="2822222" cy="22055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63562" y="2835068"/>
            <a:ext cx="5138738" cy="5295900"/>
          </a:xfrm>
          <a:prstGeom prst="rect">
            <a:avLst/>
          </a:prstGeom>
        </p:spPr>
        <p:txBody>
          <a:bodyPr lIns="0" tIns="0" rIns="0" bIns="0" rtlCol="0" anchor="t">
            <a:spAutoFit/>
          </a:bodyPr>
          <a:lstStyle/>
          <a:p>
            <a:pPr algn="just">
              <a:lnSpc>
                <a:spcPts val="8400"/>
              </a:lnSpc>
            </a:pPr>
            <a:r>
              <a:rPr lang="en-US" sz="6000">
                <a:solidFill>
                  <a:srgbClr val="FFFFFF"/>
                </a:solidFill>
                <a:latin typeface="Fredoka"/>
                <a:ea typeface="Fredoka"/>
                <a:cs typeface="Fredoka"/>
                <a:sym typeface="Fredoka"/>
              </a:rPr>
              <a:t>TYPES OF NETWORK OVERLAY MODELS</a:t>
            </a:r>
          </a:p>
          <a:p>
            <a:pPr algn="just">
              <a:lnSpc>
                <a:spcPts val="8400"/>
              </a:lnSpc>
            </a:pPr>
            <a:endParaRPr lang="en-US" sz="6000">
              <a:solidFill>
                <a:srgbClr val="FFFFFF"/>
              </a:solidFill>
              <a:latin typeface="Fredoka"/>
              <a:ea typeface="Fredoka"/>
              <a:cs typeface="Fredoka"/>
              <a:sym typeface="Fredoka"/>
            </a:endParaRPr>
          </a:p>
        </p:txBody>
      </p:sp>
      <p:sp>
        <p:nvSpPr>
          <p:cNvPr id="6" name="TextBox 6"/>
          <p:cNvSpPr txBox="1"/>
          <p:nvPr/>
        </p:nvSpPr>
        <p:spPr>
          <a:xfrm>
            <a:off x="6788929" y="2863643"/>
            <a:ext cx="9904989" cy="4170045"/>
          </a:xfrm>
          <a:prstGeom prst="rect">
            <a:avLst/>
          </a:prstGeom>
        </p:spPr>
        <p:txBody>
          <a:bodyPr lIns="0" tIns="0" rIns="0" bIns="0" rtlCol="0" anchor="t">
            <a:spAutoFit/>
          </a:bodyPr>
          <a:lstStyle/>
          <a:p>
            <a:pPr algn="l">
              <a:lnSpc>
                <a:spcPts val="4199"/>
              </a:lnSpc>
            </a:pPr>
            <a:r>
              <a:rPr lang="en-US" sz="2799" b="1">
                <a:solidFill>
                  <a:srgbClr val="000000"/>
                </a:solidFill>
                <a:latin typeface="Quicksand Bold"/>
                <a:ea typeface="Quicksand Bold"/>
                <a:cs typeface="Quicksand Bold"/>
                <a:sym typeface="Quicksand Bold"/>
              </a:rPr>
              <a:t>2. Unstructured Overlay Networks</a:t>
            </a:r>
          </a:p>
          <a:p>
            <a:pPr algn="l">
              <a:lnSpc>
                <a:spcPts val="4199"/>
              </a:lnSpc>
            </a:pPr>
            <a:r>
              <a:rPr lang="en-US" sz="2799" b="1">
                <a:solidFill>
                  <a:srgbClr val="000000"/>
                </a:solidFill>
                <a:latin typeface="Quicksand Bold"/>
                <a:ea typeface="Quicksand Bold"/>
                <a:cs typeface="Quicksand Bold"/>
                <a:sym typeface="Quicksand Bold"/>
              </a:rPr>
              <a:t> </a:t>
            </a:r>
            <a:r>
              <a:rPr lang="en-US" sz="2799">
                <a:solidFill>
                  <a:srgbClr val="000000"/>
                </a:solidFill>
                <a:latin typeface="Quicksand"/>
                <a:ea typeface="Quicksand"/>
                <a:cs typeface="Quicksand"/>
                <a:sym typeface="Quicksand"/>
              </a:rPr>
              <a:t>Flexible networks with no fixed structure—nodes connect randomly.</a:t>
            </a:r>
          </a:p>
          <a:p>
            <a:pPr algn="l">
              <a:lnSpc>
                <a:spcPts val="4199"/>
              </a:lnSpc>
            </a:pPr>
            <a:r>
              <a:rPr lang="en-US" sz="2799" b="1">
                <a:solidFill>
                  <a:srgbClr val="000000"/>
                </a:solidFill>
                <a:latin typeface="Quicksand Bold"/>
                <a:ea typeface="Quicksand Bold"/>
                <a:cs typeface="Quicksand Bold"/>
                <a:sym typeface="Quicksand Bold"/>
              </a:rPr>
              <a:t>Key Characteristics:</a:t>
            </a:r>
          </a:p>
          <a:p>
            <a:pPr algn="l">
              <a:lnSpc>
                <a:spcPts val="4199"/>
              </a:lnSpc>
            </a:pPr>
            <a:r>
              <a:rPr lang="en-US" sz="2799" b="1">
                <a:solidFill>
                  <a:srgbClr val="000000"/>
                </a:solidFill>
                <a:latin typeface="Quicksand Bold"/>
                <a:ea typeface="Quicksand Bold"/>
                <a:cs typeface="Quicksand Bold"/>
                <a:sym typeface="Quicksand Bold"/>
              </a:rPr>
              <a:t> </a:t>
            </a:r>
            <a:r>
              <a:rPr lang="en-US" sz="2799">
                <a:solidFill>
                  <a:srgbClr val="000000"/>
                </a:solidFill>
                <a:latin typeface="Quicksand"/>
                <a:ea typeface="Quicksand"/>
                <a:cs typeface="Quicksand"/>
                <a:sym typeface="Quicksand"/>
              </a:rPr>
              <a:t>• No strict organization</a:t>
            </a:r>
          </a:p>
          <a:p>
            <a:pPr algn="l">
              <a:lnSpc>
                <a:spcPts val="4199"/>
              </a:lnSpc>
            </a:pPr>
            <a:r>
              <a:rPr lang="en-US" sz="2799">
                <a:solidFill>
                  <a:srgbClr val="000000"/>
                </a:solidFill>
                <a:latin typeface="Quicksand"/>
                <a:ea typeface="Quicksand"/>
                <a:cs typeface="Quicksand"/>
                <a:sym typeface="Quicksand"/>
              </a:rPr>
              <a:t> • Data is found by searching (flooding or gossiping)</a:t>
            </a:r>
          </a:p>
          <a:p>
            <a:pPr algn="l">
              <a:lnSpc>
                <a:spcPts val="4199"/>
              </a:lnSpc>
            </a:pPr>
            <a:r>
              <a:rPr lang="en-US" sz="2799">
                <a:solidFill>
                  <a:srgbClr val="000000"/>
                </a:solidFill>
                <a:latin typeface="Quicksand"/>
                <a:ea typeface="Quicksand"/>
                <a:cs typeface="Quicksand"/>
                <a:sym typeface="Quicksand"/>
              </a:rPr>
              <a:t> • Can handle changes easily but slower in searching</a:t>
            </a:r>
          </a:p>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Examples: </a:t>
            </a:r>
            <a:r>
              <a:rPr lang="en-US" sz="2799">
                <a:solidFill>
                  <a:srgbClr val="000000"/>
                </a:solidFill>
                <a:latin typeface="Quicksand"/>
                <a:ea typeface="Quicksand"/>
                <a:cs typeface="Quicksand"/>
                <a:sym typeface="Quicksand"/>
              </a:rPr>
              <a:t>Gnutella, Freenet</a:t>
            </a:r>
          </a:p>
        </p:txBody>
      </p:sp>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6548749" y="1028700"/>
            <a:ext cx="10715625" cy="8229600"/>
            <a:chOff x="0" y="0"/>
            <a:chExt cx="2822222" cy="2167467"/>
          </a:xfrm>
        </p:grpSpPr>
        <p:sp>
          <p:nvSpPr>
            <p:cNvPr id="3" name="Freeform 3"/>
            <p:cNvSpPr/>
            <p:nvPr/>
          </p:nvSpPr>
          <p:spPr>
            <a:xfrm>
              <a:off x="0" y="0"/>
              <a:ext cx="2822222" cy="2167467"/>
            </a:xfrm>
            <a:custGeom>
              <a:avLst/>
              <a:gdLst/>
              <a:ahLst/>
              <a:cxnLst/>
              <a:rect l="l" t="t" r="r" b="b"/>
              <a:pathLst>
                <a:path w="2822222" h="2167467">
                  <a:moveTo>
                    <a:pt x="0" y="0"/>
                  </a:moveTo>
                  <a:lnTo>
                    <a:pt x="2822222" y="0"/>
                  </a:lnTo>
                  <a:lnTo>
                    <a:pt x="2822222" y="2167467"/>
                  </a:lnTo>
                  <a:lnTo>
                    <a:pt x="0" y="2167467"/>
                  </a:lnTo>
                  <a:close/>
                </a:path>
              </a:pathLst>
            </a:custGeom>
            <a:solidFill>
              <a:srgbClr val="FFFFFF"/>
            </a:solidFill>
          </p:spPr>
        </p:sp>
        <p:sp>
          <p:nvSpPr>
            <p:cNvPr id="4" name="TextBox 4"/>
            <p:cNvSpPr txBox="1"/>
            <p:nvPr/>
          </p:nvSpPr>
          <p:spPr>
            <a:xfrm>
              <a:off x="0" y="-38100"/>
              <a:ext cx="2822222" cy="220556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63562" y="2835068"/>
            <a:ext cx="5138738" cy="5295900"/>
          </a:xfrm>
          <a:prstGeom prst="rect">
            <a:avLst/>
          </a:prstGeom>
        </p:spPr>
        <p:txBody>
          <a:bodyPr lIns="0" tIns="0" rIns="0" bIns="0" rtlCol="0" anchor="t">
            <a:spAutoFit/>
          </a:bodyPr>
          <a:lstStyle/>
          <a:p>
            <a:pPr algn="just">
              <a:lnSpc>
                <a:spcPts val="8400"/>
              </a:lnSpc>
            </a:pPr>
            <a:r>
              <a:rPr lang="en-US" sz="6000">
                <a:solidFill>
                  <a:srgbClr val="FFFFFF"/>
                </a:solidFill>
                <a:latin typeface="Fredoka"/>
                <a:ea typeface="Fredoka"/>
                <a:cs typeface="Fredoka"/>
                <a:sym typeface="Fredoka"/>
              </a:rPr>
              <a:t>TYPES OF NETWORK OVERLAY MODELS</a:t>
            </a:r>
          </a:p>
          <a:p>
            <a:pPr algn="just">
              <a:lnSpc>
                <a:spcPts val="8400"/>
              </a:lnSpc>
            </a:pPr>
            <a:endParaRPr lang="en-US" sz="6000">
              <a:solidFill>
                <a:srgbClr val="FFFFFF"/>
              </a:solidFill>
              <a:latin typeface="Fredoka"/>
              <a:ea typeface="Fredoka"/>
              <a:cs typeface="Fredoka"/>
              <a:sym typeface="Fredoka"/>
            </a:endParaRPr>
          </a:p>
        </p:txBody>
      </p:sp>
      <p:sp>
        <p:nvSpPr>
          <p:cNvPr id="6" name="TextBox 6"/>
          <p:cNvSpPr txBox="1"/>
          <p:nvPr/>
        </p:nvSpPr>
        <p:spPr>
          <a:xfrm>
            <a:off x="6788929" y="2863643"/>
            <a:ext cx="9904989" cy="6265545"/>
          </a:xfrm>
          <a:prstGeom prst="rect">
            <a:avLst/>
          </a:prstGeom>
        </p:spPr>
        <p:txBody>
          <a:bodyPr lIns="0" tIns="0" rIns="0" bIns="0" rtlCol="0" anchor="t">
            <a:spAutoFit/>
          </a:bodyPr>
          <a:lstStyle/>
          <a:p>
            <a:pPr algn="l">
              <a:lnSpc>
                <a:spcPts val="4199"/>
              </a:lnSpc>
            </a:pPr>
            <a:r>
              <a:rPr lang="en-US" sz="2799" b="1">
                <a:solidFill>
                  <a:srgbClr val="000000"/>
                </a:solidFill>
                <a:latin typeface="Quicksand Bold"/>
                <a:ea typeface="Quicksand Bold"/>
                <a:cs typeface="Quicksand Bold"/>
                <a:sym typeface="Quicksand Bold"/>
              </a:rPr>
              <a:t>3. Hierarchical Overlay Networks</a:t>
            </a:r>
          </a:p>
          <a:p>
            <a:pPr algn="l">
              <a:lnSpc>
                <a:spcPts val="4199"/>
              </a:lnSpc>
            </a:pPr>
            <a:r>
              <a:rPr lang="en-US" sz="2799">
                <a:solidFill>
                  <a:srgbClr val="000000"/>
                </a:solidFill>
                <a:latin typeface="Quicksand"/>
                <a:ea typeface="Quicksand"/>
                <a:cs typeface="Quicksand"/>
                <a:sym typeface="Quicksand"/>
              </a:rPr>
              <a:t>Networks organized in levels, with groups of nodes managed by “super nodes.”</a:t>
            </a:r>
          </a:p>
          <a:p>
            <a:pPr algn="l">
              <a:lnSpc>
                <a:spcPts val="4199"/>
              </a:lnSpc>
            </a:pPr>
            <a:r>
              <a:rPr lang="en-US" sz="2799" b="1">
                <a:solidFill>
                  <a:srgbClr val="000000"/>
                </a:solidFill>
                <a:latin typeface="Quicksand Bold"/>
                <a:ea typeface="Quicksand Bold"/>
                <a:cs typeface="Quicksand Bold"/>
                <a:sym typeface="Quicksand Bold"/>
              </a:rPr>
              <a:t>Key Characteristics:</a:t>
            </a:r>
          </a:p>
          <a:p>
            <a:pPr algn="l">
              <a:lnSpc>
                <a:spcPts val="4199"/>
              </a:lnSpc>
            </a:pPr>
            <a:r>
              <a:rPr lang="en-US" sz="2799" b="1">
                <a:solidFill>
                  <a:srgbClr val="000000"/>
                </a:solidFill>
                <a:latin typeface="Quicksand Bold"/>
                <a:ea typeface="Quicksand Bold"/>
                <a:cs typeface="Quicksand Bold"/>
                <a:sym typeface="Quicksand Bold"/>
              </a:rPr>
              <a:t> </a:t>
            </a:r>
            <a:r>
              <a:rPr lang="en-US" sz="2799">
                <a:solidFill>
                  <a:srgbClr val="000000"/>
                </a:solidFill>
                <a:latin typeface="Quicksand"/>
                <a:ea typeface="Quicksand"/>
                <a:cs typeface="Quicksand"/>
                <a:sym typeface="Quicksand"/>
              </a:rPr>
              <a:t>• Nodes are grouped into clusters</a:t>
            </a:r>
          </a:p>
          <a:p>
            <a:pPr algn="l">
              <a:lnSpc>
                <a:spcPts val="4199"/>
              </a:lnSpc>
            </a:pPr>
            <a:r>
              <a:rPr lang="en-US" sz="2799">
                <a:solidFill>
                  <a:srgbClr val="000000"/>
                </a:solidFill>
                <a:latin typeface="Quicksand"/>
                <a:ea typeface="Quicksand"/>
                <a:cs typeface="Quicksand"/>
                <a:sym typeface="Quicksand"/>
              </a:rPr>
              <a:t> • Super nodes manage communication between groups</a:t>
            </a:r>
          </a:p>
          <a:p>
            <a:pPr algn="l">
              <a:lnSpc>
                <a:spcPts val="4199"/>
              </a:lnSpc>
            </a:pPr>
            <a:r>
              <a:rPr lang="en-US" sz="2799">
                <a:solidFill>
                  <a:srgbClr val="000000"/>
                </a:solidFill>
                <a:latin typeface="Quicksand"/>
                <a:ea typeface="Quicksand"/>
                <a:cs typeface="Quicksand"/>
                <a:sym typeface="Quicksand"/>
              </a:rPr>
              <a:t> • More efficient and scalable</a:t>
            </a:r>
          </a:p>
          <a:p>
            <a:pPr algn="l">
              <a:lnSpc>
                <a:spcPts val="4199"/>
              </a:lnSpc>
            </a:pPr>
            <a:r>
              <a:rPr lang="en-US" sz="2799" b="1">
                <a:solidFill>
                  <a:srgbClr val="000000"/>
                </a:solidFill>
                <a:latin typeface="Quicksand Bold"/>
                <a:ea typeface="Quicksand Bold"/>
                <a:cs typeface="Quicksand Bold"/>
                <a:sym typeface="Quicksand Bold"/>
              </a:rPr>
              <a:t>Example: </a:t>
            </a:r>
            <a:r>
              <a:rPr lang="en-US" sz="2799">
                <a:solidFill>
                  <a:srgbClr val="000000"/>
                </a:solidFill>
                <a:latin typeface="Quicksand"/>
                <a:ea typeface="Quicksand"/>
                <a:cs typeface="Quicksand"/>
                <a:sym typeface="Quicksand"/>
              </a:rPr>
              <a:t>Super-peer networks (e.g., Kazaa)</a:t>
            </a:r>
          </a:p>
          <a:p>
            <a:pPr algn="l">
              <a:lnSpc>
                <a:spcPts val="4199"/>
              </a:lnSpc>
            </a:pPr>
            <a:endParaRPr lang="en-US" sz="2799">
              <a:solidFill>
                <a:srgbClr val="000000"/>
              </a:solidFill>
              <a:latin typeface="Quicksand"/>
              <a:ea typeface="Quicksand"/>
              <a:cs typeface="Quicksand"/>
              <a:sym typeface="Quicksand"/>
            </a:endParaRPr>
          </a:p>
          <a:p>
            <a:pPr algn="l">
              <a:lnSpc>
                <a:spcPts val="4199"/>
              </a:lnSpc>
            </a:pPr>
            <a:endParaRPr lang="en-US" sz="2799">
              <a:solidFill>
                <a:srgbClr val="000000"/>
              </a:solidFill>
              <a:latin typeface="Quicksand"/>
              <a:ea typeface="Quicksand"/>
              <a:cs typeface="Quicksand"/>
              <a:sym typeface="Quicksand"/>
            </a:endParaRPr>
          </a:p>
          <a:p>
            <a:pPr algn="l">
              <a:lnSpc>
                <a:spcPts val="4199"/>
              </a:lnSpc>
            </a:pPr>
            <a:endParaRPr lang="en-US" sz="2799">
              <a:solidFill>
                <a:srgbClr val="000000"/>
              </a:solidFill>
              <a:latin typeface="Quicksand"/>
              <a:ea typeface="Quicksand"/>
              <a:cs typeface="Quicksand"/>
              <a:sym typeface="Quicksand"/>
            </a:endParaRPr>
          </a:p>
          <a:p>
            <a:pPr marL="0" lvl="0" indent="0" algn="l">
              <a:lnSpc>
                <a:spcPts val="4199"/>
              </a:lnSpc>
              <a:spcBef>
                <a:spcPct val="0"/>
              </a:spcBef>
            </a:pPr>
            <a:endParaRPr lang="en-US" sz="2799">
              <a:solidFill>
                <a:srgbClr val="000000"/>
              </a:solidFill>
              <a:latin typeface="Quicksand"/>
              <a:ea typeface="Quicksand"/>
              <a:cs typeface="Quicksand"/>
              <a:sym typeface="Quicksand"/>
            </a:endParaRPr>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404938" y="8173085"/>
            <a:ext cx="15478125" cy="2218690"/>
          </a:xfrm>
          <a:prstGeom prst="rect">
            <a:avLst/>
          </a:prstGeom>
        </p:spPr>
        <p:txBody>
          <a:bodyPr lIns="0" tIns="0" rIns="0" bIns="0" rtlCol="0" anchor="t">
            <a:spAutoFit/>
          </a:bodyPr>
          <a:lstStyle/>
          <a:p>
            <a:pPr algn="ctr">
              <a:lnSpc>
                <a:spcPts val="8959"/>
              </a:lnSpc>
            </a:pPr>
            <a:r>
              <a:rPr lang="en-US" sz="6399">
                <a:solidFill>
                  <a:srgbClr val="FFFFFF"/>
                </a:solidFill>
                <a:latin typeface="Fredoka"/>
                <a:ea typeface="Fredoka"/>
                <a:cs typeface="Fredoka"/>
                <a:sym typeface="Fredoka"/>
              </a:rPr>
              <a:t>OVERLAY ROUTING TECHNIQUES</a:t>
            </a:r>
          </a:p>
          <a:p>
            <a:pPr algn="ctr">
              <a:lnSpc>
                <a:spcPts val="8959"/>
              </a:lnSpc>
            </a:pPr>
            <a:endParaRPr lang="en-US" sz="6399">
              <a:solidFill>
                <a:srgbClr val="FFFFFF"/>
              </a:solidFill>
              <a:latin typeface="Fredoka"/>
              <a:ea typeface="Fredoka"/>
              <a:cs typeface="Fredoka"/>
              <a:sym typeface="Fredoka"/>
            </a:endParaRPr>
          </a:p>
        </p:txBody>
      </p:sp>
      <p:sp>
        <p:nvSpPr>
          <p:cNvPr id="6" name="TextBox 6"/>
          <p:cNvSpPr txBox="1"/>
          <p:nvPr/>
        </p:nvSpPr>
        <p:spPr>
          <a:xfrm>
            <a:off x="1698259" y="1457266"/>
            <a:ext cx="15184803" cy="1823085"/>
          </a:xfrm>
          <a:prstGeom prst="rect">
            <a:avLst/>
          </a:prstGeom>
        </p:spPr>
        <p:txBody>
          <a:bodyPr lIns="0" tIns="0" rIns="0" bIns="0" rtlCol="0" anchor="t">
            <a:spAutoFit/>
          </a:bodyPr>
          <a:lstStyle/>
          <a:p>
            <a:pPr algn="l">
              <a:lnSpc>
                <a:spcPts val="3600"/>
              </a:lnSpc>
            </a:pPr>
            <a:r>
              <a:rPr lang="en-US" sz="2400">
                <a:solidFill>
                  <a:srgbClr val="000000"/>
                </a:solidFill>
                <a:latin typeface="Quicksand"/>
                <a:ea typeface="Quicksand"/>
                <a:cs typeface="Quicksand"/>
                <a:sym typeface="Quicksand"/>
              </a:rPr>
              <a:t>Routing in overlay networks involves determining the most efficient path for data to travel between nodes, considering both the overlay and the underlying physical network. Different routing techniques are employed based on the type of overlay:</a:t>
            </a:r>
          </a:p>
          <a:p>
            <a:pPr marL="0" lvl="0" indent="0" algn="l">
              <a:lnSpc>
                <a:spcPts val="3600"/>
              </a:lnSpc>
              <a:spcBef>
                <a:spcPct val="0"/>
              </a:spcBef>
            </a:pPr>
            <a:endParaRPr lang="en-US" sz="2400">
              <a:solidFill>
                <a:srgbClr val="000000"/>
              </a:solidFill>
              <a:latin typeface="Quicksand"/>
              <a:ea typeface="Quicksand"/>
              <a:cs typeface="Quicksand"/>
              <a:sym typeface="Quicksand"/>
            </a:endParaRPr>
          </a:p>
        </p:txBody>
      </p:sp>
      <p:sp>
        <p:nvSpPr>
          <p:cNvPr id="7" name="TextBox 7"/>
          <p:cNvSpPr txBox="1"/>
          <p:nvPr/>
        </p:nvSpPr>
        <p:spPr>
          <a:xfrm>
            <a:off x="1698259" y="3230880"/>
            <a:ext cx="15184803" cy="3768090"/>
          </a:xfrm>
          <a:prstGeom prst="rect">
            <a:avLst/>
          </a:prstGeom>
        </p:spPr>
        <p:txBody>
          <a:bodyPr lIns="0" tIns="0" rIns="0" bIns="0" rtlCol="0" anchor="t">
            <a:spAutoFit/>
          </a:bodyPr>
          <a:lstStyle/>
          <a:p>
            <a:pPr marL="518157" lvl="1" indent="-259078" algn="l">
              <a:lnSpc>
                <a:spcPts val="3359"/>
              </a:lnSpc>
              <a:buFont typeface="Arial"/>
              <a:buChar char="•"/>
            </a:pPr>
            <a:r>
              <a:rPr lang="en-US" sz="2399" b="1">
                <a:solidFill>
                  <a:srgbClr val="000000"/>
                </a:solidFill>
                <a:latin typeface="Quicksand Bold"/>
                <a:ea typeface="Quicksand Bold"/>
                <a:cs typeface="Quicksand Bold"/>
                <a:sym typeface="Quicksand Bold"/>
              </a:rPr>
              <a:t>·Proximity Routing: </a:t>
            </a:r>
            <a:r>
              <a:rPr lang="en-US" sz="2399">
                <a:solidFill>
                  <a:srgbClr val="000000"/>
                </a:solidFill>
                <a:latin typeface="Quicksand"/>
                <a:ea typeface="Quicksand"/>
                <a:cs typeface="Quicksand"/>
                <a:sym typeface="Quicksand"/>
              </a:rPr>
              <a:t>Nodes route data through the nearest available neighbor, minimizing latency.</a:t>
            </a:r>
          </a:p>
          <a:p>
            <a:pPr marL="518157" lvl="1" indent="-259078" algn="l">
              <a:lnSpc>
                <a:spcPts val="3359"/>
              </a:lnSpc>
              <a:buFont typeface="Arial"/>
              <a:buChar char="•"/>
            </a:pPr>
            <a:r>
              <a:rPr lang="en-US" sz="2399">
                <a:solidFill>
                  <a:srgbClr val="000000"/>
                </a:solidFill>
                <a:latin typeface="Quicksand"/>
                <a:ea typeface="Quicksand"/>
                <a:cs typeface="Quicksand"/>
                <a:sym typeface="Quicksand"/>
              </a:rPr>
              <a:t>·</a:t>
            </a:r>
            <a:r>
              <a:rPr lang="en-US" sz="2399" b="1">
                <a:solidFill>
                  <a:srgbClr val="000000"/>
                </a:solidFill>
                <a:latin typeface="Quicksand Bold"/>
                <a:ea typeface="Quicksand Bold"/>
                <a:cs typeface="Quicksand Bold"/>
                <a:sym typeface="Quicksand Bold"/>
              </a:rPr>
              <a:t>Source Routing: </a:t>
            </a:r>
            <a:r>
              <a:rPr lang="en-US" sz="2399">
                <a:solidFill>
                  <a:srgbClr val="000000"/>
                </a:solidFill>
                <a:latin typeface="Quicksand"/>
                <a:ea typeface="Quicksand"/>
                <a:cs typeface="Quicksand"/>
                <a:sym typeface="Quicksand"/>
              </a:rPr>
              <a:t>The sender determines the entire route, specifying the path the data should take through the network.</a:t>
            </a:r>
          </a:p>
          <a:p>
            <a:pPr marL="518157" lvl="1" indent="-259078" algn="l">
              <a:lnSpc>
                <a:spcPts val="3359"/>
              </a:lnSpc>
              <a:buFont typeface="Arial"/>
              <a:buChar char="•"/>
            </a:pPr>
            <a:r>
              <a:rPr lang="en-US" sz="2399">
                <a:solidFill>
                  <a:srgbClr val="000000"/>
                </a:solidFill>
                <a:latin typeface="Quicksand"/>
                <a:ea typeface="Quicksand"/>
                <a:cs typeface="Quicksand"/>
                <a:sym typeface="Quicksand"/>
              </a:rPr>
              <a:t>·</a:t>
            </a:r>
            <a:r>
              <a:rPr lang="en-US" sz="2399" b="1">
                <a:solidFill>
                  <a:srgbClr val="000000"/>
                </a:solidFill>
                <a:latin typeface="Quicksand Bold"/>
                <a:ea typeface="Quicksand Bold"/>
                <a:cs typeface="Quicksand Bold"/>
                <a:sym typeface="Quicksand Bold"/>
              </a:rPr>
              <a:t>Greedy Routing: </a:t>
            </a:r>
            <a:r>
              <a:rPr lang="en-US" sz="2399">
                <a:solidFill>
                  <a:srgbClr val="000000"/>
                </a:solidFill>
                <a:latin typeface="Quicksand"/>
                <a:ea typeface="Quicksand"/>
                <a:cs typeface="Quicksand"/>
                <a:sym typeface="Quicksand"/>
              </a:rPr>
              <a:t>Nodes forward data to the neighbor that is closest to the destination in terms of logical distance.</a:t>
            </a:r>
          </a:p>
          <a:p>
            <a:pPr marL="518157" lvl="1" indent="-259078" algn="l">
              <a:lnSpc>
                <a:spcPts val="3359"/>
              </a:lnSpc>
              <a:buFont typeface="Arial"/>
              <a:buChar char="•"/>
            </a:pPr>
            <a:r>
              <a:rPr lang="en-US" sz="2399">
                <a:solidFill>
                  <a:srgbClr val="000000"/>
                </a:solidFill>
                <a:latin typeface="Quicksand"/>
                <a:ea typeface="Quicksand"/>
                <a:cs typeface="Quicksand"/>
                <a:sym typeface="Quicksand"/>
              </a:rPr>
              <a:t>·</a:t>
            </a:r>
            <a:r>
              <a:rPr lang="en-US" sz="2399" b="1">
                <a:solidFill>
                  <a:srgbClr val="000000"/>
                </a:solidFill>
                <a:latin typeface="Quicksand Bold"/>
                <a:ea typeface="Quicksand Bold"/>
                <a:cs typeface="Quicksand Bold"/>
                <a:sym typeface="Quicksand Bold"/>
              </a:rPr>
              <a:t>Flooding: </a:t>
            </a:r>
            <a:r>
              <a:rPr lang="en-US" sz="2399">
                <a:solidFill>
                  <a:srgbClr val="000000"/>
                </a:solidFill>
                <a:latin typeface="Quicksand"/>
                <a:ea typeface="Quicksand"/>
                <a:cs typeface="Quicksand"/>
                <a:sym typeface="Quicksand"/>
              </a:rPr>
              <a:t>In unstructured networks, data is broadcast to all neighbors, ensuring that it reaches its destination.</a:t>
            </a:r>
          </a:p>
          <a:p>
            <a:pPr marL="518157" lvl="1" indent="-259078" algn="l">
              <a:lnSpc>
                <a:spcPts val="3359"/>
              </a:lnSpc>
              <a:buFont typeface="Arial"/>
              <a:buChar char="•"/>
            </a:pPr>
            <a:r>
              <a:rPr lang="en-US" sz="2399">
                <a:solidFill>
                  <a:srgbClr val="000000"/>
                </a:solidFill>
                <a:latin typeface="Quicksand"/>
                <a:ea typeface="Quicksand"/>
                <a:cs typeface="Quicksand"/>
                <a:sym typeface="Quicksand"/>
              </a:rPr>
              <a:t>·</a:t>
            </a:r>
            <a:r>
              <a:rPr lang="en-US" sz="2399" b="1">
                <a:solidFill>
                  <a:srgbClr val="000000"/>
                </a:solidFill>
                <a:latin typeface="Quicksand Bold"/>
                <a:ea typeface="Quicksand Bold"/>
                <a:cs typeface="Quicksand Bold"/>
                <a:sym typeface="Quicksand Bold"/>
              </a:rPr>
              <a:t>Hierarchical Routing: </a:t>
            </a:r>
            <a:r>
              <a:rPr lang="en-US" sz="2399">
                <a:solidFill>
                  <a:srgbClr val="000000"/>
                </a:solidFill>
                <a:latin typeface="Quicksand"/>
                <a:ea typeface="Quicksand"/>
                <a:cs typeface="Quicksand"/>
                <a:sym typeface="Quicksand"/>
              </a:rPr>
              <a:t>In hierarchical networks, data is routed through super nodes, which manage inter-cluster communication.</a:t>
            </a:r>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257968" y="2737042"/>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404938" y="508827"/>
            <a:ext cx="15478125" cy="20955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APPLICATIONS OF OVERLAY NETWORKS IN DISTRIBUTED SYSTEMS</a:t>
            </a:r>
          </a:p>
        </p:txBody>
      </p:sp>
      <p:sp>
        <p:nvSpPr>
          <p:cNvPr id="6" name="TextBox 6"/>
          <p:cNvSpPr txBox="1"/>
          <p:nvPr/>
        </p:nvSpPr>
        <p:spPr>
          <a:xfrm>
            <a:off x="1927528" y="3165608"/>
            <a:ext cx="15184803" cy="908685"/>
          </a:xfrm>
          <a:prstGeom prst="rect">
            <a:avLst/>
          </a:prstGeom>
        </p:spPr>
        <p:txBody>
          <a:bodyPr lIns="0" tIns="0" rIns="0" bIns="0" rtlCol="0" anchor="t">
            <a:spAutoFit/>
          </a:bodyPr>
          <a:lstStyle/>
          <a:p>
            <a:pPr algn="l">
              <a:lnSpc>
                <a:spcPts val="3600"/>
              </a:lnSpc>
            </a:pPr>
            <a:r>
              <a:rPr lang="en-US" sz="2400">
                <a:solidFill>
                  <a:srgbClr val="000000"/>
                </a:solidFill>
                <a:latin typeface="Quicksand"/>
                <a:ea typeface="Quicksand"/>
                <a:cs typeface="Quicksand"/>
                <a:sym typeface="Quicksand"/>
              </a:rPr>
              <a:t>Overlay networks are widely used across various domains of distributed systems:</a:t>
            </a:r>
          </a:p>
          <a:p>
            <a:pPr marL="0" lvl="0" indent="0" algn="l">
              <a:lnSpc>
                <a:spcPts val="3600"/>
              </a:lnSpc>
              <a:spcBef>
                <a:spcPct val="0"/>
              </a:spcBef>
            </a:pPr>
            <a:endParaRPr lang="en-US" sz="2400">
              <a:solidFill>
                <a:srgbClr val="000000"/>
              </a:solidFill>
              <a:latin typeface="Quicksand"/>
              <a:ea typeface="Quicksand"/>
              <a:cs typeface="Quicksand"/>
              <a:sym typeface="Quicksand"/>
            </a:endParaRPr>
          </a:p>
        </p:txBody>
      </p:sp>
      <p:sp>
        <p:nvSpPr>
          <p:cNvPr id="7" name="TextBox 7"/>
          <p:cNvSpPr txBox="1"/>
          <p:nvPr/>
        </p:nvSpPr>
        <p:spPr>
          <a:xfrm>
            <a:off x="1780867" y="3838302"/>
            <a:ext cx="15184803" cy="4325030"/>
          </a:xfrm>
          <a:prstGeom prst="rect">
            <a:avLst/>
          </a:prstGeom>
        </p:spPr>
        <p:txBody>
          <a:bodyPr lIns="0" tIns="0" rIns="0" bIns="0" rtlCol="0" anchor="t">
            <a:spAutoFit/>
          </a:bodyPr>
          <a:lstStyle/>
          <a:p>
            <a:pPr marL="518157" lvl="1" indent="-259078" algn="l">
              <a:lnSpc>
                <a:spcPts val="3359"/>
              </a:lnSpc>
              <a:buFont typeface="Arial"/>
              <a:buChar char="•"/>
            </a:pPr>
            <a:r>
              <a:rPr lang="en-US" sz="2399" b="1" dirty="0">
                <a:solidFill>
                  <a:srgbClr val="000000"/>
                </a:solidFill>
                <a:latin typeface="Quicksand Bold"/>
                <a:ea typeface="Quicksand Bold"/>
                <a:cs typeface="Quicksand Bold"/>
                <a:sym typeface="Quicksand Bold"/>
              </a:rPr>
              <a:t>Content Delivery Networks (CDNs):</a:t>
            </a:r>
            <a:r>
              <a:rPr lang="en-US" sz="2399" dirty="0">
                <a:solidFill>
                  <a:srgbClr val="000000"/>
                </a:solidFill>
                <a:latin typeface="Quicksand"/>
                <a:ea typeface="Quicksand"/>
                <a:cs typeface="Quicksand"/>
                <a:sym typeface="Quicksand"/>
              </a:rPr>
              <a:t> CDNs use overlays to distribute content across multiple servers, reducing latency and load on the central servers.</a:t>
            </a:r>
          </a:p>
          <a:p>
            <a:pPr marL="518157" lvl="1" indent="-259078" algn="l">
              <a:lnSpc>
                <a:spcPts val="3359"/>
              </a:lnSpc>
              <a:buFont typeface="Arial"/>
              <a:buChar char="•"/>
            </a:pPr>
            <a:r>
              <a:rPr lang="en-US" sz="2399" b="1" dirty="0">
                <a:solidFill>
                  <a:srgbClr val="000000"/>
                </a:solidFill>
                <a:latin typeface="Quicksand Bold"/>
                <a:ea typeface="Quicksand Bold"/>
                <a:cs typeface="Quicksand Bold"/>
                <a:sym typeface="Quicksand Bold"/>
              </a:rPr>
              <a:t>Peer-to-Peer (P2P) Systems: </a:t>
            </a:r>
            <a:r>
              <a:rPr lang="en-US" sz="2399" dirty="0">
                <a:solidFill>
                  <a:srgbClr val="000000"/>
                </a:solidFill>
                <a:latin typeface="Quicksand"/>
                <a:ea typeface="Quicksand"/>
                <a:cs typeface="Quicksand"/>
                <a:sym typeface="Quicksand"/>
              </a:rPr>
              <a:t>P2P applications like file-sharing (e.g., BitTorrent) and decentralized computing use overlays for efficient data distribution.</a:t>
            </a:r>
          </a:p>
          <a:p>
            <a:pPr marL="518157" lvl="1" indent="-259078" algn="l">
              <a:lnSpc>
                <a:spcPts val="3359"/>
              </a:lnSpc>
              <a:buFont typeface="Arial"/>
              <a:buChar char="•"/>
            </a:pPr>
            <a:r>
              <a:rPr lang="en-US" sz="2399" b="1" dirty="0">
                <a:solidFill>
                  <a:srgbClr val="000000"/>
                </a:solidFill>
                <a:latin typeface="Quicksand Bold"/>
                <a:ea typeface="Quicksand Bold"/>
                <a:cs typeface="Quicksand Bold"/>
                <a:sym typeface="Quicksand Bold"/>
              </a:rPr>
              <a:t>Internet of Things (IoT): </a:t>
            </a:r>
            <a:r>
              <a:rPr lang="en-US" sz="2399" dirty="0">
                <a:solidFill>
                  <a:srgbClr val="000000"/>
                </a:solidFill>
                <a:latin typeface="Quicksand"/>
                <a:ea typeface="Quicksand"/>
                <a:cs typeface="Quicksand"/>
                <a:sym typeface="Quicksand"/>
              </a:rPr>
              <a:t>Overlays help connect diverse IoT devices across different networks, facilitating communication and data exchange.</a:t>
            </a:r>
          </a:p>
          <a:p>
            <a:pPr marL="518157" lvl="1" indent="-259078" algn="l">
              <a:lnSpc>
                <a:spcPts val="3359"/>
              </a:lnSpc>
              <a:buFont typeface="Arial"/>
              <a:buChar char="•"/>
            </a:pPr>
            <a:r>
              <a:rPr lang="en-US" sz="2399" b="1" dirty="0">
                <a:solidFill>
                  <a:srgbClr val="000000"/>
                </a:solidFill>
                <a:latin typeface="Quicksand Bold"/>
                <a:ea typeface="Quicksand Bold"/>
                <a:cs typeface="Quicksand Bold"/>
                <a:sym typeface="Quicksand Bold"/>
              </a:rPr>
              <a:t>Blockchain Networks: </a:t>
            </a:r>
            <a:r>
              <a:rPr lang="en-US" sz="2399" dirty="0">
                <a:solidFill>
                  <a:srgbClr val="000000"/>
                </a:solidFill>
                <a:latin typeface="Quicksand"/>
                <a:ea typeface="Quicksand"/>
                <a:cs typeface="Quicksand"/>
                <a:sym typeface="Quicksand"/>
              </a:rPr>
              <a:t>Many blockchain implementations use overlay networks to manage peer-to-peer communication and transaction validation.</a:t>
            </a:r>
          </a:p>
          <a:p>
            <a:pPr marL="518157" lvl="1" indent="-259078" algn="l">
              <a:lnSpc>
                <a:spcPts val="3359"/>
              </a:lnSpc>
              <a:buFont typeface="Arial"/>
              <a:buChar char="•"/>
            </a:pPr>
            <a:r>
              <a:rPr lang="en-US" sz="2399" b="1" dirty="0">
                <a:solidFill>
                  <a:srgbClr val="000000"/>
                </a:solidFill>
                <a:latin typeface="Quicksand Bold"/>
                <a:ea typeface="Quicksand Bold"/>
                <a:cs typeface="Quicksand Bold"/>
                <a:sym typeface="Quicksand Bold"/>
              </a:rPr>
              <a:t>Virtual Private Networks (VPNs): </a:t>
            </a:r>
            <a:r>
              <a:rPr lang="en-US" sz="2399" dirty="0">
                <a:solidFill>
                  <a:srgbClr val="000000"/>
                </a:solidFill>
                <a:latin typeface="Quicksand"/>
                <a:ea typeface="Quicksand"/>
                <a:cs typeface="Quicksand"/>
                <a:sym typeface="Quicksand"/>
              </a:rPr>
              <a:t>VPNs create a secure overlay on top of the public internet, allowing secure communication between nodes.</a:t>
            </a:r>
          </a:p>
        </p:txBody>
      </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8884" y="803897"/>
            <a:ext cx="16230600" cy="952500"/>
            <a:chOff x="0" y="0"/>
            <a:chExt cx="4274726" cy="250864"/>
          </a:xfrm>
        </p:grpSpPr>
        <p:sp>
          <p:nvSpPr>
            <p:cNvPr id="3" name="Freeform 3"/>
            <p:cNvSpPr/>
            <p:nvPr/>
          </p:nvSpPr>
          <p:spPr>
            <a:xfrm>
              <a:off x="0" y="0"/>
              <a:ext cx="4274726" cy="250864"/>
            </a:xfrm>
            <a:custGeom>
              <a:avLst/>
              <a:gdLst/>
              <a:ahLst/>
              <a:cxnLst/>
              <a:rect l="l" t="t" r="r" b="b"/>
              <a:pathLst>
                <a:path w="4274726" h="250864">
                  <a:moveTo>
                    <a:pt x="0" y="0"/>
                  </a:moveTo>
                  <a:lnTo>
                    <a:pt x="4274726" y="0"/>
                  </a:lnTo>
                  <a:lnTo>
                    <a:pt x="4274726" y="250864"/>
                  </a:lnTo>
                  <a:lnTo>
                    <a:pt x="0" y="250864"/>
                  </a:lnTo>
                  <a:close/>
                </a:path>
              </a:pathLst>
            </a:custGeom>
            <a:ln w="47625" cap="sq">
              <a:solidFill>
                <a:srgbClr val="4C5270"/>
              </a:solidFill>
              <a:prstDash val="solid"/>
              <a:miter/>
            </a:ln>
          </p:spPr>
        </p:sp>
        <p:sp>
          <p:nvSpPr>
            <p:cNvPr id="4" name="TextBox 4"/>
            <p:cNvSpPr txBox="1"/>
            <p:nvPr/>
          </p:nvSpPr>
          <p:spPr>
            <a:xfrm>
              <a:off x="0" y="-38100"/>
              <a:ext cx="4274726" cy="28896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737962" y="940105"/>
            <a:ext cx="15620138" cy="1180465"/>
          </a:xfrm>
          <a:prstGeom prst="rect">
            <a:avLst/>
          </a:prstGeom>
        </p:spPr>
        <p:txBody>
          <a:bodyPr lIns="0" tIns="0" rIns="0" bIns="0" rtlCol="0" anchor="t">
            <a:spAutoFit/>
          </a:bodyPr>
          <a:lstStyle/>
          <a:p>
            <a:pPr algn="ctr">
              <a:lnSpc>
                <a:spcPts val="4760"/>
              </a:lnSpc>
            </a:pPr>
            <a:r>
              <a:rPr lang="en-US" sz="3400" b="1">
                <a:solidFill>
                  <a:srgbClr val="000000"/>
                </a:solidFill>
                <a:latin typeface="Quicksand Bold"/>
                <a:ea typeface="Quicksand Bold"/>
                <a:cs typeface="Quicksand Bold"/>
                <a:sym typeface="Quicksand Bold"/>
              </a:rPr>
              <a:t>Advantages &amp; Disadvantages of Network Overlays in Distributed Systems</a:t>
            </a:r>
          </a:p>
          <a:p>
            <a:pPr algn="ctr">
              <a:lnSpc>
                <a:spcPts val="4760"/>
              </a:lnSpc>
            </a:pPr>
            <a:endParaRPr lang="en-US" sz="3400" b="1">
              <a:solidFill>
                <a:srgbClr val="000000"/>
              </a:solidFill>
              <a:latin typeface="Quicksand Bold"/>
              <a:ea typeface="Quicksand Bold"/>
              <a:cs typeface="Quicksand Bold"/>
              <a:sym typeface="Quicksand Bold"/>
            </a:endParaRPr>
          </a:p>
        </p:txBody>
      </p:sp>
      <p:grpSp>
        <p:nvGrpSpPr>
          <p:cNvPr id="6" name="Group 6"/>
          <p:cNvGrpSpPr/>
          <p:nvPr/>
        </p:nvGrpSpPr>
        <p:grpSpPr>
          <a:xfrm>
            <a:off x="1248884" y="2070722"/>
            <a:ext cx="7900988" cy="952500"/>
            <a:chOff x="0" y="0"/>
            <a:chExt cx="2080919" cy="250864"/>
          </a:xfrm>
        </p:grpSpPr>
        <p:sp>
          <p:nvSpPr>
            <p:cNvPr id="7" name="Freeform 7"/>
            <p:cNvSpPr/>
            <p:nvPr/>
          </p:nvSpPr>
          <p:spPr>
            <a:xfrm>
              <a:off x="0" y="0"/>
              <a:ext cx="2080919" cy="250864"/>
            </a:xfrm>
            <a:custGeom>
              <a:avLst/>
              <a:gdLst/>
              <a:ahLst/>
              <a:cxnLst/>
              <a:rect l="l" t="t" r="r" b="b"/>
              <a:pathLst>
                <a:path w="2080919" h="250864">
                  <a:moveTo>
                    <a:pt x="0" y="0"/>
                  </a:moveTo>
                  <a:lnTo>
                    <a:pt x="2080919" y="0"/>
                  </a:lnTo>
                  <a:lnTo>
                    <a:pt x="2080919" y="250864"/>
                  </a:lnTo>
                  <a:lnTo>
                    <a:pt x="0" y="250864"/>
                  </a:lnTo>
                  <a:close/>
                </a:path>
              </a:pathLst>
            </a:custGeom>
            <a:solidFill>
              <a:srgbClr val="4C5270"/>
            </a:solidFill>
            <a:ln w="47625" cap="sq">
              <a:solidFill>
                <a:srgbClr val="4C5270"/>
              </a:solidFill>
              <a:prstDash val="solid"/>
              <a:miter/>
            </a:ln>
          </p:spPr>
        </p:sp>
        <p:sp>
          <p:nvSpPr>
            <p:cNvPr id="8" name="TextBox 8"/>
            <p:cNvSpPr txBox="1"/>
            <p:nvPr/>
          </p:nvSpPr>
          <p:spPr>
            <a:xfrm>
              <a:off x="0" y="-38100"/>
              <a:ext cx="2080919" cy="288964"/>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48884" y="2546972"/>
            <a:ext cx="7900988" cy="6903989"/>
            <a:chOff x="0" y="0"/>
            <a:chExt cx="2080919" cy="1818334"/>
          </a:xfrm>
        </p:grpSpPr>
        <p:sp>
          <p:nvSpPr>
            <p:cNvPr id="10" name="Freeform 10"/>
            <p:cNvSpPr/>
            <p:nvPr/>
          </p:nvSpPr>
          <p:spPr>
            <a:xfrm>
              <a:off x="0" y="0"/>
              <a:ext cx="2080919" cy="1818335"/>
            </a:xfrm>
            <a:custGeom>
              <a:avLst/>
              <a:gdLst/>
              <a:ahLst/>
              <a:cxnLst/>
              <a:rect l="l" t="t" r="r" b="b"/>
              <a:pathLst>
                <a:path w="2080919" h="1818335">
                  <a:moveTo>
                    <a:pt x="0" y="0"/>
                  </a:moveTo>
                  <a:lnTo>
                    <a:pt x="2080919" y="0"/>
                  </a:lnTo>
                  <a:lnTo>
                    <a:pt x="2080919" y="1818335"/>
                  </a:lnTo>
                  <a:lnTo>
                    <a:pt x="0" y="1818335"/>
                  </a:lnTo>
                  <a:close/>
                </a:path>
              </a:pathLst>
            </a:custGeom>
            <a:ln w="47625" cap="sq">
              <a:solidFill>
                <a:srgbClr val="4C5270"/>
              </a:solidFill>
              <a:prstDash val="solid"/>
              <a:miter/>
            </a:ln>
          </p:spPr>
        </p:sp>
        <p:sp>
          <p:nvSpPr>
            <p:cNvPr id="11" name="TextBox 11"/>
            <p:cNvSpPr txBox="1"/>
            <p:nvPr/>
          </p:nvSpPr>
          <p:spPr>
            <a:xfrm>
              <a:off x="0" y="-38100"/>
              <a:ext cx="2080919" cy="1856434"/>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737962" y="2216455"/>
            <a:ext cx="6922832" cy="603885"/>
          </a:xfrm>
          <a:prstGeom prst="rect">
            <a:avLst/>
          </a:prstGeom>
        </p:spPr>
        <p:txBody>
          <a:bodyPr lIns="0" tIns="0" rIns="0" bIns="0" rtlCol="0" anchor="t">
            <a:spAutoFit/>
          </a:bodyPr>
          <a:lstStyle/>
          <a:p>
            <a:pPr algn="ctr">
              <a:lnSpc>
                <a:spcPts val="5040"/>
              </a:lnSpc>
            </a:pPr>
            <a:r>
              <a:rPr lang="en-US" sz="3600" b="1">
                <a:solidFill>
                  <a:srgbClr val="FFFFFF"/>
                </a:solidFill>
                <a:latin typeface="Quicksand Bold"/>
                <a:ea typeface="Quicksand Bold"/>
                <a:cs typeface="Quicksand Bold"/>
                <a:sym typeface="Quicksand Bold"/>
              </a:rPr>
              <a:t>Advantages</a:t>
            </a:r>
          </a:p>
        </p:txBody>
      </p:sp>
      <p:grpSp>
        <p:nvGrpSpPr>
          <p:cNvPr id="13" name="Group 13"/>
          <p:cNvGrpSpPr/>
          <p:nvPr/>
        </p:nvGrpSpPr>
        <p:grpSpPr>
          <a:xfrm>
            <a:off x="9578496" y="2070722"/>
            <a:ext cx="7900988" cy="952500"/>
            <a:chOff x="0" y="0"/>
            <a:chExt cx="2080919" cy="250864"/>
          </a:xfrm>
        </p:grpSpPr>
        <p:sp>
          <p:nvSpPr>
            <p:cNvPr id="14" name="Freeform 14"/>
            <p:cNvSpPr/>
            <p:nvPr/>
          </p:nvSpPr>
          <p:spPr>
            <a:xfrm>
              <a:off x="0" y="0"/>
              <a:ext cx="2080919" cy="250864"/>
            </a:xfrm>
            <a:custGeom>
              <a:avLst/>
              <a:gdLst/>
              <a:ahLst/>
              <a:cxnLst/>
              <a:rect l="l" t="t" r="r" b="b"/>
              <a:pathLst>
                <a:path w="2080919" h="250864">
                  <a:moveTo>
                    <a:pt x="0" y="0"/>
                  </a:moveTo>
                  <a:lnTo>
                    <a:pt x="2080919" y="0"/>
                  </a:lnTo>
                  <a:lnTo>
                    <a:pt x="2080919" y="250864"/>
                  </a:lnTo>
                  <a:lnTo>
                    <a:pt x="0" y="250864"/>
                  </a:lnTo>
                  <a:close/>
                </a:path>
              </a:pathLst>
            </a:custGeom>
            <a:solidFill>
              <a:srgbClr val="4C5270"/>
            </a:solidFill>
            <a:ln w="47625" cap="sq">
              <a:solidFill>
                <a:srgbClr val="4C5270"/>
              </a:solidFill>
              <a:prstDash val="solid"/>
              <a:miter/>
            </a:ln>
          </p:spPr>
        </p:sp>
        <p:sp>
          <p:nvSpPr>
            <p:cNvPr id="15" name="TextBox 15"/>
            <p:cNvSpPr txBox="1"/>
            <p:nvPr/>
          </p:nvSpPr>
          <p:spPr>
            <a:xfrm>
              <a:off x="0" y="-38100"/>
              <a:ext cx="2080919" cy="28896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578496" y="2546972"/>
            <a:ext cx="7900988" cy="6903989"/>
            <a:chOff x="0" y="0"/>
            <a:chExt cx="2080919" cy="1818334"/>
          </a:xfrm>
        </p:grpSpPr>
        <p:sp>
          <p:nvSpPr>
            <p:cNvPr id="17" name="Freeform 17"/>
            <p:cNvSpPr/>
            <p:nvPr/>
          </p:nvSpPr>
          <p:spPr>
            <a:xfrm>
              <a:off x="0" y="0"/>
              <a:ext cx="2080919" cy="1818335"/>
            </a:xfrm>
            <a:custGeom>
              <a:avLst/>
              <a:gdLst/>
              <a:ahLst/>
              <a:cxnLst/>
              <a:rect l="l" t="t" r="r" b="b"/>
              <a:pathLst>
                <a:path w="2080919" h="1818335">
                  <a:moveTo>
                    <a:pt x="0" y="0"/>
                  </a:moveTo>
                  <a:lnTo>
                    <a:pt x="2080919" y="0"/>
                  </a:lnTo>
                  <a:lnTo>
                    <a:pt x="2080919" y="1818335"/>
                  </a:lnTo>
                  <a:lnTo>
                    <a:pt x="0" y="1818335"/>
                  </a:lnTo>
                  <a:close/>
                </a:path>
              </a:pathLst>
            </a:custGeom>
            <a:ln w="47625" cap="sq">
              <a:solidFill>
                <a:srgbClr val="4C5270"/>
              </a:solidFill>
              <a:prstDash val="solid"/>
              <a:miter/>
            </a:ln>
          </p:spPr>
        </p:sp>
        <p:sp>
          <p:nvSpPr>
            <p:cNvPr id="18" name="TextBox 18"/>
            <p:cNvSpPr txBox="1"/>
            <p:nvPr/>
          </p:nvSpPr>
          <p:spPr>
            <a:xfrm>
              <a:off x="0" y="-38100"/>
              <a:ext cx="2080919" cy="1856434"/>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067574" y="2216455"/>
            <a:ext cx="6922832" cy="603885"/>
          </a:xfrm>
          <a:prstGeom prst="rect">
            <a:avLst/>
          </a:prstGeom>
        </p:spPr>
        <p:txBody>
          <a:bodyPr lIns="0" tIns="0" rIns="0" bIns="0" rtlCol="0" anchor="t">
            <a:spAutoFit/>
          </a:bodyPr>
          <a:lstStyle/>
          <a:p>
            <a:pPr algn="ctr">
              <a:lnSpc>
                <a:spcPts val="5040"/>
              </a:lnSpc>
            </a:pPr>
            <a:r>
              <a:rPr lang="en-US" sz="3600" b="1">
                <a:solidFill>
                  <a:srgbClr val="FFFFFF"/>
                </a:solidFill>
                <a:latin typeface="Quicksand Bold"/>
                <a:ea typeface="Quicksand Bold"/>
                <a:cs typeface="Quicksand Bold"/>
                <a:sym typeface="Quicksand Bold"/>
              </a:rPr>
              <a:t>Disadvantages</a:t>
            </a:r>
          </a:p>
        </p:txBody>
      </p:sp>
      <p:sp>
        <p:nvSpPr>
          <p:cNvPr id="20" name="TextBox 20"/>
          <p:cNvSpPr txBox="1"/>
          <p:nvPr/>
        </p:nvSpPr>
        <p:spPr>
          <a:xfrm>
            <a:off x="1529061" y="3270872"/>
            <a:ext cx="7365705" cy="5460529"/>
          </a:xfrm>
          <a:prstGeom prst="rect">
            <a:avLst/>
          </a:prstGeom>
        </p:spPr>
        <p:txBody>
          <a:bodyPr lIns="0" tIns="0" rIns="0" bIns="0" rtlCol="0" anchor="t">
            <a:spAutoFit/>
          </a:bodyPr>
          <a:lstStyle/>
          <a:p>
            <a:pPr algn="just">
              <a:lnSpc>
                <a:spcPts val="3643"/>
              </a:lnSpc>
            </a:pPr>
            <a:r>
              <a:rPr lang="en-US" sz="2429" b="1">
                <a:solidFill>
                  <a:srgbClr val="000000"/>
                </a:solidFill>
                <a:latin typeface="Quicksand Bold"/>
                <a:ea typeface="Quicksand Bold"/>
                <a:cs typeface="Quicksand Bold"/>
                <a:sym typeface="Quicksand Bold"/>
              </a:rPr>
              <a:t>Scalability: </a:t>
            </a:r>
            <a:r>
              <a:rPr lang="en-US" sz="2429">
                <a:solidFill>
                  <a:srgbClr val="000000"/>
                </a:solidFill>
                <a:latin typeface="Quicksand"/>
                <a:ea typeface="Quicksand"/>
                <a:cs typeface="Quicksand"/>
                <a:sym typeface="Quicksand"/>
              </a:rPr>
              <a:t>Overlays can easily scale to support thousands or millions of nodes.</a:t>
            </a:r>
          </a:p>
          <a:p>
            <a:pPr algn="just">
              <a:lnSpc>
                <a:spcPts val="3643"/>
              </a:lnSpc>
            </a:pPr>
            <a:r>
              <a:rPr lang="en-US" sz="2429">
                <a:solidFill>
                  <a:srgbClr val="000000"/>
                </a:solidFill>
                <a:latin typeface="Quicksand"/>
                <a:ea typeface="Quicksand"/>
                <a:cs typeface="Quicksand"/>
                <a:sym typeface="Quicksand"/>
              </a:rPr>
              <a:t>·</a:t>
            </a:r>
            <a:r>
              <a:rPr lang="en-US" sz="2429" b="1">
                <a:solidFill>
                  <a:srgbClr val="000000"/>
                </a:solidFill>
                <a:latin typeface="Quicksand Bold"/>
                <a:ea typeface="Quicksand Bold"/>
                <a:cs typeface="Quicksand Bold"/>
                <a:sym typeface="Quicksand Bold"/>
              </a:rPr>
              <a:t>Fault Tolerance: </a:t>
            </a:r>
            <a:r>
              <a:rPr lang="en-US" sz="2429">
                <a:solidFill>
                  <a:srgbClr val="000000"/>
                </a:solidFill>
                <a:latin typeface="Quicksand"/>
                <a:ea typeface="Quicksand"/>
                <a:cs typeface="Quicksand"/>
                <a:sym typeface="Quicksand"/>
              </a:rPr>
              <a:t>Through redundant paths and routing mechanisms, overlays ensure data is still accessible even when nodes fail.</a:t>
            </a:r>
          </a:p>
          <a:p>
            <a:pPr algn="just">
              <a:lnSpc>
                <a:spcPts val="3643"/>
              </a:lnSpc>
            </a:pPr>
            <a:r>
              <a:rPr lang="en-US" sz="2429" b="1">
                <a:solidFill>
                  <a:srgbClr val="000000"/>
                </a:solidFill>
                <a:latin typeface="Quicksand Bold"/>
                <a:ea typeface="Quicksand Bold"/>
                <a:cs typeface="Quicksand Bold"/>
                <a:sym typeface="Quicksand Bold"/>
              </a:rPr>
              <a:t>Efficient Resource Usage: </a:t>
            </a:r>
            <a:r>
              <a:rPr lang="en-US" sz="2429">
                <a:solidFill>
                  <a:srgbClr val="000000"/>
                </a:solidFill>
                <a:latin typeface="Quicksand"/>
                <a:ea typeface="Quicksand"/>
                <a:cs typeface="Quicksand"/>
                <a:sym typeface="Quicksand"/>
              </a:rPr>
              <a:t>Custom routing and load-balancing techniques help optimize network traffic.</a:t>
            </a:r>
          </a:p>
          <a:p>
            <a:pPr marL="0" lvl="0" indent="0" algn="just">
              <a:lnSpc>
                <a:spcPts val="3643"/>
              </a:lnSpc>
              <a:spcBef>
                <a:spcPct val="0"/>
              </a:spcBef>
            </a:pPr>
            <a:r>
              <a:rPr lang="en-US" sz="2429" b="1">
                <a:solidFill>
                  <a:srgbClr val="000000"/>
                </a:solidFill>
                <a:latin typeface="Quicksand Bold"/>
                <a:ea typeface="Quicksand Bold"/>
                <a:cs typeface="Quicksand Bold"/>
                <a:sym typeface="Quicksand Bold"/>
              </a:rPr>
              <a:t>Flexibility:</a:t>
            </a:r>
            <a:r>
              <a:rPr lang="en-US" sz="2429">
                <a:solidFill>
                  <a:srgbClr val="000000"/>
                </a:solidFill>
                <a:latin typeface="Quicksand"/>
                <a:ea typeface="Quicksand"/>
                <a:cs typeface="Quicksand"/>
                <a:sym typeface="Quicksand"/>
              </a:rPr>
              <a:t> Overlays can be adapted to different physical networks and optimized for various application needs.</a:t>
            </a:r>
          </a:p>
          <a:p>
            <a:pPr marL="0" lvl="0" indent="0" algn="just">
              <a:lnSpc>
                <a:spcPts val="3643"/>
              </a:lnSpc>
              <a:spcBef>
                <a:spcPct val="0"/>
              </a:spcBef>
            </a:pPr>
            <a:endParaRPr lang="en-US" sz="2429">
              <a:solidFill>
                <a:srgbClr val="000000"/>
              </a:solidFill>
              <a:latin typeface="Quicksand"/>
              <a:ea typeface="Quicksand"/>
              <a:cs typeface="Quicksand"/>
              <a:sym typeface="Quicksand"/>
            </a:endParaRPr>
          </a:p>
        </p:txBody>
      </p:sp>
      <p:sp>
        <p:nvSpPr>
          <p:cNvPr id="21" name="TextBox 21"/>
          <p:cNvSpPr txBox="1"/>
          <p:nvPr/>
        </p:nvSpPr>
        <p:spPr>
          <a:xfrm>
            <a:off x="9992395" y="3270872"/>
            <a:ext cx="7365705" cy="5460529"/>
          </a:xfrm>
          <a:prstGeom prst="rect">
            <a:avLst/>
          </a:prstGeom>
        </p:spPr>
        <p:txBody>
          <a:bodyPr lIns="0" tIns="0" rIns="0" bIns="0" rtlCol="0" anchor="t">
            <a:spAutoFit/>
          </a:bodyPr>
          <a:lstStyle/>
          <a:p>
            <a:pPr algn="just">
              <a:lnSpc>
                <a:spcPts val="3643"/>
              </a:lnSpc>
            </a:pPr>
            <a:r>
              <a:rPr lang="en-US" sz="2429" dirty="0">
                <a:solidFill>
                  <a:srgbClr val="000000"/>
                </a:solidFill>
                <a:latin typeface="Quicksand Bold"/>
                <a:ea typeface="Quicksand Bold"/>
                <a:cs typeface="Quicksand Bold"/>
                <a:sym typeface="Quicksand Bold"/>
              </a:rPr>
              <a:t>Latenc</a:t>
            </a:r>
            <a:r>
              <a:rPr lang="en-US" sz="2429" b="1" dirty="0">
                <a:solidFill>
                  <a:srgbClr val="000000"/>
                </a:solidFill>
                <a:latin typeface="Quicksand Bold"/>
                <a:ea typeface="Quicksand Bold"/>
                <a:cs typeface="Quicksand Bold"/>
                <a:sym typeface="Quicksand Bold"/>
              </a:rPr>
              <a:t>y</a:t>
            </a:r>
            <a:r>
              <a:rPr lang="en-US" sz="2429" b="1" dirty="0">
                <a:solidFill>
                  <a:srgbClr val="000000"/>
                </a:solidFill>
                <a:latin typeface="Quicksand"/>
                <a:ea typeface="Quicksand"/>
                <a:cs typeface="Quicksand"/>
                <a:sym typeface="Quicksand"/>
              </a:rPr>
              <a:t>: </a:t>
            </a:r>
            <a:r>
              <a:rPr lang="en-US" sz="2429" dirty="0">
                <a:solidFill>
                  <a:srgbClr val="000000"/>
                </a:solidFill>
                <a:latin typeface="Quicksand"/>
                <a:ea typeface="Quicksand"/>
                <a:cs typeface="Quicksand"/>
                <a:sym typeface="Quicksand"/>
              </a:rPr>
              <a:t>Additional routing layers may introduce latency, especially in large-scale overlays.</a:t>
            </a:r>
          </a:p>
          <a:p>
            <a:pPr algn="just">
              <a:lnSpc>
                <a:spcPts val="3643"/>
              </a:lnSpc>
            </a:pPr>
            <a:r>
              <a:rPr lang="en-US" sz="2429" b="1" dirty="0">
                <a:solidFill>
                  <a:srgbClr val="000000"/>
                </a:solidFill>
                <a:latin typeface="Quicksand Bold"/>
                <a:ea typeface="Quicksand Bold"/>
                <a:cs typeface="Quicksand Bold"/>
                <a:sym typeface="Quicksand Bold"/>
              </a:rPr>
              <a:t>Network Congestion:</a:t>
            </a:r>
            <a:r>
              <a:rPr lang="en-US" sz="2429" dirty="0">
                <a:solidFill>
                  <a:srgbClr val="000000"/>
                </a:solidFill>
                <a:latin typeface="Quicksand"/>
                <a:ea typeface="Quicksand"/>
                <a:cs typeface="Quicksand"/>
                <a:sym typeface="Quicksand"/>
              </a:rPr>
              <a:t> In unstructured overlays, the use of flooding and broadcast mechanisms can lead to congestion.</a:t>
            </a:r>
          </a:p>
          <a:p>
            <a:pPr algn="just">
              <a:lnSpc>
                <a:spcPts val="3643"/>
              </a:lnSpc>
            </a:pPr>
            <a:r>
              <a:rPr lang="en-US" sz="2429" b="1" dirty="0">
                <a:solidFill>
                  <a:srgbClr val="000000"/>
                </a:solidFill>
                <a:latin typeface="Quicksand Bold"/>
                <a:ea typeface="Quicksand Bold"/>
                <a:cs typeface="Quicksand Bold"/>
                <a:sym typeface="Quicksand Bold"/>
              </a:rPr>
              <a:t>Management Complexity:</a:t>
            </a:r>
            <a:r>
              <a:rPr lang="en-US" sz="2429" dirty="0">
                <a:solidFill>
                  <a:srgbClr val="000000"/>
                </a:solidFill>
                <a:latin typeface="Quicksand"/>
                <a:ea typeface="Quicksand"/>
                <a:cs typeface="Quicksand"/>
                <a:sym typeface="Quicksand"/>
              </a:rPr>
              <a:t> Maintaining the overlay structure, especially in dynamic environments, can be complex.</a:t>
            </a:r>
          </a:p>
          <a:p>
            <a:pPr marL="0" lvl="0" indent="0" algn="just">
              <a:lnSpc>
                <a:spcPts val="3643"/>
              </a:lnSpc>
              <a:spcBef>
                <a:spcPct val="0"/>
              </a:spcBef>
            </a:pPr>
            <a:r>
              <a:rPr lang="en-US" sz="2429" b="1" dirty="0">
                <a:solidFill>
                  <a:srgbClr val="000000"/>
                </a:solidFill>
                <a:latin typeface="Quicksand Bold"/>
                <a:ea typeface="Quicksand Bold"/>
                <a:cs typeface="Quicksand Bold"/>
                <a:sym typeface="Quicksand Bold"/>
              </a:rPr>
              <a:t>Data Consistency:</a:t>
            </a:r>
            <a:r>
              <a:rPr lang="en-US" sz="2429" dirty="0">
                <a:solidFill>
                  <a:srgbClr val="000000"/>
                </a:solidFill>
                <a:latin typeface="Quicksand"/>
                <a:ea typeface="Quicksand"/>
                <a:cs typeface="Quicksand"/>
                <a:sym typeface="Quicksand"/>
              </a:rPr>
              <a:t> In peer-to-peer systems, ensuring that all nodes have consistent data is a major challenge.</a:t>
            </a:r>
          </a:p>
          <a:p>
            <a:pPr marL="0" lvl="0" indent="0" algn="just">
              <a:lnSpc>
                <a:spcPts val="3643"/>
              </a:lnSpc>
              <a:spcBef>
                <a:spcPct val="0"/>
              </a:spcBef>
            </a:pPr>
            <a:endParaRPr lang="en-US" sz="2429" dirty="0">
              <a:solidFill>
                <a:srgbClr val="000000"/>
              </a:solidFill>
              <a:latin typeface="Quicksand"/>
              <a:ea typeface="Quicksand"/>
              <a:cs typeface="Quicksand"/>
              <a:sym typeface="Quicksand"/>
            </a:endParaRPr>
          </a:p>
        </p:txBody>
      </p:sp>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257968" y="2737042"/>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404938" y="508827"/>
            <a:ext cx="15478125" cy="20955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SECURITY IN OVERLAY NETWORKS</a:t>
            </a:r>
          </a:p>
          <a:p>
            <a:pPr algn="ctr">
              <a:lnSpc>
                <a:spcPts val="8400"/>
              </a:lnSpc>
            </a:pPr>
            <a:endParaRPr lang="en-US" sz="6000">
              <a:solidFill>
                <a:srgbClr val="FFFFFF"/>
              </a:solidFill>
              <a:latin typeface="Fredoka"/>
              <a:ea typeface="Fredoka"/>
              <a:cs typeface="Fredoka"/>
              <a:sym typeface="Fredoka"/>
            </a:endParaRPr>
          </a:p>
        </p:txBody>
      </p:sp>
      <p:sp>
        <p:nvSpPr>
          <p:cNvPr id="6" name="TextBox 6"/>
          <p:cNvSpPr txBox="1"/>
          <p:nvPr/>
        </p:nvSpPr>
        <p:spPr>
          <a:xfrm>
            <a:off x="2074497" y="2986767"/>
            <a:ext cx="15184803" cy="2040255"/>
          </a:xfrm>
          <a:prstGeom prst="rect">
            <a:avLst/>
          </a:prstGeom>
        </p:spPr>
        <p:txBody>
          <a:bodyPr lIns="0" tIns="0" rIns="0" bIns="0" rtlCol="0" anchor="t">
            <a:spAutoFit/>
          </a:bodyPr>
          <a:lstStyle/>
          <a:p>
            <a:pPr algn="l">
              <a:lnSpc>
                <a:spcPts val="4050"/>
              </a:lnSpc>
            </a:pPr>
            <a:r>
              <a:rPr lang="en-US" sz="2700">
                <a:solidFill>
                  <a:srgbClr val="000000"/>
                </a:solidFill>
                <a:latin typeface="Quicksand"/>
                <a:ea typeface="Quicksand"/>
                <a:cs typeface="Quicksand"/>
                <a:sym typeface="Quicksand"/>
              </a:rPr>
              <a:t>Security is a crucial aspect of overlay networks, especially in distributed systems where data is shared across multiple nodes. Several security challenges arise due to the virtual nature of overlays:</a:t>
            </a:r>
          </a:p>
          <a:p>
            <a:pPr marL="0" lvl="0" indent="0" algn="l">
              <a:lnSpc>
                <a:spcPts val="4050"/>
              </a:lnSpc>
              <a:spcBef>
                <a:spcPct val="0"/>
              </a:spcBef>
            </a:pPr>
            <a:endParaRPr lang="en-US" sz="2700">
              <a:solidFill>
                <a:srgbClr val="000000"/>
              </a:solidFill>
              <a:latin typeface="Quicksand"/>
              <a:ea typeface="Quicksand"/>
              <a:cs typeface="Quicksand"/>
              <a:sym typeface="Quicksand"/>
            </a:endParaRPr>
          </a:p>
        </p:txBody>
      </p:sp>
      <p:sp>
        <p:nvSpPr>
          <p:cNvPr id="7" name="TextBox 7"/>
          <p:cNvSpPr txBox="1"/>
          <p:nvPr/>
        </p:nvSpPr>
        <p:spPr>
          <a:xfrm>
            <a:off x="1698259" y="4752702"/>
            <a:ext cx="15184803" cy="3462656"/>
          </a:xfrm>
          <a:prstGeom prst="rect">
            <a:avLst/>
          </a:prstGeom>
        </p:spPr>
        <p:txBody>
          <a:bodyPr lIns="0" tIns="0" rIns="0" bIns="0" rtlCol="0" anchor="t">
            <a:spAutoFit/>
          </a:bodyPr>
          <a:lstStyle/>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Data Privacy: </a:t>
            </a:r>
            <a:r>
              <a:rPr lang="en-US" sz="2799" dirty="0">
                <a:solidFill>
                  <a:srgbClr val="000000"/>
                </a:solidFill>
                <a:latin typeface="Quicksand"/>
                <a:ea typeface="Quicksand"/>
                <a:cs typeface="Quicksand"/>
                <a:sym typeface="Quicksand"/>
              </a:rPr>
              <a:t>Ensuring that data is encrypted and only accessible to authorized nodes.</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Authentication: </a:t>
            </a:r>
            <a:r>
              <a:rPr lang="en-US" sz="2799" dirty="0">
                <a:solidFill>
                  <a:srgbClr val="000000"/>
                </a:solidFill>
                <a:latin typeface="Quicksand"/>
                <a:ea typeface="Quicksand"/>
                <a:cs typeface="Quicksand"/>
                <a:sym typeface="Quicksand"/>
              </a:rPr>
              <a:t>Verifying the identity of nodes in the network to prevent unauthorized access.</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Denial of Service (DoS) Attacks: </a:t>
            </a:r>
            <a:r>
              <a:rPr lang="en-US" sz="2799" dirty="0">
                <a:solidFill>
                  <a:srgbClr val="000000"/>
                </a:solidFill>
                <a:latin typeface="Quicksand"/>
                <a:ea typeface="Quicksand"/>
                <a:cs typeface="Quicksand"/>
                <a:sym typeface="Quicksand"/>
              </a:rPr>
              <a:t>Overlay networks can be vulnerable to DoS attacks, where malicious nodes flood the network with traffic.</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Routing Security: </a:t>
            </a:r>
            <a:r>
              <a:rPr lang="en-US" sz="2799" dirty="0">
                <a:solidFill>
                  <a:srgbClr val="000000"/>
                </a:solidFill>
                <a:latin typeface="Quicksand"/>
                <a:ea typeface="Quicksand"/>
                <a:cs typeface="Quicksand"/>
                <a:sym typeface="Quicksand"/>
              </a:rPr>
              <a:t>Ensuring that malicious nodes do not tamper with or reroute data.</a:t>
            </a:r>
            <a:endParaRPr lang="en-US" sz="2799" dirty="0">
              <a:solidFill>
                <a:srgbClr val="000000"/>
              </a:solidFill>
              <a:latin typeface="Quicksand"/>
              <a:ea typeface="Quicksand"/>
              <a:cs typeface="Quicksand"/>
              <a:sym typeface="Quicksand"/>
              <a:hlinkClick r:id="rId2" tooltip="https://www.geeksforgeeks.org/system-design/what-is-content-delivery-networkcdn-in-system-design/"/>
            </a:endParaRPr>
          </a:p>
          <a:p>
            <a:pPr algn="l">
              <a:lnSpc>
                <a:spcPts val="3919"/>
              </a:lnSpc>
            </a:pPr>
            <a:endParaRPr lang="en-US" sz="2799" dirty="0">
              <a:solidFill>
                <a:srgbClr val="000000"/>
              </a:solidFill>
              <a:latin typeface="Quicksand"/>
              <a:ea typeface="Quicksand"/>
              <a:cs typeface="Quicksand"/>
              <a:sym typeface="Quicksand"/>
              <a:hlinkClick r:id="rId2" tooltip="https://www.geeksforgeeks.org/system-design/what-is-content-delivery-networkcdn-in-system-design/"/>
            </a:endParaRPr>
          </a:p>
        </p:txBody>
      </p:sp>
    </p:spTree>
  </p:cSld>
  <p:clrMapOvr>
    <a:masterClrMapping/>
  </p:clrMapOvr>
  <p:transition>
    <p:push/>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257968" y="2737042"/>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257968" y="1251948"/>
            <a:ext cx="15478125" cy="1028700"/>
          </a:xfrm>
          <a:prstGeom prst="rect">
            <a:avLst/>
          </a:prstGeom>
        </p:spPr>
        <p:txBody>
          <a:bodyPr lIns="0" tIns="0" rIns="0" bIns="0" rtlCol="0" anchor="t">
            <a:spAutoFit/>
          </a:bodyPr>
          <a:lstStyle/>
          <a:p>
            <a:pPr algn="ctr">
              <a:lnSpc>
                <a:spcPts val="8400"/>
              </a:lnSpc>
            </a:pPr>
            <a:r>
              <a:rPr lang="en-US" sz="6000">
                <a:solidFill>
                  <a:srgbClr val="FFFFFF"/>
                </a:solidFill>
                <a:latin typeface="Fredoka"/>
                <a:ea typeface="Fredoka"/>
                <a:cs typeface="Fredoka"/>
                <a:sym typeface="Fredoka"/>
              </a:rPr>
              <a:t>SECURITY TECHNIQUES</a:t>
            </a:r>
          </a:p>
        </p:txBody>
      </p:sp>
      <p:sp>
        <p:nvSpPr>
          <p:cNvPr id="6" name="TextBox 6"/>
          <p:cNvSpPr txBox="1"/>
          <p:nvPr/>
        </p:nvSpPr>
        <p:spPr>
          <a:xfrm>
            <a:off x="1698259" y="4119673"/>
            <a:ext cx="15184803" cy="3957956"/>
          </a:xfrm>
          <a:prstGeom prst="rect">
            <a:avLst/>
          </a:prstGeom>
        </p:spPr>
        <p:txBody>
          <a:bodyPr lIns="0" tIns="0" rIns="0" bIns="0" rtlCol="0" anchor="t">
            <a:spAutoFit/>
          </a:bodyPr>
          <a:lstStyle/>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Encryption: </a:t>
            </a:r>
            <a:r>
              <a:rPr lang="en-US" sz="2799" dirty="0">
                <a:solidFill>
                  <a:srgbClr val="000000"/>
                </a:solidFill>
                <a:latin typeface="Quicksand"/>
                <a:ea typeface="Quicksand"/>
                <a:cs typeface="Quicksand"/>
                <a:sym typeface="Quicksand"/>
              </a:rPr>
              <a:t>Secure data transmission using end-to-end encryption.</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Node Authentication:</a:t>
            </a:r>
            <a:r>
              <a:rPr lang="en-US" sz="2799" dirty="0">
                <a:solidFill>
                  <a:srgbClr val="000000"/>
                </a:solidFill>
                <a:latin typeface="Quicksand"/>
                <a:ea typeface="Quicksand"/>
                <a:cs typeface="Quicksand"/>
                <a:sym typeface="Quicksand"/>
              </a:rPr>
              <a:t> Digital certificates or cryptographic methods to verify the identity of nodes.</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Consensus Mechanisms:</a:t>
            </a:r>
            <a:r>
              <a:rPr lang="en-US" sz="2799" dirty="0">
                <a:solidFill>
                  <a:srgbClr val="000000"/>
                </a:solidFill>
                <a:latin typeface="Quicksand"/>
                <a:ea typeface="Quicksand"/>
                <a:cs typeface="Quicksand"/>
                <a:sym typeface="Quicksand"/>
              </a:rPr>
              <a:t> In blockchain-based overlays, consensus algorithms ensure the integrity and validity of transactions.</a:t>
            </a:r>
          </a:p>
          <a:p>
            <a:pPr marL="604515" lvl="1" indent="-302257" algn="l">
              <a:lnSpc>
                <a:spcPts val="3919"/>
              </a:lnSpc>
              <a:buFont typeface="Arial"/>
              <a:buChar char="•"/>
            </a:pPr>
            <a:r>
              <a:rPr lang="en-US" sz="2799" b="1" dirty="0">
                <a:solidFill>
                  <a:srgbClr val="000000"/>
                </a:solidFill>
                <a:latin typeface="Quicksand Bold"/>
                <a:ea typeface="Quicksand Bold"/>
                <a:cs typeface="Quicksand Bold"/>
                <a:sym typeface="Quicksand Bold"/>
              </a:rPr>
              <a:t>Redundant Routing:</a:t>
            </a:r>
            <a:r>
              <a:rPr lang="en-US" sz="2799" dirty="0">
                <a:solidFill>
                  <a:srgbClr val="000000"/>
                </a:solidFill>
                <a:latin typeface="Quicksand"/>
                <a:ea typeface="Quicksand"/>
                <a:cs typeface="Quicksand"/>
                <a:sym typeface="Quicksand"/>
              </a:rPr>
              <a:t> Implementing multiple routing paths to prevent a single point of failure.</a:t>
            </a:r>
            <a:endParaRPr lang="en-US" sz="2799" dirty="0">
              <a:solidFill>
                <a:srgbClr val="000000"/>
              </a:solidFill>
              <a:latin typeface="Quicksand"/>
              <a:ea typeface="Quicksand"/>
              <a:cs typeface="Quicksand"/>
              <a:sym typeface="Quicksand"/>
              <a:hlinkClick r:id="rId2" tooltip="https://www.geeksforgeeks.org/system-design/what-is-content-delivery-networkcdn-in-system-design/"/>
            </a:endParaRPr>
          </a:p>
          <a:p>
            <a:pPr algn="l">
              <a:lnSpc>
                <a:spcPts val="3919"/>
              </a:lnSpc>
            </a:pPr>
            <a:endParaRPr lang="en-US" sz="2799" dirty="0">
              <a:solidFill>
                <a:srgbClr val="000000"/>
              </a:solidFill>
              <a:latin typeface="Quicksand"/>
              <a:ea typeface="Quicksand"/>
              <a:cs typeface="Quicksand"/>
              <a:sym typeface="Quicksand"/>
              <a:hlinkClick r:id="rId2" tooltip="https://www.geeksforgeeks.org/system-design/what-is-content-delivery-networkcdn-in-system-design/"/>
            </a:endParaRPr>
          </a:p>
        </p:txBody>
      </p:sp>
    </p:spTree>
  </p:cSld>
  <p:clrMapOvr>
    <a:masterClrMapping/>
  </p:clrMapOvr>
  <p:transition>
    <p:push/>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257968" y="2737042"/>
            <a:ext cx="16230600" cy="6636820"/>
            <a:chOff x="0" y="0"/>
            <a:chExt cx="4274726" cy="1747969"/>
          </a:xfrm>
        </p:grpSpPr>
        <p:sp>
          <p:nvSpPr>
            <p:cNvPr id="3" name="Freeform 3"/>
            <p:cNvSpPr/>
            <p:nvPr/>
          </p:nvSpPr>
          <p:spPr>
            <a:xfrm>
              <a:off x="0" y="0"/>
              <a:ext cx="4274726" cy="1747969"/>
            </a:xfrm>
            <a:custGeom>
              <a:avLst/>
              <a:gdLst/>
              <a:ahLst/>
              <a:cxnLst/>
              <a:rect l="l" t="t" r="r" b="b"/>
              <a:pathLst>
                <a:path w="4274726" h="1747969">
                  <a:moveTo>
                    <a:pt x="0" y="0"/>
                  </a:moveTo>
                  <a:lnTo>
                    <a:pt x="4274726" y="0"/>
                  </a:lnTo>
                  <a:lnTo>
                    <a:pt x="4274726" y="1747969"/>
                  </a:lnTo>
                  <a:lnTo>
                    <a:pt x="0" y="1747969"/>
                  </a:lnTo>
                  <a:close/>
                </a:path>
              </a:pathLst>
            </a:custGeom>
            <a:solidFill>
              <a:srgbClr val="FFFFFF"/>
            </a:solidFill>
          </p:spPr>
        </p:sp>
        <p:sp>
          <p:nvSpPr>
            <p:cNvPr id="4" name="TextBox 4"/>
            <p:cNvSpPr txBox="1"/>
            <p:nvPr/>
          </p:nvSpPr>
          <p:spPr>
            <a:xfrm>
              <a:off x="0" y="-38100"/>
              <a:ext cx="4274726" cy="178606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257968" y="1279471"/>
            <a:ext cx="15478125" cy="1028700"/>
          </a:xfrm>
          <a:prstGeom prst="rect">
            <a:avLst/>
          </a:prstGeom>
        </p:spPr>
        <p:txBody>
          <a:bodyPr lIns="0" tIns="0" rIns="0" bIns="0" rtlCol="0" anchor="t">
            <a:spAutoFit/>
          </a:bodyPr>
          <a:lstStyle/>
          <a:p>
            <a:pPr algn="ctr">
              <a:lnSpc>
                <a:spcPts val="8400"/>
              </a:lnSpc>
            </a:pPr>
            <a:r>
              <a:rPr lang="en-US" sz="6000" dirty="0">
                <a:solidFill>
                  <a:srgbClr val="FFFFFF"/>
                </a:solidFill>
                <a:latin typeface="Fredoka"/>
                <a:ea typeface="Fredoka"/>
                <a:cs typeface="Fredoka"/>
                <a:sym typeface="Fredoka"/>
              </a:rPr>
              <a:t>REFERENCES </a:t>
            </a:r>
          </a:p>
        </p:txBody>
      </p:sp>
      <p:sp>
        <p:nvSpPr>
          <p:cNvPr id="6" name="TextBox 6"/>
          <p:cNvSpPr txBox="1"/>
          <p:nvPr/>
        </p:nvSpPr>
        <p:spPr>
          <a:xfrm>
            <a:off x="2074497" y="4037104"/>
            <a:ext cx="15184803" cy="2967356"/>
          </a:xfrm>
          <a:prstGeom prst="rect">
            <a:avLst/>
          </a:prstGeom>
        </p:spPr>
        <p:txBody>
          <a:bodyPr lIns="0" tIns="0" rIns="0" bIns="0" rtlCol="0" anchor="t">
            <a:spAutoFit/>
          </a:bodyPr>
          <a:lstStyle/>
          <a:p>
            <a:pPr algn="l">
              <a:lnSpc>
                <a:spcPts val="3919"/>
              </a:lnSpc>
            </a:pPr>
            <a:r>
              <a:rPr lang="en-US" sz="2799" u="sng">
                <a:solidFill>
                  <a:srgbClr val="000000"/>
                </a:solidFill>
                <a:latin typeface="Quicksand"/>
                <a:ea typeface="Quicksand"/>
                <a:cs typeface="Quicksand"/>
                <a:sym typeface="Quicksand"/>
                <a:hlinkClick r:id="rId2" tooltip="https://www.geeksforgeeks.org/computer-networks/what-is-p2p-peer-to-peer-process/"/>
              </a:rPr>
              <a:t>What is P2P (Peer-to-Peer Process)? - GeeksforGeeks</a:t>
            </a:r>
          </a:p>
          <a:p>
            <a:pPr algn="l">
              <a:lnSpc>
                <a:spcPts val="3919"/>
              </a:lnSpc>
            </a:pPr>
            <a:r>
              <a:rPr lang="en-US" sz="2799" u="sng">
                <a:solidFill>
                  <a:srgbClr val="000000"/>
                </a:solidFill>
                <a:latin typeface="Quicksand"/>
                <a:ea typeface="Quicksand"/>
                <a:cs typeface="Quicksand"/>
                <a:sym typeface="Quicksand"/>
                <a:hlinkClick r:id="rId3" tooltip="https://www.geeksforgeeks.org/system-design/peer-to-peer-p2p-architecture/?fbclid=IwY2xjawRQkzhleHRuA2FlbQIxMABicmlkETFMNHF6NGRKZlJ2ZXhYa0tDc3J0YwZhcHBfaWQQMjIyMDM5MTc4ODIwMDg5MgABHuPi2swBc_nv9upM6xZYWra6sI9ELHQGgabFsPZkkeisBBIb6VnooScCpf7m_aem_6vB9L2-KjTyMWRpx9ssjlA"/>
              </a:rPr>
              <a:t>Peer-to-Peer (P2P) Architecture - GeeksforGeeks</a:t>
            </a:r>
          </a:p>
          <a:p>
            <a:pPr algn="l">
              <a:lnSpc>
                <a:spcPts val="3919"/>
              </a:lnSpc>
            </a:pPr>
            <a:r>
              <a:rPr lang="en-US" sz="2799" u="sng">
                <a:solidFill>
                  <a:srgbClr val="000000"/>
                </a:solidFill>
                <a:latin typeface="Quicksand"/>
                <a:ea typeface="Quicksand"/>
                <a:cs typeface="Quicksand"/>
                <a:sym typeface="Quicksand"/>
                <a:hlinkClick r:id="rId4" tooltip="https://www.geeksforgeeks.org/system-design/network-overlays-in-distributed-systems/"/>
              </a:rPr>
              <a:t>Network Overlays in Distributed Systems - GeeksforGeeks</a:t>
            </a:r>
          </a:p>
          <a:p>
            <a:pPr algn="l">
              <a:lnSpc>
                <a:spcPts val="3919"/>
              </a:lnSpc>
            </a:pPr>
            <a:endParaRPr lang="en-US" sz="2799" u="sng">
              <a:solidFill>
                <a:srgbClr val="000000"/>
              </a:solidFill>
              <a:latin typeface="Quicksand"/>
              <a:ea typeface="Quicksand"/>
              <a:cs typeface="Quicksand"/>
              <a:sym typeface="Quicksand"/>
              <a:hlinkClick r:id="rId4" tooltip="https://www.geeksforgeeks.org/system-design/network-overlays-in-distributed-systems/"/>
            </a:endParaRPr>
          </a:p>
          <a:p>
            <a:pPr algn="l">
              <a:lnSpc>
                <a:spcPts val="3919"/>
              </a:lnSpc>
            </a:pPr>
            <a:endParaRPr lang="en-US" sz="2799" u="sng">
              <a:solidFill>
                <a:srgbClr val="000000"/>
              </a:solidFill>
              <a:latin typeface="Quicksand"/>
              <a:ea typeface="Quicksand"/>
              <a:cs typeface="Quicksand"/>
              <a:sym typeface="Quicksand"/>
              <a:hlinkClick r:id="rId4" tooltip="https://www.geeksforgeeks.org/system-design/network-overlays-in-distributed-systems/"/>
            </a:endParaRPr>
          </a:p>
          <a:p>
            <a:pPr algn="l">
              <a:lnSpc>
                <a:spcPts val="3919"/>
              </a:lnSpc>
            </a:pPr>
            <a:endParaRPr lang="en-US" sz="2799" u="sng">
              <a:solidFill>
                <a:srgbClr val="000000"/>
              </a:solidFill>
              <a:latin typeface="Quicksand"/>
              <a:ea typeface="Quicksand"/>
              <a:cs typeface="Quicksand"/>
              <a:sym typeface="Quicksand"/>
              <a:hlinkClick r:id="rId4" tooltip="https://www.geeksforgeeks.org/system-design/network-overlays-in-distributed-systems/"/>
            </a:endParaRP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2812</Words>
  <Application>Microsoft Office PowerPoint</Application>
  <PresentationFormat>Custom</PresentationFormat>
  <Paragraphs>224</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Calibri</vt:lpstr>
      <vt:lpstr>Quicksand</vt:lpstr>
      <vt:lpstr>Canva Sans Bold</vt:lpstr>
      <vt:lpstr>Fredoka</vt:lpstr>
      <vt:lpstr>Arial</vt:lpstr>
      <vt:lpstr>Quicksand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Computer Science</dc:title>
  <dc:creator>Jusper Arcaya</dc:creator>
  <cp:lastModifiedBy>Lea Jean Camaing</cp:lastModifiedBy>
  <cp:revision>4</cp:revision>
  <dcterms:created xsi:type="dcterms:W3CDTF">2006-08-16T00:00:00Z</dcterms:created>
  <dcterms:modified xsi:type="dcterms:W3CDTF">2026-04-21T01:41:13Z</dcterms:modified>
  <dc:identifier>DAHHTW1tAB4</dc:identifier>
</cp:coreProperties>
</file>